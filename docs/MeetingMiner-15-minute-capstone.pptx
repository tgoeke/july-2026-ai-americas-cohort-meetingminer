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77" r:id="rId18"/>
    <p:sldId id="265" r:id="rId4"/>
    <p:sldId id="266" r:id="rId5"/>
    <p:sldId id="268" r:id="rId6"/>
    <p:sldId id="269" r:id="rId7"/>
    <p:sldId id="271" r:id="rId8"/>
    <p:sldId id="272" r:id="rId9"/>
    <p:sldId id="273" r:id="rId10"/>
    <p:sldId id="274" r:id="rId11"/>
    <p:sldId id="27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075"/>
    <p:restoredTop sz="94649"/>
  </p:normalViewPr>
  <p:slideViewPr>
    <p:cSldViewPr snapToGrid="0">
      <p:cViewPr varScale="1">
        <p:scale>
          <a:sx n="157" d="100"/>
          <a:sy n="157" d="100"/>
        </p:scale>
        <p:origin x="200" y="2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with the promise, not the technology.</a:t>
            </a:r>
          </a:p>
          <a:p/>
          <a:p>
            <a:r>
              <a:t>MeetingMiner is not a meeting summarizer. It is an evidence engine. You ask a question, you see the passages that support the answer, and you jump to the exact second in the recording where it was said, with the screen that was on show at the time.</a:t>
            </a:r>
          </a:p>
          <a:p/>
          <a:p>
            <a:r>
              <a:t>Everything after this slide exists to make that one promise true.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did not begin as a meeting application.</a:t>
            </a:r>
          </a:p>
          <a:p/>
          <a:p>
            <a:r>
              <a:t>Watchback was a YouTube downloader. Give it a URL and it kept four things together: the video, a timed transcript, the metadata, and a source you could still play.</a:t>
            </a:r>
          </a:p>
          <a:p/>
          <a:p>
            <a:r>
              <a:t>The lesson was not how to download a file. It was how to keep the video, the words and the timestamps linked as one package, so that later you can prove where an answer came from.</a:t>
            </a:r>
          </a:p>
          <a:p/>
          <a:p>
            <a:r>
              <a:t>MeetingMiner takes that same idea and points it at meetings. Same contract, harder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picture, real component names, for anyone who wants them.</a:t>
            </a:r>
          </a:p>
          <a:p/>
          <a:p>
            <a:r>
              <a:t>Acquisition is deliberately at the edge. The thing that pulls from Teams or YouTube does not write to the core database -- it drops a folder of files, and the intake path picks it up. That is why adding YouTube did not require changing the core.</a:t>
            </a:r>
          </a:p>
          <a:p/>
          <a:p>
            <a:r>
              <a:t>FastAPI handles intake, questions, and live progress updates. Postgres owns identity, evidence, jobs and lifecycle -- when a moment gets an ID, that ID is the one every other system uses.</a:t>
            </a:r>
          </a:p>
          <a:p/>
          <a:p>
            <a:r>
              <a:t>The worker claims steps from the database, so progress survives a crash. Frames and screenshots it generates go to a separate folder from the untouched originals.</a:t>
            </a:r>
          </a:p>
          <a:p/>
          <a:p>
            <a:r>
              <a:t>Neo4j and Meilisearch are copies for reading, never sources of truth. React talks to the API through a client generated from the API's own contract, so the frontend cannot drift from the backend without the build failing.</a:t>
            </a:r>
          </a:p>
          <a:p/>
          <a:p>
            <a:r>
              <a:t>The worker runs on the Mac rather than in Docker because two of the models -- Apple's on-device vision and MLX -- only run on macOS.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slide that answers "how do you know it isn't making things up?"</a:t>
            </a:r>
          </a:p>
          <a:p/>
          <a:p>
            <a:r>
              <a:t>Read it left to right. The question arrives. The API classifies it into one of a few known query shapes -- the model does not get to invent a database query. Retrieval then runs two ways at once: the graph finds connected moments, the search index finds the best matches by words and by meaning.</a:t>
            </a:r>
          </a:p>
          <a:p/>
          <a:p>
            <a:r>
              <a:t>Only then does the language model get involved, and it is handed the retrieved passages and told to write using those alone. Its draft has to carry a marker on every claim.</a:t>
            </a:r>
          </a:p>
          <a:p/>
          <a:p>
            <a:r>
              <a:t>Before anything is sent to the browser, a checker resolves every one of those markers against the database. If one does not point at a real moment, nothing is sent at all.</a:t>
            </a:r>
          </a:p>
          <a:p/>
          <a:p>
            <a:r>
              <a:t>So the model writes the prose. It does not choose the evidence, and it cannot approve its own citations. If you show only one architecture slide, show this 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ways of building, one product.</a:t>
            </a:r>
          </a:p>
          <a:p/>
          <a:p>
            <a:r>
              <a:t>The quick version was built fast and loose against a growing pile of real meetings. That is what found the product -- the idea that you show evidence cards before prose, that a citation should open a screenshot, that a subject should be traceable across meetings.</a:t>
            </a:r>
          </a:p>
          <a:p/>
          <a:p>
            <a:r>
              <a:t>The careful version was built from written specifications and acceptance criteria. That is what made it durable -- one record of truth, jobs that survive a crash, a generated API contract, tests, and models that can be swapped.</a:t>
            </a:r>
          </a:p>
          <a:p/>
          <a:p>
            <a:r>
              <a:t>Neither approach on its own would have got here. The fast one found what to build; the careful one made it something you can keep.</a:t>
            </a:r>
          </a:p>
          <a:p/>
          <a:p>
            <a:r>
              <a:t>The honest open question is at the bottom: at this size, three databases may be two too many. I would measure before defending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 -- five minutes, two arcs. Everything below was run against the live corpus on 2026-09-01, after re-deriving threads and rebuilding. Verified means it actually returned this; nothing here is aspirational.</a:t>
            </a:r>
          </a:p>
          <a:p/>
          <a:p>
            <a:r>
              <a:t>ARC 1 -- ASK, EVIDENCE, REPLAY (about 2:30)</a:t>
            </a:r>
          </a:p>
          <a:p/>
          <a:p>
            <a:r>
              <a:t>NO QUESTION IS GUARANTEED. Measured over repeated runs on 2026-08-31: the DBE</a:t>
            </a:r>
          </a:p>
          <a:p>
            <a:r>
              <a:t>question passed 3 of 4, heated sidewalks passed 3 of 4, and the citation gate</a:t>
            </a:r>
          </a:p>
          <a:p>
            <a:r>
              <a:t>refuses roughly half of all reasonable questions. Have two loaded and be ready</a:t>
            </a:r>
          </a:p>
          <a:p>
            <a:r>
              <a:t>to say what a refusal means. This is the single biggest live risk in the demo.</a:t>
            </a:r>
          </a:p>
          <a:p/>
          <a:p>
            <a:r>
              <a:t>PRIMARY QUESTION -- best answer in the corpus, 3 of 4 runs:</a:t>
            </a:r>
          </a:p>
          <a:p/>
          <a:p>
            <a:r>
              <a:t>    What is the DBE participation goal and how is it tracked?</a:t>
            </a:r>
          </a:p>
          <a:p/>
          <a:p>
            <a:r>
              <a:t>Returns real numbers: the goal is 15%, they were around 22% as of October, and</a:t>
            </a:r>
          </a:p>
          <a:p>
            <a:r>
              <a:t>tracking was "on pause". One citation, carrying a screenshot. Numbers, a caveat</a:t>
            </a:r>
          </a:p>
          <a:p>
            <a:r>
              <a:t>and a named pause -- the kind of answer a person actually wanted. It also sets</a:t>
            </a:r>
          </a:p>
          <a:p>
            <a:r>
              <a:t>up Arc 2, because DBE is a thread running through 8 meetings.</a:t>
            </a:r>
          </a:p>
          <a:p/>
          <a:p>
            <a:r>
              <a:t>SECOND QUESTION -- 3 of 4 runs, two or three citations, all with screenshots:</a:t>
            </a:r>
          </a:p>
          <a:p/>
          <a:p>
            <a:r>
              <a:t>    What was said about heated sidewalks?</a:t>
            </a:r>
          </a:p>
          <a:p/>
          <a:p>
            <a:r>
              <a:t>Returns a real exchange: someone asks whether heated sidewalks are going in at</a:t>
            </a:r>
          </a:p>
          <a:p>
            <a:r>
              <a:t>the larger stations because ice is treacherous, and someone else answers that</a:t>
            </a:r>
          </a:p>
          <a:p>
            <a:r>
              <a:t>they did consider it and did something on Central. Good because it shows a</a:t>
            </a:r>
          </a:p>
          <a:p>
            <a:r>
              <a:t>conversation rather than a summary. Run this one if DBE refuses.</a:t>
            </a:r>
          </a:p>
          <a:p/>
          <a:p>
            <a:r>
              <a:t>DO NOT USE -- "What is the outlook for reopening the Cedar Lake Trail?" It</a:t>
            </a:r>
          </a:p>
          <a:p>
            <a:r>
              <a:t>passes the gate almost every time, but the answer is a hedge: "the moments</a:t>
            </a:r>
          </a:p>
          <a:p>
            <a:r>
              <a:t>provided do not give a single definitive outlook date". Technically cited,</a:t>
            </a:r>
          </a:p>
          <a:p>
            <a:r>
              <a:t>reads like a failure. Keep Cedar Lake for Arc 2, where the timeline is the</a:t>
            </a:r>
          </a:p>
          <a:p>
            <a:r>
              <a:t>point, not the prose.</a:t>
            </a:r>
          </a:p>
          <a:p/>
          <a:p>
            <a:r>
              <a:t>BEATS:</a:t>
            </a:r>
          </a:p>
          <a:p>
            <a:r>
              <a:t>1. Type the question. Say: "one question, across fifty-nine meetings."</a:t>
            </a:r>
          </a:p>
          <a:p>
            <a:r>
              <a:t>2. The answer streams with citations attached. Say: "every claim carries a moment -- meeting, and the exact second."</a:t>
            </a:r>
          </a:p>
          <a:p>
            <a:r>
              <a:t>3. Click a citation. The moment opens with its screenshot.</a:t>
            </a:r>
          </a:p>
          <a:p>
            <a:r>
              <a:t>4. Press Replay. The recording seeks to that second. Let it play three seconds, with audio.</a:t>
            </a:r>
          </a:p>
          <a:p/>
          <a:p>
            <a:r>
              <a:t>SHOWING THE CITATION GATE ON PURPOSE. Any of these is refused rather than answered -- the model wrote a sentence without a marker and the whole answer was rejected:</a:t>
            </a:r>
          </a:p>
          <a:p/>
          <a:p>
            <a:r>
              <a:t>    What are the risks to the 2027 revenue service start date?</a:t>
            </a:r>
          </a:p>
          <a:p>
            <a:r>
              <a:t>    What has been reported about tunnel construction progress?</a:t>
            </a:r>
          </a:p>
          <a:p>
            <a:r>
              <a:t>    What did they say about ridership trends?</a:t>
            </a:r>
          </a:p>
          <a:p/>
          <a:p>
            <a:r>
              <a:t>Say: "it wrote an answer, one sentence had no evidence behind it, so you get nothing. That rule is code, not a polite instruction to the model."</a:t>
            </a:r>
          </a:p>
          <a:p/>
          <a:p>
            <a:r>
              <a:t>WARNING, AND BE READY FOR IT: about half of all good questions are refused this way. It is not rare. If it happens on a question you did not plan, name it and move on -- it is the strongest thing in the demo, not a bug to apologise for.</a:t>
            </a:r>
          </a:p>
          <a:p/>
          <a:p>
            <a:r>
              <a:t>ARC 2 -- THREADS, TIMELINE, MEETING (about 2:30)</a:t>
            </a:r>
          </a:p>
          <a:p/>
          <a:p>
            <a:r>
              <a:t>1. Click Threads. The view is empty on purpose -- a box, and the subjects the corpus suggests. Say: "a thread is a question you ask, not a list you browse."</a:t>
            </a:r>
          </a:p>
          <a:p>
            <a:r>
              <a:t>2. Type "trail" and choose: Trail reopening outlook (Cedar Lake Trail segments) -- verified at 12 meetings across 1,548 days, March 2022 to June 2026.</a:t>
            </a:r>
          </a:p>
          <a:p>
            <a:r>
              <a:t>   Other good ones, all verified: Communications/outreach metrics (18 meetings), DBE participation (8 meetings, 1,360 days), Suburban Transit ridership trend (9), Tunnel construction progress (7), Hopkins Rail Support Facility (6), Train testing safety awareness (6).</a:t>
            </a:r>
          </a:p>
          <a:p>
            <a:r>
              <a:t>   AVOID the widest threads -- they are meeting procedure, not content: "Presentation logistics (screen share)" (47 meetings), "Meeting opening &amp; apologies" (22), "Meeting close: announcements". If the suggestions are ordered by breadth these sit at the top and they are terrible material.</a:t>
            </a:r>
          </a:p>
          <a:p>
            <a:r>
              <a:t>3. The timeline draws left to right across every meeting where the subject surfaced. Scroll to zoom. Say: "the zoom is semantic -- a meeting is a bar up here, a card lower down, its own moments at the bottom."</a:t>
            </a:r>
          </a:p>
          <a:p>
            <a:r>
              <a:t>4. Zoom in and click a meeting. It opens the meeting view.</a:t>
            </a:r>
          </a:p>
          <a:p>
            <a:r>
              <a:t>5. In the right rail, open Documents, then "Decisions &amp; risks". Say: "this is what the extraction produced -- a document per meeting, decisions and risks with timestamps." 224 documents are indexed and searchable.</a:t>
            </a:r>
          </a:p>
          <a:p/>
          <a:p>
            <a:r>
              <a:t>SEARCH TERMS, verified by exact phrase (moments / documents):</a:t>
            </a:r>
          </a:p>
          <a:p>
            <a:r>
              <a:t>    tunnel 107/24 · Kenilworth 57/9 · functional classification 52/8 · travel demand management 48/5 · ridership 45/29 · revenue service 40/22 · inflow and infiltration 36/0 · Cedar Lake Trail 24/8 · landscaping 12/8 · punch list 6/3</a:t>
            </a:r>
          </a:p>
          <a:p>
            <a:r>
              <a:t>DEAD, do not type these: station art, noise wall, participation goal, trail reopening -- all zero moments.</a:t>
            </a:r>
          </a:p>
          <a:p/>
          <a:p>
            <a:r>
              <a:t>DEMO FROM THE GREEN LINE CMC MEETINGS. Only 4 of 59 meetings have named speakers, and two of them are the Green Line Corridor Management Committee meetings (148 and 147 moments, 4 documents, 124-130 screenshots each). Everywhere else the speaker reads Unknown or SPEAKER_03, because auto-captions carry no speaker labels.</a:t>
            </a:r>
          </a:p>
          <a:p/>
          <a:p>
            <a:r>
              <a:t>IF A MINUTE REMAINS: click Add meeting, paste a public YouTube URL, let the probe return. It shows title, duration and whether captions exist. Say: "auto captions carry no speaker labels -- it tells you before you commit." Do not wait for an ingest on stage.</a:t>
            </a:r>
          </a:p>
          <a:p/>
          <a:p>
            <a:r>
              <a:t>DO NOT start a fresh ingest during the presentation. If anything is slow, fall back to an already-open result and continue from citation to screenshot to replay. The point is the evidence chain, not waiting for generation.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 short answers, ready to go.</a:t>
            </a:r>
          </a:p>
          <a:p/>
          <a:p>
            <a:r>
              <a:t>How good is the search, really? Measured, not guessed -- the numbers are on the retrieval slide in the appendix. Exact-word questions and paraphrases behave differently, which is why both methods run and their results are merged.</a:t>
            </a:r>
          </a:p>
          <a:p/>
          <a:p>
            <a:r>
              <a:t>Can I trust a citation? Every claim carries a marker, and a checker resolves each marker against the database before anything is sent. One bad marker and nothing goes out. That is code, not a prompt instruction.</a:t>
            </a:r>
          </a:p>
          <a:p/>
          <a:p>
            <a:r>
              <a:t>What happens when it breaks? Jobs are rows in the database, so a crash resumes at the step it reached. Retrieval and the citation check fail closed -- you get no answer rather than an unsupported one. Nothing quietly substitutes a different model without saying so.</a:t>
            </a:r>
          </a:p>
          <a:p/>
          <a:p>
            <a:r>
              <a:t>Why three databases? Postgres is the truth; the other two are copies that can be rebuilt. At this size I would test whether Postgres alone can carry search before keeping all three.</a:t>
            </a:r>
          </a:p>
          <a:p/>
          <a:p>
            <a:r>
              <a:t>Is it production ready? No. It is local and unauthenticated. Real use needs logins, access rules, encrypted storage, audit logs, and an explicit policy on what may leave the machine.</a:t>
            </a:r>
          </a:p>
          <a:p/>
          <a:p>
            <a:r>
              <a:t>Known rough edges -- say these before you are asked. Several artifact counters on a moment read zero, because only two kinds have a producer. Speakers show as Unknown on most meetings, because auto-captions carry no speaker labels and a supplied transcript means diarization never runs. Three meetings failed re-extraction on a malformed model reply -- the step refused the document rather than storing half of one.</a:t>
            </a:r>
          </a:p>
          <a:p/>
          <a:p>
            <a:r>
              <a:t>What did you learn? To turn a promise into rules the code enforces, to measure retrieval instead of guessing, to keep the one real record separate from the copies you can throw away -- and that a disciplined backend does not by itself produce a good user experience.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close if the room gives you the final word.</a:t>
            </a:r>
          </a:p>
          <a:p/>
          <a:p>
            <a:r>
              <a:t>The promise is already visible: an answer led back to a replayable moment, and you watched it happen.</a:t>
            </a:r>
          </a:p>
          <a:p/>
          <a:p>
            <a:r>
              <a:t>What makes it hold up is not any one database or model. It is that the evidence is kept once and never edited, that one store is the truth and the rest can be rebuilt from it, and that no answer leaves the system without a citation that resolves.</a:t>
            </a:r>
          </a:p>
          <a:p/>
          <a:p>
            <a:r>
              <a:t>Everything else -- which search engine, which model -- is a decision I can change on Monday without touching any of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slide when a term becomes the question. Keep the answers concrete.</a:t>
            </a:r>
          </a:p>
          <a:p/>
          <a:p>
            <a:r>
              <a:t>BM25 matches words. Embeddings match meaning -- text turned into numbers so that things that mean the same land near each other. Reciprocal-rank fusion is a fair way to merge two ranked lists when their scores cannot be compared directly.</a:t>
            </a:r>
          </a:p>
          <a:p/>
          <a:p>
            <a:r>
              <a:t>Meilisearch holds the search copy: exact words and meaning in one place, rebuilt from Postgres, never the truth. Postgres is the one database that decides what is real. SSE is just a long-lived HTTP response that keeps pushing updates to the browser as work happens.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metric is recall at five: did the correct passage show up in the first five results?</a:t>
            </a:r>
          </a:p>
          <a:p/>
          <a:p>
            <a:r>
              <a:t>The test had 183 exact-word questions and 120 held-out paraphrase questions -- 303 in total, over 7,730 passages.</a:t>
            </a:r>
          </a:p>
          <a:p/>
          <a:p>
            <a:r>
              <a:t>When the question reused the transcript's own wording, plain keyword search won: 37.2 percent against 32.8 for the best embedding model. Not one of the nine embedding models beat it.</a:t>
            </a:r>
          </a:p>
          <a:p/>
          <a:p>
            <a:r>
              <a:t>When the question was a paraphrase, that flipped hard: the best embedding model reached 60 percent against 42.5 for keyword search.</a:t>
            </a:r>
          </a:p>
          <a:p/>
          <a:p>
            <a:r>
              <a:t>That is the whole argument for running both and merging the results. It is a measured choice, not a fashionable one -- and it is the most defensible thing in the deck, because I have the numbers.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asked what comes next, answer in this order.</a:t>
            </a:r>
          </a:p>
          <a:p/>
          <a:p>
            <a:r>
              <a:t>First, retest the meaning model. The winner of the bake-off is the same size as the one currently shipped, so switching is a config change and a rebuild, not a data migration.</a:t>
            </a:r>
          </a:p>
          <a:p/>
          <a:p>
            <a:r>
              <a:t>Second, keep what is already right: one record of truth, the citation rules, jobs that survive a crash, and originals that are never edited. Those are the parts that would be expensive to add back later.</a:t>
            </a:r>
          </a:p>
          <a:p/>
          <a:p>
            <a:r>
              <a:t>Third, simplify -- but only after measuring. Test whether Postgres can carry the search and the shallow graph work on its own, before committing to running two more databases forever.</a:t>
            </a:r>
          </a:p>
          <a:p/>
          <a:p>
            <a:r>
              <a:t>Fourth, lock it down before this goes anywhere near real users: logins, rules about what may leave the machine, and tests that exercise the whole path end to end.</a:t>
            </a:r>
          </a:p>
          <a:p/>
          <a:p>
            <a:r>
              <a:t>The goal is to keep the evidence chain simple for the person using it, and explicit for the system running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architecture in one picture. Take it slowly; everything later is detail on top of this.</a:t>
            </a:r>
          </a:p>
          <a:p/>
          <a:p>
            <a:r>
              <a:t>Meetings arrive from three places: Microsoft Teams, YouTube, or files you drop in yourself. Whatever arrives is written down once and never edited again. That matters, because if you can edit the original you can no longer prove anything.</a:t>
            </a:r>
          </a:p>
          <a:p/>
          <a:p>
            <a:r>
              <a:t>The app is three parts. The web app is what you click. The API takes a question and returns an answer. The worker does the slow jobs -- pulling frames out of video, reading text off screens, transcribing speech. Those jobs are stored as rows in the database, so if the machine crashes the work resumes at the step it reached instead of starting over.</a:t>
            </a:r>
          </a:p>
          <a:p/>
          <a:p>
            <a:r>
              <a:t>Three places keep data, but only one of them counts. Postgres is the record of truth. The graph copy and the search copy are built from it, and can be deleted at any time and rebuilt. If a demo goes wrong, that is usually the fix.</a:t>
            </a:r>
          </a:p>
          <a:p/>
          <a:p>
            <a:r>
              <a:t>The AI models plug in at one place. Some run on this Mac, one runs on a GPU box on the network, some are cloud APIs. Because they all attach at the same slot, swapping one is a config change -- nothing else in the picture moves.</a:t>
            </a:r>
          </a:p>
          <a:p/>
          <a:p>
            <a:r>
              <a:t>If a question comes: yes, three databases is a lot for this amount of data. That is on the roadmap slide, and I would test whether Postgres alone can do it before keeping all three.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C9A971E1-8BAD-FD3A-BB5B-62A53659FCCD}"/>
              </a:ext>
            </a:extLst>
          </p:cNvPr>
          <p:cNvPicPr>
            <a:picLocks noChangeAspect="1"/>
          </p:cNvPicPr>
          <p:nvPr/>
        </p:nvPicPr>
        <p:blipFill>
          <a:blip r:embed="rId3"/>
          <a:stretch>
            <a:fillRect/>
          </a:stretch>
        </p:blipFill>
        <p:spPr>
          <a:xfrm>
            <a:off x="9093051" y="254736"/>
            <a:ext cx="2827376" cy="2827376"/>
          </a:xfrm>
          <a:prstGeom prst="rect">
            <a:avLst/>
          </a:prstGeom>
        </p:spPr>
      </p:pic>
      <p:sp>
        <p:nvSpPr>
          <p:cNvPr id="14" name="Rectangle 13">
            <a:extLst>
              <a:ext uri="{FF2B5EF4-FFF2-40B4-BE49-F238E27FC236}">
                <a16:creationId xmlns:a16="http://schemas.microsoft.com/office/drawing/2014/main" id="{C5474900-BF03-46A7-BB02-539AB68020E0}"/>
              </a:ext>
            </a:extLst>
          </p:cNvPr>
          <p:cNvSpPr>
            <a:spLocks noGrp="1"/>
          </p:cNvSpPr>
          <p:nvPr/>
        </p:nvSpPr>
        <p:spPr>
          <a:xfrm>
            <a:off x="0" y="0"/>
            <a:ext cx="133350" cy="6858000"/>
          </a:xfrm>
          <a:prstGeom prst="rect">
            <a:avLst/>
          </a:prstGeom>
          <a:solidFill>
            <a:srgbClr val="F2A93B"/>
          </a:solidFill>
          <a:ln w="0">
            <a:noFill/>
            <a:prstDash val="solid"/>
          </a:ln>
        </p:spPr>
        <p:txBody>
          <a:bodyPr/>
          <a:lstStyle/>
          <a:p>
            <a:endParaRPr lang="en-US"/>
          </a:p>
        </p:txBody>
      </p:sp>
      <p:sp>
        <p:nvSpPr>
          <p:cNvPr id="2" name="Rectangle 1">
            <a:extLst>
              <a:ext uri="{FF2B5EF4-FFF2-40B4-BE49-F238E27FC236}">
                <a16:creationId xmlns:a16="http://schemas.microsoft.com/office/drawing/2014/main" id="{BEF47813-D565-42F5-AFA1-160E21D25133}"/>
              </a:ext>
            </a:extLst>
          </p:cNvPr>
          <p:cNvSpPr>
            <a:spLocks noGrp="1"/>
          </p:cNvSpPr>
          <p:nvPr/>
        </p:nvSpPr>
        <p:spPr>
          <a:xfrm>
            <a:off x="133350" y="0"/>
            <a:ext cx="76200" cy="6858000"/>
          </a:xfrm>
          <a:prstGeom prst="rect">
            <a:avLst/>
          </a:prstGeom>
          <a:solidFill>
            <a:srgbClr val="47C6B7"/>
          </a:solidFill>
          <a:ln w="0">
            <a:noFill/>
            <a:prstDash val="solid"/>
          </a:ln>
        </p:spPr>
        <p:txBody>
          <a:bodyPr/>
          <a:lstStyle/>
          <a:p>
            <a:endParaRPr lang="en-US"/>
          </a:p>
        </p:txBody>
      </p:sp>
      <p:sp>
        <p:nvSpPr>
          <p:cNvPr id="3" name="Rectangle 2">
            <a:extLst>
              <a:ext uri="{FF2B5EF4-FFF2-40B4-BE49-F238E27FC236}">
                <a16:creationId xmlns:a16="http://schemas.microsoft.com/office/drawing/2014/main" id="{9DDE9831-5D95-49C3-9C18-A303721841E3}"/>
              </a:ext>
            </a:extLst>
          </p:cNvPr>
          <p:cNvSpPr>
            <a:spLocks noGrp="1"/>
          </p:cNvSpPr>
          <p:nvPr/>
        </p:nvSpPr>
        <p:spPr>
          <a:xfrm>
            <a:off x="723900" y="666750"/>
            <a:ext cx="4762500" cy="266700"/>
          </a:xfrm>
          <a:prstGeom prst="rect">
            <a:avLst/>
          </a:prstGeom>
          <a:noFill/>
          <a:ln w="0">
            <a:noFill/>
            <a:prstDash val="solid"/>
          </a:ln>
        </p:spPr>
        <p:txBody>
          <a:bodyPr wrap="square" lIns="0" tIns="0" rIns="0" bIns="0" anchor="t">
            <a:normAutofit/>
          </a:bodyPr>
          <a:lstStyle/>
          <a:p>
            <a:pPr algn="l">
              <a:defRPr sz="1050" b="1">
                <a:solidFill>
                  <a:srgbClr val="8AA0A4"/>
                </a:solidFill>
                <a:latin typeface="Arial"/>
                <a:ea typeface="Arial"/>
                <a:cs typeface="Arial"/>
              </a:defRPr>
            </a:pPr>
            <a:r>
              <a:rPr sz="1050" b="1">
                <a:solidFill>
                  <a:srgbClr val="8AA0A4"/>
                </a:solidFill>
                <a:latin typeface="Arial"/>
                <a:ea typeface="Arial"/>
                <a:cs typeface="Arial"/>
              </a:rPr>
              <a:t>AI ENGINEERING CAPSTONE</a:t>
            </a:r>
          </a:p>
        </p:txBody>
      </p:sp>
      <p:sp>
        <p:nvSpPr>
          <p:cNvPr id="4" name="deck-title">
            <a:extLst>
              <a:ext uri="{FF2B5EF4-FFF2-40B4-BE49-F238E27FC236}">
                <a16:creationId xmlns:a16="http://schemas.microsoft.com/office/drawing/2014/main" id="{E39B15F8-5708-4A13-A3C5-CEC07A072FAE}"/>
              </a:ext>
            </a:extLst>
          </p:cNvPr>
          <p:cNvSpPr>
            <a:spLocks noGrp="1"/>
          </p:cNvSpPr>
          <p:nvPr/>
        </p:nvSpPr>
        <p:spPr>
          <a:xfrm>
            <a:off x="685800" y="1409700"/>
            <a:ext cx="7620000" cy="1047750"/>
          </a:xfrm>
          <a:prstGeom prst="rect">
            <a:avLst/>
          </a:prstGeom>
          <a:noFill/>
          <a:ln w="0">
            <a:noFill/>
            <a:prstDash val="solid"/>
          </a:ln>
        </p:spPr>
        <p:txBody>
          <a:bodyPr wrap="square" lIns="0" tIns="0" rIns="0" bIns="0" anchor="t">
            <a:normAutofit/>
          </a:bodyPr>
          <a:lstStyle/>
          <a:p>
            <a:pPr algn="l">
              <a:defRPr sz="5700" b="1">
                <a:solidFill>
                  <a:srgbClr val="E8F0EF"/>
                </a:solidFill>
                <a:latin typeface="Arial"/>
                <a:ea typeface="Arial"/>
                <a:cs typeface="Arial"/>
              </a:defRPr>
            </a:pPr>
            <a:r>
              <a:rPr sz="5700" b="1">
                <a:gradFill>
                  <a:gsLst>
                    <a:gs pos="0">
                      <a:srgbClr val="FFFFFF"/>
                    </a:gs>
                    <a:gs pos="56000">
                      <a:srgbClr val="47C6B7"/>
                    </a:gs>
                    <a:gs pos="100000">
                      <a:srgbClr val="F2A93B"/>
                    </a:gs>
                  </a:gsLst>
                  <a:lin ang="0"/>
                </a:gradFill>
                <a:latin typeface="Arial"/>
                <a:ea typeface="Arial"/>
                <a:cs typeface="Arial"/>
              </a:rPr>
              <a:t>MeetingMiner</a:t>
            </a:r>
          </a:p>
        </p:txBody>
      </p:sp>
      <p:sp>
        <p:nvSpPr>
          <p:cNvPr id="5" name="Rectangle 4">
            <a:extLst>
              <a:ext uri="{FF2B5EF4-FFF2-40B4-BE49-F238E27FC236}">
                <a16:creationId xmlns:a16="http://schemas.microsoft.com/office/drawing/2014/main" id="{7D269FED-760D-4C20-9DEB-B80FB53E96C1}"/>
              </a:ext>
            </a:extLst>
          </p:cNvPr>
          <p:cNvSpPr>
            <a:spLocks noGrp="1"/>
          </p:cNvSpPr>
          <p:nvPr/>
        </p:nvSpPr>
        <p:spPr>
          <a:xfrm>
            <a:off x="723900" y="2724150"/>
            <a:ext cx="7239000" cy="1143000"/>
          </a:xfrm>
          <a:prstGeom prst="rect">
            <a:avLst/>
          </a:prstGeom>
          <a:noFill/>
          <a:ln w="0">
            <a:noFill/>
            <a:prstDash val="solid"/>
          </a:ln>
        </p:spPr>
        <p:txBody>
          <a:bodyPr wrap="square" lIns="0" tIns="0" rIns="0" bIns="0" anchor="t">
            <a:normAutofit/>
          </a:bodyPr>
          <a:lstStyle/>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One architecture. One promise:</a:t>
            </a:r>
          </a:p>
          <a:p>
            <a:pPr algn="l">
              <a:lnSpc>
                <a:spcPct val="106000"/>
              </a:lnSpc>
              <a:buNone/>
              <a:defRPr sz="2625" b="1">
                <a:solidFill>
                  <a:srgbClr val="E8F0EF"/>
                </a:solidFill>
                <a:latin typeface="Arial"/>
                <a:ea typeface="Arial"/>
                <a:cs typeface="Arial"/>
              </a:defRPr>
            </a:pPr>
            <a:r>
              <a:rPr sz="2625" b="1">
                <a:solidFill>
                  <a:srgbClr val="E8F0EF"/>
                </a:solidFill>
                <a:latin typeface="Arial"/>
                <a:ea typeface="Arial"/>
                <a:cs typeface="Arial"/>
              </a:rPr>
              <a:t>prove every answer.</a:t>
            </a:r>
          </a:p>
        </p:txBody>
      </p:sp>
      <p:sp>
        <p:nvSpPr>
          <p:cNvPr id="6" name="Rectangle 5">
            <a:extLst>
              <a:ext uri="{FF2B5EF4-FFF2-40B4-BE49-F238E27FC236}">
                <a16:creationId xmlns:a16="http://schemas.microsoft.com/office/drawing/2014/main" id="{C839FA53-F14D-4122-817D-06B8B2DA7EE1}"/>
              </a:ext>
            </a:extLst>
          </p:cNvPr>
          <p:cNvSpPr>
            <a:spLocks noGrp="1"/>
          </p:cNvSpPr>
          <p:nvPr/>
        </p:nvSpPr>
        <p:spPr>
          <a:xfrm>
            <a:off x="723900" y="4438650"/>
            <a:ext cx="8667750" cy="28575"/>
          </a:xfrm>
          <a:prstGeom prst="rect">
            <a:avLst/>
          </a:prstGeom>
          <a:solidFill>
            <a:srgbClr val="31444A"/>
          </a:solidFill>
          <a:ln w="0">
            <a:noFill/>
            <a:prstDash val="solid"/>
          </a:ln>
        </p:spPr>
        <p:txBody>
          <a:bodyPr/>
          <a:lstStyle/>
          <a:p>
            <a:endParaRPr lang="en-US"/>
          </a:p>
        </p:txBody>
      </p:sp>
      <p:sp>
        <p:nvSpPr>
          <p:cNvPr id="7" name="Oval 6">
            <a:extLst>
              <a:ext uri="{FF2B5EF4-FFF2-40B4-BE49-F238E27FC236}">
                <a16:creationId xmlns:a16="http://schemas.microsoft.com/office/drawing/2014/main" id="{D6772A19-9FD1-4029-8CDC-E6F52DFD63B0}"/>
              </a:ext>
            </a:extLst>
          </p:cNvPr>
          <p:cNvSpPr>
            <a:spLocks noGrp="1"/>
          </p:cNvSpPr>
          <p:nvPr/>
        </p:nvSpPr>
        <p:spPr>
          <a:xfrm>
            <a:off x="1228725" y="4352925"/>
            <a:ext cx="171450" cy="171450"/>
          </a:xfrm>
          <a:prstGeom prst="ellipse">
            <a:avLst/>
          </a:prstGeom>
          <a:solidFill>
            <a:srgbClr val="F2A93B"/>
          </a:solidFill>
          <a:ln w="9525">
            <a:solidFill>
              <a:srgbClr val="F2A93B"/>
            </a:solidFill>
            <a:prstDash val="solid"/>
          </a:ln>
        </p:spPr>
        <p:txBody>
          <a:bodyPr/>
          <a:lstStyle/>
          <a:p>
            <a:endParaRPr lang="en-US"/>
          </a:p>
        </p:txBody>
      </p:sp>
      <p:sp>
        <p:nvSpPr>
          <p:cNvPr id="8" name="Oval 7">
            <a:extLst>
              <a:ext uri="{FF2B5EF4-FFF2-40B4-BE49-F238E27FC236}">
                <a16:creationId xmlns:a16="http://schemas.microsoft.com/office/drawing/2014/main" id="{FAEFB612-12C5-4F8E-982A-50AE42F0ACCB}"/>
              </a:ext>
            </a:extLst>
          </p:cNvPr>
          <p:cNvSpPr>
            <a:spLocks noGrp="1"/>
          </p:cNvSpPr>
          <p:nvPr/>
        </p:nvSpPr>
        <p:spPr>
          <a:xfrm>
            <a:off x="5057775" y="4352925"/>
            <a:ext cx="171450" cy="171450"/>
          </a:xfrm>
          <a:prstGeom prst="ellipse">
            <a:avLst/>
          </a:prstGeom>
          <a:solidFill>
            <a:srgbClr val="47C6B7"/>
          </a:solidFill>
          <a:ln w="9525">
            <a:solidFill>
              <a:srgbClr val="47C6B7"/>
            </a:solidFill>
            <a:prstDash val="solid"/>
          </a:ln>
        </p:spPr>
        <p:txBody>
          <a:bodyPr/>
          <a:lstStyle/>
          <a:p>
            <a:endParaRPr lang="en-US"/>
          </a:p>
        </p:txBody>
      </p:sp>
      <p:sp>
        <p:nvSpPr>
          <p:cNvPr id="9" name="Oval 8">
            <a:extLst>
              <a:ext uri="{FF2B5EF4-FFF2-40B4-BE49-F238E27FC236}">
                <a16:creationId xmlns:a16="http://schemas.microsoft.com/office/drawing/2014/main" id="{1CCE9FC9-0372-41E0-ACFC-ADD82BFBB2B9}"/>
              </a:ext>
            </a:extLst>
          </p:cNvPr>
          <p:cNvSpPr>
            <a:spLocks noGrp="1"/>
          </p:cNvSpPr>
          <p:nvPr/>
        </p:nvSpPr>
        <p:spPr>
          <a:xfrm>
            <a:off x="9305925" y="4352925"/>
            <a:ext cx="171450" cy="171450"/>
          </a:xfrm>
          <a:prstGeom prst="ellipse">
            <a:avLst/>
          </a:prstGeom>
          <a:solidFill>
            <a:srgbClr val="D8F36A"/>
          </a:solidFill>
          <a:ln w="9525">
            <a:solidFill>
              <a:srgbClr val="D8F36A"/>
            </a:solidFill>
            <a:prstDash val="solid"/>
          </a:ln>
        </p:spPr>
        <p:txBody>
          <a:bodyPr/>
          <a:lstStyle/>
          <a:p>
            <a:endParaRPr lang="en-US"/>
          </a:p>
        </p:txBody>
      </p:sp>
      <p:sp>
        <p:nvSpPr>
          <p:cNvPr id="10" name="Rectangle 9">
            <a:extLst>
              <a:ext uri="{FF2B5EF4-FFF2-40B4-BE49-F238E27FC236}">
                <a16:creationId xmlns:a16="http://schemas.microsoft.com/office/drawing/2014/main" id="{10AF1A81-1912-4B52-92A9-9AC83F14A0F8}"/>
              </a:ext>
            </a:extLst>
          </p:cNvPr>
          <p:cNvSpPr>
            <a:spLocks noGrp="1"/>
          </p:cNvSpPr>
          <p:nvPr/>
        </p:nvSpPr>
        <p:spPr>
          <a:xfrm>
            <a:off x="9334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question</a:t>
            </a:r>
          </a:p>
        </p:txBody>
      </p:sp>
      <p:sp>
        <p:nvSpPr>
          <p:cNvPr id="11" name="Rectangle 10">
            <a:extLst>
              <a:ext uri="{FF2B5EF4-FFF2-40B4-BE49-F238E27FC236}">
                <a16:creationId xmlns:a16="http://schemas.microsoft.com/office/drawing/2014/main" id="{37FC5083-F095-4779-9B17-6D757625BF79}"/>
              </a:ext>
            </a:extLst>
          </p:cNvPr>
          <p:cNvSpPr>
            <a:spLocks noGrp="1"/>
          </p:cNvSpPr>
          <p:nvPr/>
        </p:nvSpPr>
        <p:spPr>
          <a:xfrm>
            <a:off x="466725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evidence</a:t>
            </a:r>
          </a:p>
        </p:txBody>
      </p:sp>
      <p:sp>
        <p:nvSpPr>
          <p:cNvPr id="12" name="Rectangle 11">
            <a:extLst>
              <a:ext uri="{FF2B5EF4-FFF2-40B4-BE49-F238E27FC236}">
                <a16:creationId xmlns:a16="http://schemas.microsoft.com/office/drawing/2014/main" id="{5EE0C9F6-83B1-4A91-9063-1F45B1FEECEA}"/>
              </a:ext>
            </a:extLst>
          </p:cNvPr>
          <p:cNvSpPr>
            <a:spLocks noGrp="1"/>
          </p:cNvSpPr>
          <p:nvPr/>
        </p:nvSpPr>
        <p:spPr>
          <a:xfrm>
            <a:off x="8915400" y="4667250"/>
            <a:ext cx="1143000" cy="266700"/>
          </a:xfrm>
          <a:prstGeom prst="rect">
            <a:avLst/>
          </a:prstGeom>
          <a:noFill/>
          <a:ln w="0">
            <a:noFill/>
            <a:prstDash val="solid"/>
          </a:ln>
        </p:spPr>
        <p:txBody>
          <a:bodyPr wrap="square" lIns="0" tIns="0" rIns="0" bIns="0" anchor="t">
            <a:normAutofit/>
          </a:bodyPr>
          <a:lstStyle/>
          <a:p>
            <a:pPr algn="ctr">
              <a:defRPr sz="1200" b="0">
                <a:solidFill>
                  <a:srgbClr val="8AA0A4"/>
                </a:solidFill>
                <a:latin typeface="Arial"/>
                <a:ea typeface="Arial"/>
                <a:cs typeface="Arial"/>
              </a:defRPr>
            </a:pPr>
            <a:r>
              <a:rPr sz="1200" b="0">
                <a:solidFill>
                  <a:srgbClr val="8AA0A4"/>
                </a:solidFill>
                <a:latin typeface="Arial"/>
                <a:ea typeface="Arial"/>
                <a:cs typeface="Arial"/>
              </a:rPr>
              <a:t>replay</a:t>
            </a:r>
          </a:p>
        </p:txBody>
      </p:sp>
      <p:sp>
        <p:nvSpPr>
          <p:cNvPr id="13" name="Rectangle 12">
            <a:extLst>
              <a:ext uri="{FF2B5EF4-FFF2-40B4-BE49-F238E27FC236}">
                <a16:creationId xmlns:a16="http://schemas.microsoft.com/office/drawing/2014/main" id="{E45D7BE0-6AE7-4DB1-A6BE-69F8269E074B}"/>
              </a:ext>
            </a:extLst>
          </p:cNvPr>
          <p:cNvSpPr>
            <a:spLocks noGrp="1"/>
          </p:cNvSpPr>
          <p:nvPr/>
        </p:nvSpPr>
        <p:spPr>
          <a:xfrm>
            <a:off x="723900" y="5981700"/>
            <a:ext cx="5905500" cy="247650"/>
          </a:xfrm>
          <a:prstGeom prst="rect">
            <a:avLst/>
          </a:prstGeom>
          <a:noFill/>
          <a:ln w="0">
            <a:noFill/>
            <a:prstDash val="solid"/>
          </a:ln>
        </p:spPr>
        <p:txBody>
          <a:bodyPr wrap="square" lIns="0" tIns="0" rIns="0" bIns="0" anchor="t">
            <a:normAutofit/>
          </a:bodyPr>
          <a:lstStyle/>
          <a:p>
            <a:pPr algn="l">
              <a:defRPr sz="1200" b="0">
                <a:solidFill>
                  <a:srgbClr val="8AA0A4"/>
                </a:solidFill>
                <a:latin typeface="Arial"/>
                <a:ea typeface="Arial"/>
                <a:cs typeface="Arial"/>
              </a:defRPr>
            </a:pPr>
            <a:r>
              <a:rPr sz="1200" b="0">
                <a:solidFill>
                  <a:srgbClr val="8AA0A4"/>
                </a:solidFill>
                <a:latin typeface="Arial"/>
              </a:rPr>
              <a:t>Tim Goeke  ·  AI Cohort  ·  August 31, 2026</a:t>
            </a:r>
          </a:p>
        </p:txBody>
      </p:sp>
    </p:spTree>
    <p:extLst>
      <p:ext uri="{BB962C8B-B14F-4D97-AF65-F5344CB8AC3E}">
        <p14:creationId xmlns:p14="http://schemas.microsoft.com/office/powerpoint/2010/main" val="2101652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0DF7BFB1-643F-497E-9400-F20CC6A992F8}"/>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2">
            <a:extLst>
              <a:ext uri="{FF2B5EF4-FFF2-40B4-BE49-F238E27FC236}">
                <a16:creationId xmlns:a16="http://schemas.microsoft.com/office/drawing/2014/main" id="{F0F16DB1-9455-4C3D-B6E0-F5F9DF585276}"/>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PRODUCT JOURNEY</a:t>
            </a:r>
          </a:p>
        </p:txBody>
      </p:sp>
      <p:sp>
        <p:nvSpPr>
          <p:cNvPr id="3" name="Rectangle 2">
            <a:extLst>
              <a:ext uri="{FF2B5EF4-FFF2-40B4-BE49-F238E27FC236}">
                <a16:creationId xmlns:a16="http://schemas.microsoft.com/office/drawing/2014/main" id="{C75DAC3C-93F6-423B-B515-E1303E3D6526}"/>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02</a:t>
            </a:r>
          </a:p>
        </p:txBody>
      </p:sp>
      <p:sp>
        <p:nvSpPr>
          <p:cNvPr id="4" name="Rectangle 3">
            <a:extLst>
              <a:ext uri="{FF2B5EF4-FFF2-40B4-BE49-F238E27FC236}">
                <a16:creationId xmlns:a16="http://schemas.microsoft.com/office/drawing/2014/main" id="{3FE46295-B715-4D60-80A0-5F77559C21DE}"/>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CCAED49-4AE2-4019-A65C-0B6A1C898EAE}"/>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000" b="1">
                <a:solidFill>
                  <a:srgbClr val="E8F0EF"/>
                </a:solidFill>
                <a:latin typeface="Arial"/>
                <a:ea typeface="Arial"/>
                <a:cs typeface="Arial"/>
              </a:defRPr>
            </a:pPr>
            <a:r>
              <a:rPr sz="3000" b="1">
                <a:solidFill>
                  <a:srgbClr val="E8F0EF"/>
                </a:solidFill>
                <a:latin typeface="Arial"/>
                <a:ea typeface="Arial"/>
                <a:cs typeface="Arial"/>
              </a:rPr>
              <a:t>Watchback taught the first lesson: preserve the source.</a:t>
            </a:r>
          </a:p>
        </p:txBody>
      </p:sp>
      <p:sp>
        <p:nvSpPr>
          <p:cNvPr id="6" name="Rectangle 5">
            <a:extLst>
              <a:ext uri="{FF2B5EF4-FFF2-40B4-BE49-F238E27FC236}">
                <a16:creationId xmlns:a16="http://schemas.microsoft.com/office/drawing/2014/main" id="{95B3F773-B446-475F-91D0-3741966D69AC}"/>
              </a:ext>
            </a:extLst>
          </p:cNvPr>
          <p:cNvSpPr>
            <a:spLocks noGrp="1"/>
          </p:cNvSpPr>
          <p:nvPr/>
        </p:nvSpPr>
        <p:spPr>
          <a:xfrm>
            <a:off x="723900" y="1295400"/>
            <a:ext cx="10744200" cy="323850"/>
          </a:xfrm>
          <a:prstGeom prst="rect">
            <a:avLst/>
          </a:prstGeom>
          <a:noFill/>
          <a:ln w="0">
            <a:noFill/>
            <a:prstDash val="solid"/>
          </a:ln>
        </p:spPr>
        <p:txBody>
          <a:bodyPr wrap="square" lIns="0" tIns="0" rIns="0" bIns="0" anchor="t">
            <a:normAutofit/>
          </a:bodyPr>
          <a:lstStyle/>
          <a:p>
            <a:pPr algn="l">
              <a:defRPr sz="1500" b="0">
                <a:solidFill>
                  <a:srgbClr val="8AA0A4"/>
                </a:solidFill>
                <a:latin typeface="Arial"/>
                <a:ea typeface="Arial"/>
                <a:cs typeface="Arial"/>
              </a:defRPr>
            </a:pPr>
            <a:r>
              <a:rPr sz="1500" b="0">
                <a:solidFill>
                  <a:srgbClr val="8AA0A4"/>
                </a:solidFill>
                <a:latin typeface="Arial"/>
                <a:ea typeface="Arial"/>
                <a:cs typeface="Arial"/>
              </a:rPr>
              <a:t>The YouTube downloader became the conceptual starting point for MeetingMiner.</a:t>
            </a:r>
          </a:p>
        </p:txBody>
      </p:sp>
      <p:sp>
        <p:nvSpPr>
          <p:cNvPr id="7" name="Rectangle 6">
            <a:extLst>
              <a:ext uri="{FF2B5EF4-FFF2-40B4-BE49-F238E27FC236}">
                <a16:creationId xmlns:a16="http://schemas.microsoft.com/office/drawing/2014/main" id="{00A5D456-95F8-4077-BF17-CD55984EA5C6}"/>
              </a:ext>
            </a:extLst>
          </p:cNvPr>
          <p:cNvSpPr>
            <a:spLocks noGrp="1"/>
          </p:cNvSpPr>
          <p:nvPr/>
        </p:nvSpPr>
        <p:spPr>
          <a:xfrm>
            <a:off x="1219200" y="3543300"/>
            <a:ext cx="9563100" cy="38100"/>
          </a:xfrm>
          <a:prstGeom prst="rect">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E28D83B1-9D9B-47A8-A241-7E0798FEA097}"/>
              </a:ext>
            </a:extLst>
          </p:cNvPr>
          <p:cNvSpPr>
            <a:spLocks noGrp="1"/>
          </p:cNvSpPr>
          <p:nvPr/>
        </p:nvSpPr>
        <p:spPr>
          <a:xfrm>
            <a:off x="10629900" y="3429000"/>
            <a:ext cx="666750" cy="266700"/>
          </a:xfrm>
          <a:prstGeom prst="rightArrow">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547BA961-B92F-47C1-A577-C2FDD038929B}"/>
              </a:ext>
            </a:extLst>
          </p:cNvPr>
          <p:cNvSpPr>
            <a:spLocks noGrp="1"/>
          </p:cNvSpPr>
          <p:nvPr/>
        </p:nvSpPr>
        <p:spPr>
          <a:xfrm>
            <a:off x="476250" y="1847850"/>
            <a:ext cx="3048000" cy="209550"/>
          </a:xfrm>
          <a:prstGeom prst="rect">
            <a:avLst/>
          </a:prstGeom>
          <a:noFill/>
          <a:ln w="0">
            <a:noFill/>
            <a:prstDash val="solid"/>
          </a:ln>
        </p:spPr>
        <p:txBody>
          <a:bodyPr wrap="square" lIns="0" tIns="0" rIns="0" bIns="0" anchor="t">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WATCHBACK · YOUTUBE</a:t>
            </a:r>
          </a:p>
        </p:txBody>
      </p:sp>
      <p:sp>
        <p:nvSpPr>
          <p:cNvPr id="10" name="Rectangle 9">
            <a:extLst>
              <a:ext uri="{FF2B5EF4-FFF2-40B4-BE49-F238E27FC236}">
                <a16:creationId xmlns:a16="http://schemas.microsoft.com/office/drawing/2014/main" id="{E4994765-AADF-40B7-BEDC-987C06213DCC}"/>
              </a:ext>
            </a:extLst>
          </p:cNvPr>
          <p:cNvSpPr>
            <a:spLocks noGrp="1"/>
          </p:cNvSpPr>
          <p:nvPr/>
        </p:nvSpPr>
        <p:spPr>
          <a:xfrm>
            <a:off x="4762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Capture</a:t>
            </a:r>
          </a:p>
        </p:txBody>
      </p:sp>
      <p:sp>
        <p:nvSpPr>
          <p:cNvPr id="11" name="Rectangle 10">
            <a:extLst>
              <a:ext uri="{FF2B5EF4-FFF2-40B4-BE49-F238E27FC236}">
                <a16:creationId xmlns:a16="http://schemas.microsoft.com/office/drawing/2014/main" id="{A6CAFF24-C78A-469C-B691-F2D0FF2E733E}"/>
              </a:ext>
            </a:extLst>
          </p:cNvPr>
          <p:cNvSpPr>
            <a:spLocks noGrp="1"/>
          </p:cNvSpPr>
          <p:nvPr/>
        </p:nvSpPr>
        <p:spPr>
          <a:xfrm>
            <a:off x="4762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YouTube downloader that packages video, a timed transcript, metadata and a playable source.</a:t>
            </a:r>
          </a:p>
        </p:txBody>
      </p:sp>
      <p:sp>
        <p:nvSpPr>
          <p:cNvPr id="12" name="Oval 11">
            <a:extLst>
              <a:ext uri="{FF2B5EF4-FFF2-40B4-BE49-F238E27FC236}">
                <a16:creationId xmlns:a16="http://schemas.microsoft.com/office/drawing/2014/main" id="{3DBC4B9C-2638-4933-8337-66BDC9C3F4DF}"/>
              </a:ext>
            </a:extLst>
          </p:cNvPr>
          <p:cNvSpPr>
            <a:spLocks noGrp="1"/>
          </p:cNvSpPr>
          <p:nvPr/>
        </p:nvSpPr>
        <p:spPr>
          <a:xfrm>
            <a:off x="1762125" y="3324225"/>
            <a:ext cx="476250" cy="476250"/>
          </a:xfrm>
          <a:prstGeom prst="ellipse">
            <a:avLst/>
          </a:prstGeom>
          <a:solidFill>
            <a:srgbClr val="081115"/>
          </a:solidFill>
          <a:ln w="9525">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CC2E15DD-A88B-46D2-A669-612EA0E2F507}"/>
              </a:ext>
            </a:extLst>
          </p:cNvPr>
          <p:cNvSpPr>
            <a:spLocks noGrp="1"/>
          </p:cNvSpPr>
          <p:nvPr/>
        </p:nvSpPr>
        <p:spPr>
          <a:xfrm>
            <a:off x="1809750" y="3438525"/>
            <a:ext cx="381000" cy="247650"/>
          </a:xfrm>
          <a:prstGeom prst="rect">
            <a:avLst/>
          </a:prstGeom>
          <a:noFill/>
          <a:ln w="0">
            <a:noFill/>
            <a:prstDash val="solid"/>
          </a:ln>
        </p:spPr>
        <p:txBody>
          <a:bodyPr wrap="square" lIns="0" tIns="0" rIns="0" bIns="0" anchor="ctr">
            <a:normAutofit/>
          </a:bodyPr>
          <a:lstStyle/>
          <a:p>
            <a:pPr algn="ctr">
              <a:defRPr sz="975" b="1">
                <a:solidFill>
                  <a:srgbClr val="F2A93B"/>
                </a:solidFill>
                <a:latin typeface="Arial"/>
                <a:ea typeface="Arial"/>
                <a:cs typeface="Arial"/>
              </a:defRPr>
            </a:pPr>
            <a:r>
              <a:rPr sz="975" b="1">
                <a:solidFill>
                  <a:srgbClr val="F2A93B"/>
                </a:solidFill>
                <a:latin typeface="Arial"/>
                <a:ea typeface="Arial"/>
                <a:cs typeface="Arial"/>
              </a:rPr>
              <a:t>01</a:t>
            </a:r>
          </a:p>
        </p:txBody>
      </p:sp>
      <p:sp>
        <p:nvSpPr>
          <p:cNvPr id="14" name="Rectangle 13">
            <a:extLst>
              <a:ext uri="{FF2B5EF4-FFF2-40B4-BE49-F238E27FC236}">
                <a16:creationId xmlns:a16="http://schemas.microsoft.com/office/drawing/2014/main" id="{4A9030B6-2A7A-4ACD-967E-0563379519F1}"/>
              </a:ext>
            </a:extLst>
          </p:cNvPr>
          <p:cNvSpPr>
            <a:spLocks noGrp="1"/>
          </p:cNvSpPr>
          <p:nvPr/>
        </p:nvSpPr>
        <p:spPr>
          <a:xfrm>
            <a:off x="476250" y="4000500"/>
            <a:ext cx="3048000" cy="266700"/>
          </a:xfrm>
          <a:prstGeom prst="rect">
            <a:avLst/>
          </a:prstGeom>
          <a:noFill/>
          <a:ln w="0">
            <a:noFill/>
            <a:prstDash val="solid"/>
          </a:ln>
        </p:spPr>
        <p:txBody>
          <a:bodyPr wrap="square" lIns="0" tIns="0" rIns="0" bIns="0" anchor="t">
            <a:normAutofit/>
          </a:bodyPr>
          <a:lstStyle/>
          <a:p>
            <a:pPr algn="ctr">
              <a:defRPr sz="1200" b="1">
                <a:solidFill>
                  <a:srgbClr val="F2A93B"/>
                </a:solidFill>
                <a:latin typeface="Arial"/>
                <a:ea typeface="Arial"/>
                <a:cs typeface="Arial"/>
              </a:defRPr>
            </a:pPr>
            <a:r>
              <a:rPr sz="1200" b="1">
                <a:solidFill>
                  <a:srgbClr val="F2A93B"/>
                </a:solidFill>
                <a:latin typeface="Arial"/>
                <a:ea typeface="Arial"/>
                <a:cs typeface="Arial"/>
              </a:rPr>
              <a:t>video · transcript · metadata</a:t>
            </a:r>
          </a:p>
        </p:txBody>
      </p:sp>
      <p:sp>
        <p:nvSpPr>
          <p:cNvPr id="15" name="Rectangle 14">
            <a:extLst>
              <a:ext uri="{FF2B5EF4-FFF2-40B4-BE49-F238E27FC236}">
                <a16:creationId xmlns:a16="http://schemas.microsoft.com/office/drawing/2014/main" id="{928EC3D3-35FC-47E3-88B4-3B663775C579}"/>
              </a:ext>
            </a:extLst>
          </p:cNvPr>
          <p:cNvSpPr>
            <a:spLocks noGrp="1"/>
          </p:cNvSpPr>
          <p:nvPr/>
        </p:nvSpPr>
        <p:spPr>
          <a:xfrm>
            <a:off x="4572000" y="1847850"/>
            <a:ext cx="3048000" cy="209550"/>
          </a:xfrm>
          <a:prstGeom prst="rect">
            <a:avLst/>
          </a:prstGeom>
          <a:noFill/>
          <a:ln w="0">
            <a:noFill/>
            <a:prstDash val="solid"/>
          </a:ln>
        </p:spPr>
        <p:txBody>
          <a:bodyPr wrap="square" lIns="0" tIns="0" rIns="0" bIns="0" anchor="t">
            <a:normAutofit/>
          </a:bodyPr>
          <a:lstStyle/>
          <a:p>
            <a:pPr algn="ctr">
              <a:defRPr sz="975" b="1">
                <a:solidFill>
                  <a:srgbClr val="A88BFF"/>
                </a:solidFill>
                <a:latin typeface="Arial"/>
                <a:ea typeface="Arial"/>
                <a:cs typeface="Arial"/>
              </a:defRPr>
            </a:pPr>
            <a:r>
              <a:rPr sz="975" b="1" dirty="0">
                <a:solidFill>
                  <a:srgbClr val="A88BFF"/>
                </a:solidFill>
                <a:latin typeface="Arial"/>
                <a:ea typeface="Arial"/>
                <a:cs typeface="Arial"/>
              </a:rPr>
              <a:t>THE IDEA</a:t>
            </a:r>
          </a:p>
        </p:txBody>
      </p:sp>
      <p:sp>
        <p:nvSpPr>
          <p:cNvPr id="16" name="Rectangle 15">
            <a:extLst>
              <a:ext uri="{FF2B5EF4-FFF2-40B4-BE49-F238E27FC236}">
                <a16:creationId xmlns:a16="http://schemas.microsoft.com/office/drawing/2014/main" id="{B80CF637-79A7-4A56-B4B1-64F02222CC4C}"/>
              </a:ext>
            </a:extLst>
          </p:cNvPr>
          <p:cNvSpPr>
            <a:spLocks noGrp="1"/>
          </p:cNvSpPr>
          <p:nvPr/>
        </p:nvSpPr>
        <p:spPr>
          <a:xfrm>
            <a:off x="457200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Preserve</a:t>
            </a:r>
          </a:p>
        </p:txBody>
      </p:sp>
      <p:sp>
        <p:nvSpPr>
          <p:cNvPr id="17" name="Rectangle 16">
            <a:extLst>
              <a:ext uri="{FF2B5EF4-FFF2-40B4-BE49-F238E27FC236}">
                <a16:creationId xmlns:a16="http://schemas.microsoft.com/office/drawing/2014/main" id="{29608724-EBF9-468F-A382-CA2AB9C848A9}"/>
              </a:ext>
            </a:extLst>
          </p:cNvPr>
          <p:cNvSpPr>
            <a:spLocks noGrp="1"/>
          </p:cNvSpPr>
          <p:nvPr/>
        </p:nvSpPr>
        <p:spPr>
          <a:xfrm>
            <a:off x="4572000" y="2628900"/>
            <a:ext cx="3048000" cy="723900"/>
          </a:xfrm>
          <a:prstGeom prst="rect">
            <a:avLst/>
          </a:prstGeom>
          <a:noFill/>
          <a:ln w="0">
            <a:noFill/>
            <a:prstDash val="solid"/>
          </a:ln>
        </p:spPr>
        <p:txBody>
          <a:bodyPr wrap="square" lIns="0" tIns="0" rIns="0" bIns="0" anchor="t">
            <a:normAutofit fontScale="99075"/>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A download becomes a corpus when the media, words and timestamps remain linked as one evidence package.</a:t>
            </a:r>
          </a:p>
        </p:txBody>
      </p:sp>
      <p:sp>
        <p:nvSpPr>
          <p:cNvPr id="18" name="Oval 17">
            <a:extLst>
              <a:ext uri="{FF2B5EF4-FFF2-40B4-BE49-F238E27FC236}">
                <a16:creationId xmlns:a16="http://schemas.microsoft.com/office/drawing/2014/main" id="{A152C23A-28EE-402F-890D-CA7689C59409}"/>
              </a:ext>
            </a:extLst>
          </p:cNvPr>
          <p:cNvSpPr>
            <a:spLocks noGrp="1"/>
          </p:cNvSpPr>
          <p:nvPr/>
        </p:nvSpPr>
        <p:spPr>
          <a:xfrm>
            <a:off x="5857875" y="3324225"/>
            <a:ext cx="476250" cy="476250"/>
          </a:xfrm>
          <a:prstGeom prst="ellipse">
            <a:avLst/>
          </a:prstGeom>
          <a:solidFill>
            <a:srgbClr val="081115"/>
          </a:solidFill>
          <a:ln w="9525">
            <a:solidFill>
              <a:srgbClr val="A88BFF"/>
            </a:solidFill>
            <a:prstDash val="solid"/>
          </a:ln>
        </p:spPr>
        <p:txBody>
          <a:bodyPr/>
          <a:lstStyle/>
          <a:p>
            <a:endParaRPr lang="en-US"/>
          </a:p>
        </p:txBody>
      </p:sp>
      <p:sp>
        <p:nvSpPr>
          <p:cNvPr id="19" name="Rectangle 18">
            <a:extLst>
              <a:ext uri="{FF2B5EF4-FFF2-40B4-BE49-F238E27FC236}">
                <a16:creationId xmlns:a16="http://schemas.microsoft.com/office/drawing/2014/main" id="{692ECFF3-6484-40A1-AA6F-39AC3FB82CB3}"/>
              </a:ext>
            </a:extLst>
          </p:cNvPr>
          <p:cNvSpPr>
            <a:spLocks noGrp="1"/>
          </p:cNvSpPr>
          <p:nvPr/>
        </p:nvSpPr>
        <p:spPr>
          <a:xfrm>
            <a:off x="5905500" y="3438525"/>
            <a:ext cx="381000" cy="247650"/>
          </a:xfrm>
          <a:prstGeom prst="rect">
            <a:avLst/>
          </a:prstGeom>
          <a:noFill/>
          <a:ln w="0">
            <a:noFill/>
            <a:prstDash val="solid"/>
          </a:ln>
        </p:spPr>
        <p:txBody>
          <a:bodyPr wrap="square" lIns="0" tIns="0" rIns="0" bIns="0" anchor="ctr">
            <a:normAutofit/>
          </a:bodyPr>
          <a:lstStyle/>
          <a:p>
            <a:pPr algn="ctr">
              <a:defRPr sz="975" b="1">
                <a:solidFill>
                  <a:srgbClr val="A88BFF"/>
                </a:solidFill>
                <a:latin typeface="Arial"/>
                <a:ea typeface="Arial"/>
                <a:cs typeface="Arial"/>
              </a:defRPr>
            </a:pPr>
            <a:r>
              <a:rPr sz="975" b="1">
                <a:solidFill>
                  <a:srgbClr val="A88BFF"/>
                </a:solidFill>
                <a:latin typeface="Arial"/>
                <a:ea typeface="Arial"/>
                <a:cs typeface="Arial"/>
              </a:rPr>
              <a:t>02</a:t>
            </a:r>
          </a:p>
        </p:txBody>
      </p:sp>
      <p:sp>
        <p:nvSpPr>
          <p:cNvPr id="20" name="Rectangle 19">
            <a:extLst>
              <a:ext uri="{FF2B5EF4-FFF2-40B4-BE49-F238E27FC236}">
                <a16:creationId xmlns:a16="http://schemas.microsoft.com/office/drawing/2014/main" id="{98E070A9-5DC7-4710-A444-7985431FFAE4}"/>
              </a:ext>
            </a:extLst>
          </p:cNvPr>
          <p:cNvSpPr>
            <a:spLocks noGrp="1"/>
          </p:cNvSpPr>
          <p:nvPr/>
        </p:nvSpPr>
        <p:spPr>
          <a:xfrm>
            <a:off x="4572000" y="4000500"/>
            <a:ext cx="3048000" cy="266700"/>
          </a:xfrm>
          <a:prstGeom prst="rect">
            <a:avLst/>
          </a:prstGeom>
          <a:noFill/>
          <a:ln w="0">
            <a:noFill/>
            <a:prstDash val="solid"/>
          </a:ln>
        </p:spPr>
        <p:txBody>
          <a:bodyPr wrap="square" lIns="0" tIns="0" rIns="0" bIns="0" anchor="t">
            <a:normAutofit/>
          </a:bodyPr>
          <a:lstStyle/>
          <a:p>
            <a:pPr algn="ctr">
              <a:defRPr sz="1200" b="1">
                <a:solidFill>
                  <a:srgbClr val="A88BFF"/>
                </a:solidFill>
                <a:latin typeface="Arial"/>
                <a:ea typeface="Arial"/>
                <a:cs typeface="Arial"/>
              </a:defRPr>
            </a:pPr>
            <a:r>
              <a:rPr sz="1200" b="1">
                <a:solidFill>
                  <a:srgbClr val="A88BFF"/>
                </a:solidFill>
                <a:latin typeface="Arial"/>
                <a:ea typeface="Arial"/>
                <a:cs typeface="Arial"/>
              </a:rPr>
              <a:t>media ↔ words ↔ time</a:t>
            </a:r>
          </a:p>
        </p:txBody>
      </p:sp>
      <p:sp>
        <p:nvSpPr>
          <p:cNvPr id="21" name="Rectangle 20">
            <a:extLst>
              <a:ext uri="{FF2B5EF4-FFF2-40B4-BE49-F238E27FC236}">
                <a16:creationId xmlns:a16="http://schemas.microsoft.com/office/drawing/2014/main" id="{1A4F69BA-4913-4F34-A06F-93A9D0F12B0B}"/>
              </a:ext>
            </a:extLst>
          </p:cNvPr>
          <p:cNvSpPr>
            <a:spLocks noGrp="1"/>
          </p:cNvSpPr>
          <p:nvPr/>
        </p:nvSpPr>
        <p:spPr>
          <a:xfrm>
            <a:off x="8667750" y="1847850"/>
            <a:ext cx="3048000" cy="209550"/>
          </a:xfrm>
          <a:prstGeom prst="rect">
            <a:avLst/>
          </a:prstGeom>
          <a:noFill/>
          <a:ln w="0">
            <a:noFill/>
            <a:prstDash val="solid"/>
          </a:ln>
        </p:spPr>
        <p:txBody>
          <a:bodyPr wrap="square" lIns="0" tIns="0" rIns="0" bIns="0" anchor="t">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MEETINGMINER · MEETINGS</a:t>
            </a:r>
          </a:p>
        </p:txBody>
      </p:sp>
      <p:sp>
        <p:nvSpPr>
          <p:cNvPr id="22" name="Rectangle 21">
            <a:extLst>
              <a:ext uri="{FF2B5EF4-FFF2-40B4-BE49-F238E27FC236}">
                <a16:creationId xmlns:a16="http://schemas.microsoft.com/office/drawing/2014/main" id="{62E38D70-8D07-4A10-B66C-2A718F5D06AB}"/>
              </a:ext>
            </a:extLst>
          </p:cNvPr>
          <p:cNvSpPr>
            <a:spLocks noGrp="1"/>
          </p:cNvSpPr>
          <p:nvPr/>
        </p:nvSpPr>
        <p:spPr>
          <a:xfrm>
            <a:off x="8667750" y="2133600"/>
            <a:ext cx="3048000" cy="40005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Investigate</a:t>
            </a:r>
          </a:p>
        </p:txBody>
      </p:sp>
      <p:sp>
        <p:nvSpPr>
          <p:cNvPr id="23" name="Rectangle 22">
            <a:extLst>
              <a:ext uri="{FF2B5EF4-FFF2-40B4-BE49-F238E27FC236}">
                <a16:creationId xmlns:a16="http://schemas.microsoft.com/office/drawing/2014/main" id="{98889A1E-9279-4691-AC0B-5580645CC243}"/>
              </a:ext>
            </a:extLst>
          </p:cNvPr>
          <p:cNvSpPr>
            <a:spLocks noGrp="1"/>
          </p:cNvSpPr>
          <p:nvPr/>
        </p:nvSpPr>
        <p:spPr>
          <a:xfrm>
            <a:off x="8667750" y="2628900"/>
            <a:ext cx="3048000" cy="723900"/>
          </a:xfrm>
          <a:prstGeom prst="rect">
            <a:avLst/>
          </a:prstGeom>
          <a:noFill/>
          <a:ln w="0">
            <a:noFill/>
            <a:prstDash val="solid"/>
          </a:ln>
        </p:spPr>
        <p:txBody>
          <a:bodyPr wrap="square" lIns="0" tIns="0" rIns="0" bIns="0" anchor="t">
            <a:normAutofit/>
          </a:bodyPr>
          <a:lstStyle/>
          <a:p>
            <a:pPr algn="ctr">
              <a:defRPr sz="1350" b="0">
                <a:solidFill>
                  <a:srgbClr val="E8F0EF"/>
                </a:solidFill>
                <a:latin typeface="Arial"/>
                <a:ea typeface="Arial"/>
                <a:cs typeface="Arial"/>
              </a:defRPr>
            </a:pPr>
            <a:r>
              <a:rPr sz="1350" b="0">
                <a:solidFill>
                  <a:srgbClr val="E8F0EF"/>
                </a:solidFill>
                <a:latin typeface="Arial"/>
                <a:ea typeface="Arial"/>
                <a:cs typeface="Arial"/>
              </a:rPr>
              <a:t>Extend the contract to meetings: ask across the corpus, cite the moment, then replay the source.</a:t>
            </a:r>
          </a:p>
        </p:txBody>
      </p:sp>
      <p:sp>
        <p:nvSpPr>
          <p:cNvPr id="24" name="Oval 23">
            <a:extLst>
              <a:ext uri="{FF2B5EF4-FFF2-40B4-BE49-F238E27FC236}">
                <a16:creationId xmlns:a16="http://schemas.microsoft.com/office/drawing/2014/main" id="{89017C60-BF31-48DE-9051-8755960F212E}"/>
              </a:ext>
            </a:extLst>
          </p:cNvPr>
          <p:cNvSpPr>
            <a:spLocks noGrp="1"/>
          </p:cNvSpPr>
          <p:nvPr/>
        </p:nvSpPr>
        <p:spPr>
          <a:xfrm>
            <a:off x="9953625" y="3324225"/>
            <a:ext cx="476250" cy="476250"/>
          </a:xfrm>
          <a:prstGeom prst="ellipse">
            <a:avLst/>
          </a:prstGeom>
          <a:solidFill>
            <a:srgbClr val="081115"/>
          </a:solidFill>
          <a:ln w="9525">
            <a:solidFill>
              <a:srgbClr val="47C6B7"/>
            </a:solidFill>
            <a:prstDash val="solid"/>
          </a:ln>
        </p:spPr>
        <p:txBody>
          <a:bodyPr/>
          <a:lstStyle/>
          <a:p>
            <a:endParaRPr lang="en-US"/>
          </a:p>
        </p:txBody>
      </p:sp>
      <p:sp>
        <p:nvSpPr>
          <p:cNvPr id="25" name="Rectangle 24">
            <a:extLst>
              <a:ext uri="{FF2B5EF4-FFF2-40B4-BE49-F238E27FC236}">
                <a16:creationId xmlns:a16="http://schemas.microsoft.com/office/drawing/2014/main" id="{E2B29751-04DD-4ED0-BACC-6935B78625E0}"/>
              </a:ext>
            </a:extLst>
          </p:cNvPr>
          <p:cNvSpPr>
            <a:spLocks noGrp="1"/>
          </p:cNvSpPr>
          <p:nvPr/>
        </p:nvSpPr>
        <p:spPr>
          <a:xfrm>
            <a:off x="10001250" y="3438525"/>
            <a:ext cx="381000" cy="247650"/>
          </a:xfrm>
          <a:prstGeom prst="rect">
            <a:avLst/>
          </a:prstGeom>
          <a:noFill/>
          <a:ln w="0">
            <a:noFill/>
            <a:prstDash val="solid"/>
          </a:ln>
        </p:spPr>
        <p:txBody>
          <a:bodyPr wrap="square" lIns="0" tIns="0" rIns="0" bIns="0" anchor="ctr">
            <a:normAutofit/>
          </a:bodyPr>
          <a:lstStyle/>
          <a:p>
            <a:pPr algn="ctr">
              <a:defRPr sz="975" b="1">
                <a:solidFill>
                  <a:srgbClr val="47C6B7"/>
                </a:solidFill>
                <a:latin typeface="Arial"/>
                <a:ea typeface="Arial"/>
                <a:cs typeface="Arial"/>
              </a:defRPr>
            </a:pPr>
            <a:r>
              <a:rPr sz="975" b="1">
                <a:solidFill>
                  <a:srgbClr val="47C6B7"/>
                </a:solidFill>
                <a:latin typeface="Arial"/>
                <a:ea typeface="Arial"/>
                <a:cs typeface="Arial"/>
              </a:rPr>
              <a:t>03</a:t>
            </a:r>
          </a:p>
        </p:txBody>
      </p:sp>
      <p:sp>
        <p:nvSpPr>
          <p:cNvPr id="26" name="Rectangle 25">
            <a:extLst>
              <a:ext uri="{FF2B5EF4-FFF2-40B4-BE49-F238E27FC236}">
                <a16:creationId xmlns:a16="http://schemas.microsoft.com/office/drawing/2014/main" id="{117EE0B9-C9D8-43B9-A113-3B006ED1F042}"/>
              </a:ext>
            </a:extLst>
          </p:cNvPr>
          <p:cNvSpPr>
            <a:spLocks noGrp="1"/>
          </p:cNvSpPr>
          <p:nvPr/>
        </p:nvSpPr>
        <p:spPr>
          <a:xfrm>
            <a:off x="8667750" y="4000500"/>
            <a:ext cx="3048000" cy="266700"/>
          </a:xfrm>
          <a:prstGeom prst="rect">
            <a:avLst/>
          </a:prstGeom>
          <a:noFill/>
          <a:ln w="0">
            <a:noFill/>
            <a:prstDash val="solid"/>
          </a:ln>
        </p:spPr>
        <p:txBody>
          <a:bodyPr wrap="square" lIns="0" tIns="0" rIns="0" bIns="0" anchor="t">
            <a:normAutofit/>
          </a:bodyPr>
          <a:lstStyle/>
          <a:p>
            <a:pPr algn="ctr">
              <a:defRPr sz="1200" b="1">
                <a:solidFill>
                  <a:srgbClr val="47C6B7"/>
                </a:solidFill>
                <a:latin typeface="Arial"/>
                <a:ea typeface="Arial"/>
                <a:cs typeface="Arial"/>
              </a:defRPr>
            </a:pPr>
            <a:r>
              <a:rPr sz="1200" b="1">
                <a:solidFill>
                  <a:srgbClr val="47C6B7"/>
                </a:solidFill>
                <a:latin typeface="Arial"/>
                <a:ea typeface="Arial"/>
                <a:cs typeface="Arial"/>
              </a:rPr>
              <a:t>question · citation · replay</a:t>
            </a:r>
          </a:p>
        </p:txBody>
      </p:sp>
      <p:sp>
        <p:nvSpPr>
          <p:cNvPr id="27" name="Rectangle 26">
            <a:extLst>
              <a:ext uri="{FF2B5EF4-FFF2-40B4-BE49-F238E27FC236}">
                <a16:creationId xmlns:a16="http://schemas.microsoft.com/office/drawing/2014/main" id="{C24699C7-4EF6-4D62-BB71-1E3C347A73A7}"/>
              </a:ext>
            </a:extLst>
          </p:cNvPr>
          <p:cNvSpPr>
            <a:spLocks noGrp="1"/>
          </p:cNvSpPr>
          <p:nvPr/>
        </p:nvSpPr>
        <p:spPr>
          <a:xfrm>
            <a:off x="1695450" y="4933950"/>
            <a:ext cx="8801100" cy="457200"/>
          </a:xfrm>
          <a:prstGeom prst="rect">
            <a:avLst/>
          </a:prstGeom>
          <a:noFill/>
          <a:ln w="0">
            <a:noFill/>
            <a:prstDash val="solid"/>
          </a:ln>
        </p:spPr>
        <p:txBody>
          <a:bodyPr wrap="square" lIns="0" tIns="0" rIns="0" bIns="0" anchor="t">
            <a:normAutofit/>
          </a:bodyPr>
          <a:lstStyle/>
          <a:p>
            <a:pPr algn="ctr">
              <a:defRPr sz="2250" b="1">
                <a:solidFill>
                  <a:srgbClr val="E8F0EF"/>
                </a:solidFill>
                <a:latin typeface="Arial"/>
                <a:ea typeface="Arial"/>
                <a:cs typeface="Arial"/>
              </a:defRPr>
            </a:pPr>
            <a:r>
              <a:rPr sz="2250" b="1">
                <a:solidFill>
                  <a:srgbClr val="E8F0EF"/>
                </a:solidFill>
                <a:latin typeface="Arial"/>
                <a:ea typeface="Arial"/>
                <a:cs typeface="Arial"/>
              </a:rPr>
              <a:t>The source changed. The evidence contract survived.</a:t>
            </a:r>
          </a:p>
        </p:txBody>
      </p:sp>
      <p:sp>
        <p:nvSpPr>
          <p:cNvPr id="28" name="Rectangle 27">
            <a:extLst>
              <a:ext uri="{FF2B5EF4-FFF2-40B4-BE49-F238E27FC236}">
                <a16:creationId xmlns:a16="http://schemas.microsoft.com/office/drawing/2014/main" id="{79DDDF0D-FC72-494F-B58E-77EEAF9B30CC}"/>
              </a:ext>
            </a:extLst>
          </p:cNvPr>
          <p:cNvSpPr>
            <a:spLocks noGrp="1"/>
          </p:cNvSpPr>
          <p:nvPr/>
        </p:nvSpPr>
        <p:spPr>
          <a:xfrm>
            <a:off x="2076450" y="5505450"/>
            <a:ext cx="8039100" cy="323850"/>
          </a:xfrm>
          <a:prstGeom prst="rect">
            <a:avLst/>
          </a:prstGeom>
          <a:noFill/>
          <a:ln w="0">
            <a:noFill/>
            <a:prstDash val="solid"/>
          </a:ln>
        </p:spPr>
        <p:txBody>
          <a:bodyPr wrap="square" lIns="0" tIns="0" rIns="0" bIns="0" anchor="t">
            <a:normAutofit/>
          </a:bodyPr>
          <a:lstStyle/>
          <a:p>
            <a:pPr algn="ctr">
              <a:defRPr sz="1500" b="0">
                <a:solidFill>
                  <a:srgbClr val="47C6B7"/>
                </a:solidFill>
                <a:latin typeface="Arial"/>
                <a:ea typeface="Arial"/>
                <a:cs typeface="Arial"/>
              </a:defRPr>
            </a:pPr>
            <a:r>
              <a:rPr sz="1500" b="0">
                <a:solidFill>
                  <a:srgbClr val="47C6B7"/>
                </a:solidFill>
                <a:latin typeface="Arial"/>
                <a:ea typeface="Arial"/>
                <a:cs typeface="Arial"/>
              </a:rPr>
              <a:t>MeetingMiner changes the questions—not the need to prove the answer.</a:t>
            </a:r>
          </a:p>
        </p:txBody>
      </p:sp>
    </p:spTree>
    <p:extLst>
      <p:ext uri="{BB962C8B-B14F-4D97-AF65-F5344CB8AC3E}">
        <p14:creationId xmlns:p14="http://schemas.microsoft.com/office/powerpoint/2010/main" val="11440526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81115"/>
        </a:solidFill>
        <a:effectLst/>
      </p:bgPr>
    </p:bg>
    <p:spTree>
      <p:nvGrpSpPr>
        <p:cNvPr id="1" name=""/>
        <p:cNvGrpSpPr/>
        <p:nvPr/>
      </p:nvGrpSpPr>
      <p:grpSpPr/>
      <p:sp>
        <p:nvSpPr>
          <p:cNvPr id="2" name="Rectangle 42"/>
          <p:cNvSpPr/>
          <p:nvPr/>
        </p:nvSpPr>
        <p:spPr>
          <a:xfrm>
            <a:off x="0" y="0"/>
            <a:ext cx="12191695" cy="64008"/>
          </a:xfrm>
          <a:prstGeom prst="rect">
            <a:avLst/>
          </a:prstGeom>
          <a:solidFill>
            <a:srgbClr val="47C6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tion-3"/>
          <p:cNvSpPr txBox="1"/>
          <p:nvPr/>
        </p:nvSpPr>
        <p:spPr>
          <a:xfrm>
            <a:off x="685800" y="265176"/>
            <a:ext cx="3236976" cy="228600"/>
          </a:xfrm>
          <a:prstGeom prst="rect">
            <a:avLst/>
          </a:prstGeom>
          <a:noFill/>
        </p:spPr>
        <p:txBody>
          <a:bodyPr wrap="square" lIns="0" rIns="0" tIns="0" bIns="0">
            <a:spAutoFit/>
          </a:bodyPr>
          <a:lstStyle/>
          <a:p>
            <a:pPr algn="l"/>
            <a:r>
              <a:rPr sz="975" b="1">
                <a:solidFill>
                  <a:srgbClr val="47C6B7"/>
                </a:solidFill>
                <a:latin typeface="Arial"/>
              </a:rPr>
              <a:t>THE ARCHITECTURE</a:t>
            </a:r>
          </a:p>
        </p:txBody>
      </p:sp>
      <p:sp>
        <p:nvSpPr>
          <p:cNvPr id="4" name="Rectangle 2"/>
          <p:cNvSpPr txBox="1"/>
          <p:nvPr/>
        </p:nvSpPr>
        <p:spPr>
          <a:xfrm>
            <a:off x="11256264" y="6345936"/>
            <a:ext cx="384048" cy="210312"/>
          </a:xfrm>
          <a:prstGeom prst="rect">
            <a:avLst/>
          </a:prstGeom>
          <a:noFill/>
        </p:spPr>
        <p:txBody>
          <a:bodyPr wrap="square" lIns="0" rIns="0" tIns="0" bIns="0">
            <a:spAutoFit/>
          </a:bodyPr>
          <a:lstStyle/>
          <a:p>
            <a:pPr algn="l"/>
            <a:r>
              <a:rPr sz="975" b="1">
                <a:solidFill>
                  <a:srgbClr val="8AA0A4"/>
                </a:solidFill>
                <a:latin typeface="Arial"/>
              </a:rPr>
              <a:t>03</a:t>
            </a:r>
          </a:p>
        </p:txBody>
      </p:sp>
      <p:sp>
        <p:nvSpPr>
          <p:cNvPr id="5" name="Rectangle 3"/>
          <p:cNvSpPr/>
          <p:nvPr/>
        </p:nvSpPr>
        <p:spPr>
          <a:xfrm>
            <a:off x="685800" y="6254496"/>
            <a:ext cx="10570464" cy="18288"/>
          </a:xfrm>
          <a:prstGeom prst="rect">
            <a:avLst/>
          </a:prstGeom>
          <a:solidFill>
            <a:srgbClr val="3144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lide-title"/>
          <p:cNvSpPr txBox="1"/>
          <p:nvPr/>
        </p:nvSpPr>
        <p:spPr>
          <a:xfrm>
            <a:off x="685800" y="630936"/>
            <a:ext cx="10671048" cy="685800"/>
          </a:xfrm>
          <a:prstGeom prst="rect">
            <a:avLst/>
          </a:prstGeom>
          <a:noFill/>
        </p:spPr>
        <p:txBody>
          <a:bodyPr wrap="square" lIns="0" rIns="0" tIns="0" bIns="0">
            <a:spAutoFit/>
          </a:bodyPr>
          <a:lstStyle/>
          <a:p>
            <a:pPr algn="l"/>
            <a:r>
              <a:rPr sz="3000" b="1">
                <a:solidFill>
                  <a:srgbClr val="E8F0EF"/>
                </a:solidFill>
                <a:latin typeface="Arial"/>
              </a:rPr>
              <a:t>A meeting goes in. An answer you can check comes out.</a:t>
            </a:r>
          </a:p>
        </p:txBody>
      </p:sp>
      <p:sp>
        <p:nvSpPr>
          <p:cNvPr id="7" name="TextBox 6"/>
          <p:cNvSpPr txBox="1"/>
          <p:nvPr/>
        </p:nvSpPr>
        <p:spPr>
          <a:xfrm>
            <a:off x="722376" y="1353312"/>
            <a:ext cx="10744200" cy="274320"/>
          </a:xfrm>
          <a:prstGeom prst="rect">
            <a:avLst/>
          </a:prstGeom>
          <a:noFill/>
        </p:spPr>
        <p:txBody>
          <a:bodyPr wrap="square" lIns="0" rIns="0" tIns="0" bIns="0">
            <a:spAutoFit/>
          </a:bodyPr>
          <a:lstStyle/>
          <a:p>
            <a:pPr algn="l"/>
            <a:r>
              <a:rPr sz="1400" b="0">
                <a:solidFill>
                  <a:srgbClr val="8AA0A4"/>
                </a:solidFill>
                <a:latin typeface="Arial"/>
              </a:rPr>
              <a:t>The arrows are what actually calls what. Only one box is allowed to be the truth.</a:t>
            </a:r>
          </a:p>
        </p:txBody>
      </p:sp>
      <p:sp>
        <p:nvSpPr>
          <p:cNvPr id="8" name="Rounded Rectangle 7"/>
          <p:cNvSpPr/>
          <p:nvPr/>
        </p:nvSpPr>
        <p:spPr>
          <a:xfrm>
            <a:off x="502920" y="1783080"/>
            <a:ext cx="2331720" cy="2011680"/>
          </a:xfrm>
          <a:prstGeom prst="roundRect">
            <a:avLst>
              <a:gd name="adj" fmla="val 4000"/>
            </a:avLst>
          </a:prstGeom>
          <a:noFill/>
          <a:ln w="12700">
            <a:solidFill>
              <a:srgbClr val="3144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512" y="1892807"/>
            <a:ext cx="2002536" cy="201168"/>
          </a:xfrm>
          <a:prstGeom prst="rect">
            <a:avLst/>
          </a:prstGeom>
          <a:noFill/>
        </p:spPr>
        <p:txBody>
          <a:bodyPr wrap="square" lIns="0" rIns="0" tIns="0" bIns="0">
            <a:spAutoFit/>
          </a:bodyPr>
          <a:lstStyle/>
          <a:p>
            <a:pPr algn="l"/>
            <a:r>
              <a:rPr sz="900" b="1">
                <a:solidFill>
                  <a:srgbClr val="8AA0A4"/>
                </a:solidFill>
                <a:latin typeface="Arial"/>
              </a:rPr>
              <a:t>CLIENTS</a:t>
            </a:r>
          </a:p>
        </p:txBody>
      </p:sp>
      <p:sp>
        <p:nvSpPr>
          <p:cNvPr id="10" name="Rounded Rectangle 9"/>
          <p:cNvSpPr/>
          <p:nvPr/>
        </p:nvSpPr>
        <p:spPr>
          <a:xfrm>
            <a:off x="3246120" y="1783080"/>
            <a:ext cx="2788920" cy="2011680"/>
          </a:xfrm>
          <a:prstGeom prst="roundRect">
            <a:avLst>
              <a:gd name="adj" fmla="val 4000"/>
            </a:avLst>
          </a:prstGeom>
          <a:noFill/>
          <a:ln w="12700">
            <a:solidFill>
              <a:srgbClr val="3144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410712" y="1892807"/>
            <a:ext cx="2459736" cy="201168"/>
          </a:xfrm>
          <a:prstGeom prst="rect">
            <a:avLst/>
          </a:prstGeom>
          <a:noFill/>
        </p:spPr>
        <p:txBody>
          <a:bodyPr wrap="square" lIns="0" rIns="0" tIns="0" bIns="0">
            <a:spAutoFit/>
          </a:bodyPr>
          <a:lstStyle/>
          <a:p>
            <a:pPr algn="l"/>
            <a:r>
              <a:rPr sz="900" b="1">
                <a:solidFill>
                  <a:srgbClr val="8AA0A4"/>
                </a:solidFill>
                <a:latin typeface="Arial"/>
              </a:rPr>
              <a:t>SERVICES · macOS host</a:t>
            </a:r>
          </a:p>
        </p:txBody>
      </p:sp>
      <p:sp>
        <p:nvSpPr>
          <p:cNvPr id="12" name="Rounded Rectangle 11"/>
          <p:cNvSpPr/>
          <p:nvPr/>
        </p:nvSpPr>
        <p:spPr>
          <a:xfrm>
            <a:off x="6446520" y="1783080"/>
            <a:ext cx="5257800" cy="2011680"/>
          </a:xfrm>
          <a:prstGeom prst="roundRect">
            <a:avLst>
              <a:gd name="adj" fmla="val 4000"/>
            </a:avLst>
          </a:prstGeom>
          <a:noFill/>
          <a:ln w="12700">
            <a:solidFill>
              <a:srgbClr val="3144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611112" y="1892807"/>
            <a:ext cx="4928616" cy="201168"/>
          </a:xfrm>
          <a:prstGeom prst="rect">
            <a:avLst/>
          </a:prstGeom>
          <a:noFill/>
        </p:spPr>
        <p:txBody>
          <a:bodyPr wrap="square" lIns="0" rIns="0" tIns="0" bIns="0">
            <a:spAutoFit/>
          </a:bodyPr>
          <a:lstStyle/>
          <a:p>
            <a:pPr algn="l"/>
            <a:r>
              <a:rPr sz="900" b="1">
                <a:solidFill>
                  <a:srgbClr val="8AA0A4"/>
                </a:solidFill>
                <a:latin typeface="Arial"/>
              </a:rPr>
              <a:t>DATA STORES · Docker</a:t>
            </a:r>
          </a:p>
        </p:txBody>
      </p:sp>
      <p:sp>
        <p:nvSpPr>
          <p:cNvPr id="14" name="Rounded Rectangle 13"/>
          <p:cNvSpPr/>
          <p:nvPr/>
        </p:nvSpPr>
        <p:spPr>
          <a:xfrm>
            <a:off x="502920" y="4160520"/>
            <a:ext cx="5532120" cy="1188720"/>
          </a:xfrm>
          <a:prstGeom prst="roundRect">
            <a:avLst>
              <a:gd name="adj" fmla="val 4000"/>
            </a:avLst>
          </a:prstGeom>
          <a:noFill/>
          <a:ln w="12700">
            <a:solidFill>
              <a:srgbClr val="3144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67512" y="4270248"/>
            <a:ext cx="5202936" cy="201168"/>
          </a:xfrm>
          <a:prstGeom prst="rect">
            <a:avLst/>
          </a:prstGeom>
          <a:noFill/>
        </p:spPr>
        <p:txBody>
          <a:bodyPr wrap="square" lIns="0" rIns="0" tIns="0" bIns="0">
            <a:spAutoFit/>
          </a:bodyPr>
          <a:lstStyle/>
          <a:p>
            <a:pPr algn="l"/>
            <a:r>
              <a:rPr sz="900" b="1">
                <a:solidFill>
                  <a:srgbClr val="8AA0A4"/>
                </a:solidFill>
                <a:latin typeface="Arial"/>
              </a:rPr>
              <a:t>FILESYSTEM</a:t>
            </a:r>
          </a:p>
        </p:txBody>
      </p:sp>
      <p:sp>
        <p:nvSpPr>
          <p:cNvPr id="16" name="Rounded Rectangle 15"/>
          <p:cNvSpPr/>
          <p:nvPr/>
        </p:nvSpPr>
        <p:spPr>
          <a:xfrm>
            <a:off x="6446520" y="4160520"/>
            <a:ext cx="5257800" cy="1188720"/>
          </a:xfrm>
          <a:prstGeom prst="roundRect">
            <a:avLst>
              <a:gd name="adj" fmla="val 4000"/>
            </a:avLst>
          </a:prstGeom>
          <a:noFill/>
          <a:ln w="12700">
            <a:solidFill>
              <a:srgbClr val="3144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611112" y="4270248"/>
            <a:ext cx="4928616" cy="201168"/>
          </a:xfrm>
          <a:prstGeom prst="rect">
            <a:avLst/>
          </a:prstGeom>
          <a:noFill/>
        </p:spPr>
        <p:txBody>
          <a:bodyPr wrap="square" lIns="0" rIns="0" tIns="0" bIns="0">
            <a:spAutoFit/>
          </a:bodyPr>
          <a:lstStyle/>
          <a:p>
            <a:pPr algn="l"/>
            <a:r>
              <a:rPr sz="900" b="1">
                <a:solidFill>
                  <a:srgbClr val="8AA0A4"/>
                </a:solidFill>
                <a:latin typeface="Arial"/>
              </a:rPr>
              <a:t>AI MODELS · swappable, one attachment point</a:t>
            </a:r>
          </a:p>
        </p:txBody>
      </p:sp>
      <p:sp>
        <p:nvSpPr>
          <p:cNvPr id="18" name="Rounded Rectangle 17"/>
          <p:cNvSpPr/>
          <p:nvPr/>
        </p:nvSpPr>
        <p:spPr>
          <a:xfrm>
            <a:off x="658368" y="2240280"/>
            <a:ext cx="2020824" cy="603504"/>
          </a:xfrm>
          <a:prstGeom prst="roundRect">
            <a:avLst>
              <a:gd name="adj" fmla="val 12000"/>
            </a:avLst>
          </a:prstGeom>
          <a:solidFill>
            <a:srgbClr val="111D22"/>
          </a:solidFill>
          <a:ln w="15875">
            <a:solidFill>
              <a:srgbClr val="47C6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1519" y="2276856"/>
            <a:ext cx="1874519" cy="530352"/>
          </a:xfrm>
          <a:prstGeom prst="rect">
            <a:avLst/>
          </a:prstGeom>
          <a:noFill/>
        </p:spPr>
        <p:txBody>
          <a:bodyPr wrap="square" anchor="ctr" lIns="0" rIns="0" tIns="0" bIns="0">
            <a:spAutoFit/>
          </a:bodyPr>
          <a:lstStyle/>
          <a:p>
            <a:pPr algn="ctr"/>
            <a:r>
              <a:rPr sz="1200" b="1">
                <a:solidFill>
                  <a:srgbClr val="E8F0EF"/>
                </a:solidFill>
                <a:latin typeface="Arial"/>
              </a:rPr>
              <a:t>web</a:t>
            </a:r>
          </a:p>
          <a:p>
            <a:pPr algn="ctr"/>
            <a:r>
              <a:rPr sz="900" b="0">
                <a:solidFill>
                  <a:srgbClr val="8AA0A4"/>
                </a:solidFill>
                <a:latin typeface="Arial"/>
              </a:rPr>
              <a:t>React app in the browser</a:t>
            </a:r>
          </a:p>
        </p:txBody>
      </p:sp>
      <p:sp>
        <p:nvSpPr>
          <p:cNvPr id="20" name="Rounded Rectangle 19"/>
          <p:cNvSpPr/>
          <p:nvPr/>
        </p:nvSpPr>
        <p:spPr>
          <a:xfrm>
            <a:off x="658368" y="2999232"/>
            <a:ext cx="2020824" cy="603504"/>
          </a:xfrm>
          <a:prstGeom prst="roundRect">
            <a:avLst>
              <a:gd name="adj" fmla="val 12000"/>
            </a:avLst>
          </a:prstGeom>
          <a:solidFill>
            <a:srgbClr val="111D22"/>
          </a:solidFill>
          <a:ln w="15875">
            <a:solidFill>
              <a:srgbClr val="47C6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19" y="3035808"/>
            <a:ext cx="1874519" cy="530352"/>
          </a:xfrm>
          <a:prstGeom prst="rect">
            <a:avLst/>
          </a:prstGeom>
          <a:noFill/>
        </p:spPr>
        <p:txBody>
          <a:bodyPr wrap="square" anchor="ctr" lIns="0" rIns="0" tIns="0" bIns="0">
            <a:spAutoFit/>
          </a:bodyPr>
          <a:lstStyle/>
          <a:p>
            <a:pPr algn="ctr"/>
            <a:r>
              <a:rPr sz="1200" b="1">
                <a:solidFill>
                  <a:srgbClr val="E8F0EF"/>
                </a:solidFill>
                <a:latin typeface="Arial"/>
              </a:rPr>
              <a:t>puller</a:t>
            </a:r>
          </a:p>
          <a:p>
            <a:pPr algn="ctr"/>
            <a:r>
              <a:rPr sz="900" b="0">
                <a:solidFill>
                  <a:srgbClr val="8AA0A4"/>
                </a:solidFill>
                <a:latin typeface="Arial"/>
              </a:rPr>
              <a:t>Teams · YouTube · local files</a:t>
            </a:r>
          </a:p>
        </p:txBody>
      </p:sp>
      <p:sp>
        <p:nvSpPr>
          <p:cNvPr id="22" name="Rounded Rectangle 21"/>
          <p:cNvSpPr/>
          <p:nvPr/>
        </p:nvSpPr>
        <p:spPr>
          <a:xfrm>
            <a:off x="3401568" y="2240280"/>
            <a:ext cx="2478024" cy="603504"/>
          </a:xfrm>
          <a:prstGeom prst="roundRect">
            <a:avLst>
              <a:gd name="adj" fmla="val 12000"/>
            </a:avLst>
          </a:prstGeom>
          <a:solidFill>
            <a:srgbClr val="111D22"/>
          </a:solidFill>
          <a:ln w="15875">
            <a:solidFill>
              <a:srgbClr val="47C6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74720" y="2276856"/>
            <a:ext cx="2331720" cy="530352"/>
          </a:xfrm>
          <a:prstGeom prst="rect">
            <a:avLst/>
          </a:prstGeom>
          <a:noFill/>
        </p:spPr>
        <p:txBody>
          <a:bodyPr wrap="square" anchor="ctr" lIns="0" rIns="0" tIns="0" bIns="0">
            <a:spAutoFit/>
          </a:bodyPr>
          <a:lstStyle/>
          <a:p>
            <a:pPr algn="ctr"/>
            <a:r>
              <a:rPr sz="1200" b="1">
                <a:solidFill>
                  <a:srgbClr val="E8F0EF"/>
                </a:solidFill>
                <a:latin typeface="Arial"/>
              </a:rPr>
              <a:t>api</a:t>
            </a:r>
          </a:p>
          <a:p>
            <a:pPr algn="ctr"/>
            <a:r>
              <a:rPr sz="900" b="0">
                <a:solidFill>
                  <a:srgbClr val="8AA0A4"/>
                </a:solidFill>
                <a:latin typeface="Arial"/>
              </a:rPr>
              <a:t>FastAPI — questions, intake, live updates</a:t>
            </a:r>
          </a:p>
        </p:txBody>
      </p:sp>
      <p:sp>
        <p:nvSpPr>
          <p:cNvPr id="24" name="Rounded Rectangle 23"/>
          <p:cNvSpPr/>
          <p:nvPr/>
        </p:nvSpPr>
        <p:spPr>
          <a:xfrm>
            <a:off x="3401568" y="2999232"/>
            <a:ext cx="2478024" cy="603504"/>
          </a:xfrm>
          <a:prstGeom prst="roundRect">
            <a:avLst>
              <a:gd name="adj" fmla="val 12000"/>
            </a:avLst>
          </a:prstGeom>
          <a:solidFill>
            <a:srgbClr val="111D22"/>
          </a:solidFill>
          <a:ln w="15875">
            <a:solidFill>
              <a:srgbClr val="47C6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74720" y="3035808"/>
            <a:ext cx="2331720" cy="530352"/>
          </a:xfrm>
          <a:prstGeom prst="rect">
            <a:avLst/>
          </a:prstGeom>
          <a:noFill/>
        </p:spPr>
        <p:txBody>
          <a:bodyPr wrap="square" anchor="ctr" lIns="0" rIns="0" tIns="0" bIns="0">
            <a:spAutoFit/>
          </a:bodyPr>
          <a:lstStyle/>
          <a:p>
            <a:pPr algn="ctr"/>
            <a:r>
              <a:rPr sz="1200" b="1">
                <a:solidFill>
                  <a:srgbClr val="E8F0EF"/>
                </a:solidFill>
                <a:latin typeface="Arial"/>
              </a:rPr>
              <a:t>worker</a:t>
            </a:r>
          </a:p>
          <a:p>
            <a:pPr algn="ctr"/>
            <a:r>
              <a:rPr sz="900" b="0">
                <a:solidFill>
                  <a:srgbClr val="8AA0A4"/>
                </a:solidFill>
                <a:latin typeface="Arial"/>
              </a:rPr>
              <a:t>ingest steps that resume after a crash</a:t>
            </a:r>
          </a:p>
        </p:txBody>
      </p:sp>
      <p:sp>
        <p:nvSpPr>
          <p:cNvPr id="26" name="Rounded Rectangle 25"/>
          <p:cNvSpPr/>
          <p:nvPr/>
        </p:nvSpPr>
        <p:spPr>
          <a:xfrm>
            <a:off x="6629400" y="2139696"/>
            <a:ext cx="4892040" cy="512064"/>
          </a:xfrm>
          <a:prstGeom prst="roundRect">
            <a:avLst>
              <a:gd name="adj" fmla="val 12000"/>
            </a:avLst>
          </a:prstGeom>
          <a:solidFill>
            <a:srgbClr val="152624"/>
          </a:solidFill>
          <a:ln w="15875">
            <a:solidFill>
              <a:srgbClr val="47C6B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702552" y="2176272"/>
            <a:ext cx="4745736" cy="438912"/>
          </a:xfrm>
          <a:prstGeom prst="rect">
            <a:avLst/>
          </a:prstGeom>
          <a:noFill/>
        </p:spPr>
        <p:txBody>
          <a:bodyPr wrap="square" anchor="ctr" lIns="0" rIns="0" tIns="0" bIns="0">
            <a:spAutoFit/>
          </a:bodyPr>
          <a:lstStyle/>
          <a:p>
            <a:pPr algn="ctr"/>
            <a:r>
              <a:rPr sz="1200" b="1">
                <a:solidFill>
                  <a:srgbClr val="E8F0EF"/>
                </a:solidFill>
                <a:latin typeface="Arial"/>
              </a:rPr>
              <a:t>Postgres — the record of truth</a:t>
            </a:r>
          </a:p>
        </p:txBody>
      </p:sp>
      <p:sp>
        <p:nvSpPr>
          <p:cNvPr id="28" name="Rounded Rectangle 27"/>
          <p:cNvSpPr/>
          <p:nvPr/>
        </p:nvSpPr>
        <p:spPr>
          <a:xfrm>
            <a:off x="6629400" y="2724912"/>
            <a:ext cx="4892040" cy="475488"/>
          </a:xfrm>
          <a:prstGeom prst="roundRect">
            <a:avLst>
              <a:gd name="adj" fmla="val 12000"/>
            </a:avLst>
          </a:prstGeom>
          <a:solidFill>
            <a:srgbClr val="111D22"/>
          </a:solidFill>
          <a:ln w="15875">
            <a:solidFill>
              <a:srgbClr val="3B82A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702552" y="2761488"/>
            <a:ext cx="4745736" cy="402336"/>
          </a:xfrm>
          <a:prstGeom prst="rect">
            <a:avLst/>
          </a:prstGeom>
          <a:noFill/>
        </p:spPr>
        <p:txBody>
          <a:bodyPr wrap="square" anchor="ctr" lIns="0" rIns="0" tIns="0" bIns="0">
            <a:spAutoFit/>
          </a:bodyPr>
          <a:lstStyle/>
          <a:p>
            <a:pPr algn="ctr"/>
            <a:r>
              <a:rPr sz="1200" b="1">
                <a:solidFill>
                  <a:srgbClr val="E8F0EF"/>
                </a:solidFill>
                <a:latin typeface="Arial"/>
              </a:rPr>
              <a:t>Neo4j — graph copy: how meetings and topics connect</a:t>
            </a:r>
          </a:p>
        </p:txBody>
      </p:sp>
      <p:sp>
        <p:nvSpPr>
          <p:cNvPr id="30" name="Rounded Rectangle 29"/>
          <p:cNvSpPr/>
          <p:nvPr/>
        </p:nvSpPr>
        <p:spPr>
          <a:xfrm>
            <a:off x="6629400" y="3273552"/>
            <a:ext cx="4892040" cy="475488"/>
          </a:xfrm>
          <a:prstGeom prst="roundRect">
            <a:avLst>
              <a:gd name="adj" fmla="val 12000"/>
            </a:avLst>
          </a:prstGeom>
          <a:solidFill>
            <a:srgbClr val="111D22"/>
          </a:solidFill>
          <a:ln w="15875">
            <a:solidFill>
              <a:srgbClr val="A8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702552" y="3310128"/>
            <a:ext cx="4745736" cy="402336"/>
          </a:xfrm>
          <a:prstGeom prst="rect">
            <a:avLst/>
          </a:prstGeom>
          <a:noFill/>
        </p:spPr>
        <p:txBody>
          <a:bodyPr wrap="square" anchor="ctr" lIns="0" rIns="0" tIns="0" bIns="0">
            <a:spAutoFit/>
          </a:bodyPr>
          <a:lstStyle/>
          <a:p>
            <a:pPr algn="ctr"/>
            <a:r>
              <a:rPr sz="1200" b="1">
                <a:solidFill>
                  <a:srgbClr val="E8F0EF"/>
                </a:solidFill>
                <a:latin typeface="Arial"/>
              </a:rPr>
              <a:t>Meilisearch — search copy: exact words + meaning</a:t>
            </a:r>
          </a:p>
        </p:txBody>
      </p:sp>
      <p:sp>
        <p:nvSpPr>
          <p:cNvPr id="32" name="Rounded Rectangle 31"/>
          <p:cNvSpPr/>
          <p:nvPr/>
        </p:nvSpPr>
        <p:spPr>
          <a:xfrm>
            <a:off x="685800" y="4617720"/>
            <a:ext cx="2331720" cy="566928"/>
          </a:xfrm>
          <a:prstGeom prst="roundRect">
            <a:avLst>
              <a:gd name="adj" fmla="val 12000"/>
            </a:avLst>
          </a:prstGeom>
          <a:solidFill>
            <a:srgbClr val="111D22"/>
          </a:solidFill>
          <a:ln w="15875">
            <a:solidFill>
              <a:srgbClr val="8AA0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58952" y="4654296"/>
            <a:ext cx="2185415" cy="493776"/>
          </a:xfrm>
          <a:prstGeom prst="rect">
            <a:avLst/>
          </a:prstGeom>
          <a:noFill/>
        </p:spPr>
        <p:txBody>
          <a:bodyPr wrap="square" anchor="ctr" lIns="0" rIns="0" tIns="0" bIns="0">
            <a:spAutoFit/>
          </a:bodyPr>
          <a:lstStyle/>
          <a:p>
            <a:pPr algn="ctr"/>
            <a:r>
              <a:rPr sz="1200" b="1">
                <a:solidFill>
                  <a:srgbClr val="E8F0EF"/>
                </a:solidFill>
                <a:latin typeface="Arial"/>
              </a:rPr>
              <a:t>source drops</a:t>
            </a:r>
          </a:p>
          <a:p>
            <a:pPr algn="ctr"/>
            <a:r>
              <a:rPr sz="900" b="0">
                <a:solidFill>
                  <a:srgbClr val="8AA0A4"/>
                </a:solidFill>
                <a:latin typeface="Arial"/>
              </a:rPr>
              <a:t>originals, written once, never edited</a:t>
            </a:r>
          </a:p>
        </p:txBody>
      </p:sp>
      <p:sp>
        <p:nvSpPr>
          <p:cNvPr id="34" name="Rounded Rectangle 33"/>
          <p:cNvSpPr/>
          <p:nvPr/>
        </p:nvSpPr>
        <p:spPr>
          <a:xfrm>
            <a:off x="3291840" y="4617720"/>
            <a:ext cx="2606040" cy="566928"/>
          </a:xfrm>
          <a:prstGeom prst="roundRect">
            <a:avLst>
              <a:gd name="adj" fmla="val 12000"/>
            </a:avLst>
          </a:prstGeom>
          <a:solidFill>
            <a:srgbClr val="111D22"/>
          </a:solidFill>
          <a:ln w="15875">
            <a:solidFill>
              <a:srgbClr val="8AA0A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64992" y="4654296"/>
            <a:ext cx="2459736" cy="493776"/>
          </a:xfrm>
          <a:prstGeom prst="rect">
            <a:avLst/>
          </a:prstGeom>
          <a:noFill/>
        </p:spPr>
        <p:txBody>
          <a:bodyPr wrap="square" anchor="ctr" lIns="0" rIns="0" tIns="0" bIns="0">
            <a:spAutoFit/>
          </a:bodyPr>
          <a:lstStyle/>
          <a:p>
            <a:pPr algn="ctr"/>
            <a:r>
              <a:rPr sz="1200" b="1">
                <a:solidFill>
                  <a:srgbClr val="E8F0EF"/>
                </a:solidFill>
                <a:latin typeface="Arial"/>
              </a:rPr>
              <a:t>content root</a:t>
            </a:r>
          </a:p>
          <a:p>
            <a:pPr algn="ctr"/>
            <a:r>
              <a:rPr sz="900" b="0">
                <a:solidFill>
                  <a:srgbClr val="8AA0A4"/>
                </a:solidFill>
                <a:latin typeface="Arial"/>
              </a:rPr>
              <a:t>frames · screenshots it generates</a:t>
            </a:r>
          </a:p>
        </p:txBody>
      </p:sp>
      <p:sp>
        <p:nvSpPr>
          <p:cNvPr id="36" name="Rounded Rectangle 35"/>
          <p:cNvSpPr/>
          <p:nvPr/>
        </p:nvSpPr>
        <p:spPr>
          <a:xfrm>
            <a:off x="6629400" y="4617720"/>
            <a:ext cx="4892040" cy="566928"/>
          </a:xfrm>
          <a:prstGeom prst="roundRect">
            <a:avLst>
              <a:gd name="adj" fmla="val 12000"/>
            </a:avLst>
          </a:prstGeom>
          <a:solidFill>
            <a:srgbClr val="111D22"/>
          </a:solidFill>
          <a:ln w="15875">
            <a:solidFill>
              <a:srgbClr val="A88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702552" y="4654296"/>
            <a:ext cx="4745736" cy="493776"/>
          </a:xfrm>
          <a:prstGeom prst="rect">
            <a:avLst/>
          </a:prstGeom>
          <a:noFill/>
        </p:spPr>
        <p:txBody>
          <a:bodyPr wrap="square" anchor="ctr" lIns="0" rIns="0" tIns="0" bIns="0">
            <a:spAutoFit/>
          </a:bodyPr>
          <a:lstStyle/>
          <a:p>
            <a:pPr algn="ctr"/>
            <a:r>
              <a:rPr sz="1200" b="1">
                <a:solidFill>
                  <a:srgbClr val="E8F0EF"/>
                </a:solidFill>
                <a:latin typeface="Arial"/>
              </a:rPr>
              <a:t>on this Mac (Apple Vision · MLX)  ·  a GPU box on the LAN  ·  Ollama  ·  OpenAI</a:t>
            </a:r>
          </a:p>
        </p:txBody>
      </p:sp>
      <p:cxnSp>
        <p:nvCxnSpPr>
          <p:cNvPr id="38" name="Connector 37"/>
          <p:cNvCxnSpPr/>
          <p:nvPr/>
        </p:nvCxnSpPr>
        <p:spPr>
          <a:xfrm>
            <a:off x="2679192" y="2542032"/>
            <a:ext cx="722376" cy="0"/>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724912" y="2331720"/>
            <a:ext cx="640080" cy="155448"/>
          </a:xfrm>
          <a:prstGeom prst="rect">
            <a:avLst/>
          </a:prstGeom>
          <a:noFill/>
        </p:spPr>
        <p:txBody>
          <a:bodyPr wrap="square" lIns="0" rIns="0" tIns="0" bIns="0">
            <a:spAutoFit/>
          </a:bodyPr>
          <a:lstStyle/>
          <a:p>
            <a:pPr algn="ctr"/>
            <a:r>
              <a:rPr sz="750" b="0">
                <a:solidFill>
                  <a:srgbClr val="778B90"/>
                </a:solidFill>
                <a:latin typeface="Arial"/>
              </a:rPr>
              <a:t>HTTP + SSE</a:t>
            </a:r>
          </a:p>
        </p:txBody>
      </p:sp>
      <p:cxnSp>
        <p:nvCxnSpPr>
          <p:cNvPr id="40" name="Connector 39"/>
          <p:cNvCxnSpPr/>
          <p:nvPr/>
        </p:nvCxnSpPr>
        <p:spPr>
          <a:xfrm flipV="1">
            <a:off x="2679192" y="2871216"/>
            <a:ext cx="722376" cy="429768"/>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2724912" y="3346704"/>
            <a:ext cx="640080" cy="155448"/>
          </a:xfrm>
          <a:prstGeom prst="rect">
            <a:avLst/>
          </a:prstGeom>
          <a:noFill/>
        </p:spPr>
        <p:txBody>
          <a:bodyPr wrap="square" lIns="0" rIns="0" tIns="0" bIns="0">
            <a:spAutoFit/>
          </a:bodyPr>
          <a:lstStyle/>
          <a:p>
            <a:pPr algn="ctr"/>
            <a:r>
              <a:rPr sz="750" b="0">
                <a:solidFill>
                  <a:srgbClr val="778B90"/>
                </a:solidFill>
                <a:latin typeface="Arial"/>
              </a:rPr>
              <a:t>POST /ingests</a:t>
            </a:r>
          </a:p>
        </p:txBody>
      </p:sp>
      <p:cxnSp>
        <p:nvCxnSpPr>
          <p:cNvPr id="42" name="Connector 41"/>
          <p:cNvCxnSpPr/>
          <p:nvPr/>
        </p:nvCxnSpPr>
        <p:spPr>
          <a:xfrm flipV="1">
            <a:off x="5879592" y="2395728"/>
            <a:ext cx="749808" cy="91440"/>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07024" y="2011680"/>
            <a:ext cx="694944" cy="155448"/>
          </a:xfrm>
          <a:prstGeom prst="rect">
            <a:avLst/>
          </a:prstGeom>
          <a:noFill/>
        </p:spPr>
        <p:txBody>
          <a:bodyPr wrap="square" lIns="0" rIns="0" tIns="0" bIns="0">
            <a:spAutoFit/>
          </a:bodyPr>
          <a:lstStyle/>
          <a:p>
            <a:pPr algn="ctr"/>
            <a:r>
              <a:rPr sz="750" b="0">
                <a:solidFill>
                  <a:srgbClr val="778B90"/>
                </a:solidFill>
                <a:latin typeface="Arial"/>
              </a:rPr>
              <a:t>reads + writes</a:t>
            </a:r>
          </a:p>
        </p:txBody>
      </p:sp>
      <p:cxnSp>
        <p:nvCxnSpPr>
          <p:cNvPr id="44" name="Connector 43"/>
          <p:cNvCxnSpPr/>
          <p:nvPr/>
        </p:nvCxnSpPr>
        <p:spPr>
          <a:xfrm flipV="1">
            <a:off x="5879592" y="2962656"/>
            <a:ext cx="749808" cy="237744"/>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5879592" y="3346704"/>
            <a:ext cx="749808" cy="164592"/>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07024" y="3529584"/>
            <a:ext cx="694944" cy="155448"/>
          </a:xfrm>
          <a:prstGeom prst="rect">
            <a:avLst/>
          </a:prstGeom>
          <a:noFill/>
        </p:spPr>
        <p:txBody>
          <a:bodyPr wrap="square" lIns="0" rIns="0" tIns="0" bIns="0">
            <a:spAutoFit/>
          </a:bodyPr>
          <a:lstStyle/>
          <a:p>
            <a:pPr algn="ctr"/>
            <a:r>
              <a:rPr sz="750" b="0">
                <a:solidFill>
                  <a:srgbClr val="778B90"/>
                </a:solidFill>
                <a:latin typeface="Arial"/>
              </a:rPr>
              <a:t>projects · one writer</a:t>
            </a:r>
          </a:p>
        </p:txBody>
      </p:sp>
      <p:cxnSp>
        <p:nvCxnSpPr>
          <p:cNvPr id="47" name="Connector 46"/>
          <p:cNvCxnSpPr/>
          <p:nvPr/>
        </p:nvCxnSpPr>
        <p:spPr>
          <a:xfrm>
            <a:off x="1673352" y="3602736"/>
            <a:ext cx="0" cy="1014984"/>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1709928" y="3931920"/>
            <a:ext cx="1188720" cy="155448"/>
          </a:xfrm>
          <a:prstGeom prst="rect">
            <a:avLst/>
          </a:prstGeom>
          <a:noFill/>
        </p:spPr>
        <p:txBody>
          <a:bodyPr wrap="square" lIns="0" rIns="0" tIns="0" bIns="0">
            <a:spAutoFit/>
          </a:bodyPr>
          <a:lstStyle/>
          <a:p>
            <a:pPr algn="ctr"/>
            <a:r>
              <a:rPr sz="750" b="0">
                <a:solidFill>
                  <a:srgbClr val="778B90"/>
                </a:solidFill>
                <a:latin typeface="Arial"/>
              </a:rPr>
              <a:t>writes originals</a:t>
            </a:r>
          </a:p>
        </p:txBody>
      </p:sp>
      <p:cxnSp>
        <p:nvCxnSpPr>
          <p:cNvPr id="49" name="Connector 48"/>
          <p:cNvCxnSpPr/>
          <p:nvPr/>
        </p:nvCxnSpPr>
        <p:spPr>
          <a:xfrm flipV="1">
            <a:off x="3017520" y="3602736"/>
            <a:ext cx="960119" cy="1014984"/>
          </a:xfrm>
          <a:prstGeom prst="line">
            <a:avLst/>
          </a:prstGeom>
          <a:ln w="15875">
            <a:solidFill>
              <a:srgbClr val="778B90"/>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3035808" y="3913632"/>
            <a:ext cx="914400" cy="155448"/>
          </a:xfrm>
          <a:prstGeom prst="rect">
            <a:avLst/>
          </a:prstGeom>
          <a:noFill/>
        </p:spPr>
        <p:txBody>
          <a:bodyPr wrap="square" lIns="0" rIns="0" tIns="0" bIns="0">
            <a:spAutoFit/>
          </a:bodyPr>
          <a:lstStyle/>
          <a:p>
            <a:pPr algn="ctr"/>
            <a:r>
              <a:rPr sz="750" b="0">
                <a:solidFill>
                  <a:srgbClr val="778B90"/>
                </a:solidFill>
                <a:latin typeface="Arial"/>
              </a:rPr>
              <a:t>reads</a:t>
            </a:r>
          </a:p>
        </p:txBody>
      </p:sp>
      <p:cxnSp>
        <p:nvCxnSpPr>
          <p:cNvPr id="51" name="Connector 50"/>
          <p:cNvCxnSpPr/>
          <p:nvPr/>
        </p:nvCxnSpPr>
        <p:spPr>
          <a:xfrm>
            <a:off x="4663440" y="3602736"/>
            <a:ext cx="0" cy="1014984"/>
          </a:xfrm>
          <a:prstGeom prst="line">
            <a:avLst/>
          </a:prstGeom>
          <a:ln w="15875">
            <a:solidFill>
              <a:srgbClr val="8AA0A4"/>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4700016" y="3931920"/>
            <a:ext cx="1188720" cy="155448"/>
          </a:xfrm>
          <a:prstGeom prst="rect">
            <a:avLst/>
          </a:prstGeom>
          <a:noFill/>
        </p:spPr>
        <p:txBody>
          <a:bodyPr wrap="square" lIns="0" rIns="0" tIns="0" bIns="0">
            <a:spAutoFit/>
          </a:bodyPr>
          <a:lstStyle/>
          <a:p>
            <a:pPr algn="ctr"/>
            <a:r>
              <a:rPr sz="750" b="0">
                <a:solidFill>
                  <a:srgbClr val="778B90"/>
                </a:solidFill>
                <a:latin typeface="Arial"/>
              </a:rPr>
              <a:t>writes frames</a:t>
            </a:r>
          </a:p>
        </p:txBody>
      </p:sp>
      <p:cxnSp>
        <p:nvCxnSpPr>
          <p:cNvPr id="53" name="Connector 52"/>
          <p:cNvCxnSpPr/>
          <p:nvPr/>
        </p:nvCxnSpPr>
        <p:spPr>
          <a:xfrm>
            <a:off x="5989320" y="3803904"/>
            <a:ext cx="822960" cy="813816"/>
          </a:xfrm>
          <a:prstGeom prst="line">
            <a:avLst/>
          </a:prstGeom>
          <a:ln w="15875">
            <a:solidFill>
              <a:srgbClr val="A88BFF"/>
            </a:solidFill>
            <a:prstDash val="sysDash"/>
            <a:tailEnd type="triangle" w="sm" len="sm"/>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6053328" y="3858768"/>
            <a:ext cx="1325880" cy="155448"/>
          </a:xfrm>
          <a:prstGeom prst="rect">
            <a:avLst/>
          </a:prstGeom>
          <a:noFill/>
        </p:spPr>
        <p:txBody>
          <a:bodyPr wrap="square" lIns="0" rIns="0" tIns="0" bIns="0">
            <a:spAutoFit/>
          </a:bodyPr>
          <a:lstStyle/>
          <a:p>
            <a:pPr algn="ctr"/>
            <a:r>
              <a:rPr sz="750" b="0">
                <a:solidFill>
                  <a:srgbClr val="778B90"/>
                </a:solidFill>
                <a:latin typeface="Arial"/>
              </a:rPr>
              <a:t>config-bound ports</a:t>
            </a:r>
          </a:p>
        </p:txBody>
      </p:sp>
      <p:sp>
        <p:nvSpPr>
          <p:cNvPr id="55" name="TextBox 54"/>
          <p:cNvSpPr txBox="1"/>
          <p:nvPr/>
        </p:nvSpPr>
        <p:spPr>
          <a:xfrm>
            <a:off x="685800" y="5504688"/>
            <a:ext cx="10817352" cy="347472"/>
          </a:xfrm>
          <a:prstGeom prst="rect">
            <a:avLst/>
          </a:prstGeom>
          <a:noFill/>
        </p:spPr>
        <p:txBody>
          <a:bodyPr wrap="square" lIns="0" rIns="0" tIns="0" bIns="0">
            <a:spAutoFit/>
          </a:bodyPr>
          <a:lstStyle/>
          <a:p>
            <a:pPr algn="ctr"/>
            <a:r>
              <a:rPr sz="1600" b="1">
                <a:solidFill>
                  <a:srgbClr val="47C6B7"/>
                </a:solidFill>
                <a:latin typeface="Arial"/>
              </a:rPr>
              <a:t>Only Postgres is the truth. Delete Neo4j and Meilisearch and one command rebuilds them from it.</a:t>
            </a:r>
          </a:p>
        </p:txBody>
      </p:sp>
      <p:sp>
        <p:nvSpPr>
          <p:cNvPr id="56" name="TextBox 55"/>
          <p:cNvSpPr txBox="1"/>
          <p:nvPr/>
        </p:nvSpPr>
        <p:spPr>
          <a:xfrm>
            <a:off x="685800" y="5897880"/>
            <a:ext cx="10817352" cy="256032"/>
          </a:xfrm>
          <a:prstGeom prst="rect">
            <a:avLst/>
          </a:prstGeom>
          <a:noFill/>
        </p:spPr>
        <p:txBody>
          <a:bodyPr wrap="square" lIns="0" rIns="0" tIns="0" bIns="0">
            <a:spAutoFit/>
          </a:bodyPr>
          <a:lstStyle/>
          <a:p>
            <a:pPr algn="ctr"/>
            <a:r>
              <a:rPr sz="1200" b="0">
                <a:solidFill>
                  <a:srgbClr val="8AA0A4"/>
                </a:solidFill>
                <a:latin typeface="Arial"/>
              </a:rPr>
              <a:t>Swap any AI model and no other box changes — that is the whole reason they attach in one place.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DC04F14E-E4F2-4481-8B44-FC06BD14A48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0">
            <a:extLst>
              <a:ext uri="{FF2B5EF4-FFF2-40B4-BE49-F238E27FC236}">
                <a16:creationId xmlns:a16="http://schemas.microsoft.com/office/drawing/2014/main" id="{F0212DAC-BF8C-4043-89C6-E13CDA2361BB}"/>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ARCHITECTURE · DETAIL</a:t>
            </a:r>
          </a:p>
        </p:txBody>
      </p:sp>
      <p:sp>
        <p:nvSpPr>
          <p:cNvPr id="3" name="Rectangle 2">
            <a:extLst>
              <a:ext uri="{FF2B5EF4-FFF2-40B4-BE49-F238E27FC236}">
                <a16:creationId xmlns:a16="http://schemas.microsoft.com/office/drawing/2014/main" id="{FBF4B1CD-EF6F-4802-B752-D2FA50C586A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04</a:t>
            </a:r>
          </a:p>
        </p:txBody>
      </p:sp>
      <p:sp>
        <p:nvSpPr>
          <p:cNvPr id="4" name="Rectangle 3">
            <a:extLst>
              <a:ext uri="{FF2B5EF4-FFF2-40B4-BE49-F238E27FC236}">
                <a16:creationId xmlns:a16="http://schemas.microsoft.com/office/drawing/2014/main" id="{F32C4F25-0968-4634-BF84-38B48C00D8D8}"/>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457AC413-580C-438A-AD08-B9DF1607E384}"/>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rPr>
              <a:t>One record of truth. Everything else is a rebuildable copy.</a:t>
            </a:r>
          </a:p>
        </p:txBody>
      </p:sp>
      <p:sp>
        <p:nvSpPr>
          <p:cNvPr id="6" name="Rectangle 5">
            <a:extLst>
              <a:ext uri="{FF2B5EF4-FFF2-40B4-BE49-F238E27FC236}">
                <a16:creationId xmlns:a16="http://schemas.microsoft.com/office/drawing/2014/main" id="{C96BDD3E-6DBB-487A-A93B-32F2625C12E3}"/>
              </a:ext>
            </a:extLst>
          </p:cNvPr>
          <p:cNvSpPr>
            <a:spLocks noGrp="1"/>
          </p:cNvSpPr>
          <p:nvPr/>
        </p:nvSpPr>
        <p:spPr>
          <a:xfrm>
            <a:off x="704850" y="1504950"/>
            <a:ext cx="123825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ACQUIRE</a:t>
            </a:r>
          </a:p>
        </p:txBody>
      </p:sp>
      <p:sp>
        <p:nvSpPr>
          <p:cNvPr id="7" name="Rectangle 6">
            <a:extLst>
              <a:ext uri="{FF2B5EF4-FFF2-40B4-BE49-F238E27FC236}">
                <a16:creationId xmlns:a16="http://schemas.microsoft.com/office/drawing/2014/main" id="{CC83A734-659D-4DF3-8DC5-62AAC219F9A7}"/>
              </a:ext>
            </a:extLst>
          </p:cNvPr>
          <p:cNvSpPr>
            <a:spLocks noGrp="1"/>
          </p:cNvSpPr>
          <p:nvPr/>
        </p:nvSpPr>
        <p:spPr>
          <a:xfrm>
            <a:off x="2838450" y="1504950"/>
            <a:ext cx="1905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ea typeface="Arial"/>
                <a:cs typeface="Arial"/>
              </a:rPr>
              <a:t>CORE SERVICES</a:t>
            </a:r>
          </a:p>
        </p:txBody>
      </p:sp>
      <p:sp>
        <p:nvSpPr>
          <p:cNvPr id="8" name="Rectangle 7">
            <a:extLst>
              <a:ext uri="{FF2B5EF4-FFF2-40B4-BE49-F238E27FC236}">
                <a16:creationId xmlns:a16="http://schemas.microsoft.com/office/drawing/2014/main" id="{255D659C-1779-4220-9413-EC32CCDB6945}"/>
              </a:ext>
            </a:extLst>
          </p:cNvPr>
          <p:cNvSpPr>
            <a:spLocks noGrp="1"/>
          </p:cNvSpPr>
          <p:nvPr/>
        </p:nvSpPr>
        <p:spPr>
          <a:xfrm>
            <a:off x="5676900" y="1504950"/>
            <a:ext cx="22860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rPr>
              <a:t>FILES + AI MODELS</a:t>
            </a:r>
          </a:p>
        </p:txBody>
      </p:sp>
      <p:sp>
        <p:nvSpPr>
          <p:cNvPr id="9" name="Rectangle 8">
            <a:extLst>
              <a:ext uri="{FF2B5EF4-FFF2-40B4-BE49-F238E27FC236}">
                <a16:creationId xmlns:a16="http://schemas.microsoft.com/office/drawing/2014/main" id="{31794817-FBB8-4D87-AE17-E51E48C41CBD}"/>
              </a:ext>
            </a:extLst>
          </p:cNvPr>
          <p:cNvSpPr>
            <a:spLocks noGrp="1"/>
          </p:cNvSpPr>
          <p:nvPr/>
        </p:nvSpPr>
        <p:spPr>
          <a:xfrm>
            <a:off x="8515350" y="1504950"/>
            <a:ext cx="2095500" cy="209550"/>
          </a:xfrm>
          <a:prstGeom prst="rect">
            <a:avLst/>
          </a:prstGeom>
          <a:noFill/>
          <a:ln w="0">
            <a:noFill/>
            <a:prstDash val="solid"/>
          </a:ln>
        </p:spPr>
        <p:txBody>
          <a:bodyPr wrap="square" lIns="0" tIns="0" rIns="0" bIns="0" anchor="t">
            <a:normAutofit/>
          </a:bodyPr>
          <a:lstStyle/>
          <a:p>
            <a:pPr algn="l">
              <a:defRPr sz="975" b="1">
                <a:solidFill>
                  <a:srgbClr val="8AA0A4"/>
                </a:solidFill>
                <a:latin typeface="Arial"/>
                <a:ea typeface="Arial"/>
                <a:cs typeface="Arial"/>
              </a:defRPr>
            </a:pPr>
            <a:r>
              <a:rPr sz="975" b="1">
                <a:solidFill>
                  <a:srgbClr val="8AA0A4"/>
                </a:solidFill>
                <a:latin typeface="Arial"/>
              </a:rPr>
              <a:t>REBUILDABLE COPIES</a:t>
            </a:r>
          </a:p>
        </p:txBody>
      </p:sp>
      <p:sp>
        <p:nvSpPr>
          <p:cNvPr id="10" name="Right Arrow 9">
            <a:extLst>
              <a:ext uri="{FF2B5EF4-FFF2-40B4-BE49-F238E27FC236}">
                <a16:creationId xmlns:a16="http://schemas.microsoft.com/office/drawing/2014/main" id="{46CE18DA-E821-4FFF-9730-1020ABAF2A51}"/>
              </a:ext>
            </a:extLst>
          </p:cNvPr>
          <p:cNvSpPr>
            <a:spLocks noGrp="1"/>
          </p:cNvSpPr>
          <p:nvPr/>
        </p:nvSpPr>
        <p:spPr>
          <a:xfrm>
            <a:off x="2305050" y="2324100"/>
            <a:ext cx="533400" cy="171450"/>
          </a:xfrm>
          <a:prstGeom prst="rightArrow">
            <a:avLst/>
          </a:prstGeom>
          <a:solidFill>
            <a:srgbClr val="31444A"/>
          </a:solidFill>
          <a:ln w="0">
            <a:noFill/>
            <a:prstDash val="solid"/>
          </a:ln>
        </p:spPr>
        <p:txBody>
          <a:bodyPr/>
          <a:lstStyle/>
          <a:p>
            <a:endParaRPr lang="en-US"/>
          </a:p>
        </p:txBody>
      </p:sp>
      <p:sp>
        <p:nvSpPr>
          <p:cNvPr id="11" name="Right Arrow 10">
            <a:extLst>
              <a:ext uri="{FF2B5EF4-FFF2-40B4-BE49-F238E27FC236}">
                <a16:creationId xmlns:a16="http://schemas.microsoft.com/office/drawing/2014/main" id="{417A1913-44C6-440F-BDEA-DB11652D4B38}"/>
              </a:ext>
            </a:extLst>
          </p:cNvPr>
          <p:cNvSpPr>
            <a:spLocks noGrp="1"/>
          </p:cNvSpPr>
          <p:nvPr/>
        </p:nvSpPr>
        <p:spPr>
          <a:xfrm>
            <a:off x="2305050" y="4019550"/>
            <a:ext cx="533400" cy="171450"/>
          </a:xfrm>
          <a:prstGeom prst="rightArrow">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6728DB4B-4C81-46F4-85EF-8873FAC26F72}"/>
              </a:ext>
            </a:extLst>
          </p:cNvPr>
          <p:cNvSpPr>
            <a:spLocks noGrp="1"/>
          </p:cNvSpPr>
          <p:nvPr/>
        </p:nvSpPr>
        <p:spPr>
          <a:xfrm>
            <a:off x="4762500" y="2324100"/>
            <a:ext cx="723900" cy="171450"/>
          </a:xfrm>
          <a:prstGeom prst="rightArrow">
            <a:avLst/>
          </a:prstGeom>
          <a:solidFill>
            <a:srgbClr val="31444A"/>
          </a:solidFill>
          <a:ln w="0">
            <a:noFill/>
            <a:prstDash val="solid"/>
          </a:ln>
        </p:spPr>
        <p:txBody>
          <a:bodyPr/>
          <a:lstStyle/>
          <a:p>
            <a:endParaRPr lang="en-US"/>
          </a:p>
        </p:txBody>
      </p:sp>
      <p:sp>
        <p:nvSpPr>
          <p:cNvPr id="13" name="Right Arrow 12">
            <a:extLst>
              <a:ext uri="{FF2B5EF4-FFF2-40B4-BE49-F238E27FC236}">
                <a16:creationId xmlns:a16="http://schemas.microsoft.com/office/drawing/2014/main" id="{3DC43733-D7E4-431D-B7C3-B704BEDDDC00}"/>
              </a:ext>
            </a:extLst>
          </p:cNvPr>
          <p:cNvSpPr>
            <a:spLocks noGrp="1"/>
          </p:cNvSpPr>
          <p:nvPr/>
        </p:nvSpPr>
        <p:spPr>
          <a:xfrm>
            <a:off x="4762500" y="4019550"/>
            <a:ext cx="723900" cy="171450"/>
          </a:xfrm>
          <a:prstGeom prst="rightArrow">
            <a:avLst/>
          </a:prstGeom>
          <a:solidFill>
            <a:srgbClr val="31444A"/>
          </a:solidFill>
          <a:ln w="0">
            <a:noFill/>
            <a:prstDash val="solid"/>
          </a:ln>
        </p:spPr>
        <p:txBody>
          <a:bodyPr/>
          <a:lstStyle/>
          <a:p>
            <a:endParaRPr lang="en-US"/>
          </a:p>
        </p:txBody>
      </p:sp>
      <p:sp>
        <p:nvSpPr>
          <p:cNvPr id="14" name="Right Arrow 13">
            <a:extLst>
              <a:ext uri="{FF2B5EF4-FFF2-40B4-BE49-F238E27FC236}">
                <a16:creationId xmlns:a16="http://schemas.microsoft.com/office/drawing/2014/main" id="{F7859378-38E7-445E-88A0-70A87D2BF400}"/>
              </a:ext>
            </a:extLst>
          </p:cNvPr>
          <p:cNvSpPr>
            <a:spLocks noGrp="1"/>
          </p:cNvSpPr>
          <p:nvPr/>
        </p:nvSpPr>
        <p:spPr>
          <a:xfrm>
            <a:off x="7810500" y="3086100"/>
            <a:ext cx="609600" cy="171450"/>
          </a:xfrm>
          <a:prstGeom prst="rightArrow">
            <a:avLst/>
          </a:prstGeom>
          <a:solidFill>
            <a:srgbClr val="31444A"/>
          </a:solidFill>
          <a:ln w="0">
            <a:noFill/>
            <a:prstDash val="solid"/>
          </a:ln>
        </p:spPr>
        <p:txBody>
          <a:bodyPr/>
          <a:lstStyle/>
          <a:p>
            <a:endParaRPr lang="en-US"/>
          </a:p>
        </p:txBody>
      </p:sp>
      <p:sp>
        <p:nvSpPr>
          <p:cNvPr id="15" name="Right Arrow 14">
            <a:extLst>
              <a:ext uri="{FF2B5EF4-FFF2-40B4-BE49-F238E27FC236}">
                <a16:creationId xmlns:a16="http://schemas.microsoft.com/office/drawing/2014/main" id="{D3AD45FC-A3BF-40DE-9B33-EAFE3105FA28}"/>
              </a:ext>
            </a:extLst>
          </p:cNvPr>
          <p:cNvSpPr>
            <a:spLocks noGrp="1"/>
          </p:cNvSpPr>
          <p:nvPr/>
        </p:nvSpPr>
        <p:spPr>
          <a:xfrm>
            <a:off x="7810500" y="4248150"/>
            <a:ext cx="609600" cy="171450"/>
          </a:xfrm>
          <a:prstGeom prst="rightArrow">
            <a:avLst/>
          </a:prstGeom>
          <a:solidFill>
            <a:srgbClr val="31444A"/>
          </a:solidFill>
          <a:ln w="0">
            <a:noFill/>
            <a:prstDash val="solid"/>
          </a:ln>
        </p:spPr>
        <p:txBody>
          <a:bodyPr/>
          <a:lstStyle/>
          <a:p>
            <a:endParaRPr lang="en-US"/>
          </a:p>
        </p:txBody>
      </p:sp>
      <p:sp>
        <p:nvSpPr>
          <p:cNvPr id="16" name="Right Arrow 15">
            <a:extLst>
              <a:ext uri="{FF2B5EF4-FFF2-40B4-BE49-F238E27FC236}">
                <a16:creationId xmlns:a16="http://schemas.microsoft.com/office/drawing/2014/main" id="{5BF11176-0B7C-4541-93EC-882B031363AA}"/>
              </a:ext>
            </a:extLst>
          </p:cNvPr>
          <p:cNvSpPr>
            <a:spLocks noGrp="1"/>
          </p:cNvSpPr>
          <p:nvPr/>
        </p:nvSpPr>
        <p:spPr>
          <a:xfrm>
            <a:off x="10229850" y="3333750"/>
            <a:ext cx="419100" cy="171450"/>
          </a:xfrm>
          <a:prstGeom prst="rightArrow">
            <a:avLst/>
          </a:prstGeom>
          <a:solidFill>
            <a:srgbClr val="31444A"/>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87498376-B844-4CC7-818D-A6AEF5E46C1D}"/>
              </a:ext>
            </a:extLst>
          </p:cNvPr>
          <p:cNvSpPr>
            <a:spLocks noGrp="1"/>
          </p:cNvSpPr>
          <p:nvPr/>
        </p:nvSpPr>
        <p:spPr>
          <a:xfrm>
            <a:off x="3981450" y="2705100"/>
            <a:ext cx="28575" cy="933450"/>
          </a:xfrm>
          <a:prstGeom prst="rect">
            <a:avLst/>
          </a:prstGeom>
          <a:solidFill>
            <a:srgbClr val="31444A"/>
          </a:solidFill>
          <a:ln w="0">
            <a:noFill/>
            <a:prstDash val="solid"/>
          </a:ln>
        </p:spPr>
        <p:txBody>
          <a:bodyPr/>
          <a:lstStyle/>
          <a:p>
            <a:endParaRPr lang="en-US"/>
          </a:p>
        </p:txBody>
      </p:sp>
      <p:sp>
        <p:nvSpPr>
          <p:cNvPr id="18" name="Down Arrow 17">
            <a:extLst>
              <a:ext uri="{FF2B5EF4-FFF2-40B4-BE49-F238E27FC236}">
                <a16:creationId xmlns:a16="http://schemas.microsoft.com/office/drawing/2014/main" id="{F9138B64-F8DF-4302-A98F-601036288AAC}"/>
              </a:ext>
            </a:extLst>
          </p:cNvPr>
          <p:cNvSpPr>
            <a:spLocks noGrp="1"/>
          </p:cNvSpPr>
          <p:nvPr/>
        </p:nvSpPr>
        <p:spPr>
          <a:xfrm>
            <a:off x="3848100" y="3505200"/>
            <a:ext cx="285750" cy="514350"/>
          </a:xfrm>
          <a:prstGeom prst="downArrow">
            <a:avLst/>
          </a:prstGeom>
          <a:solidFill>
            <a:srgbClr val="31444A"/>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956CC35C-0087-47EF-A86E-666E42BEB3FA}"/>
              </a:ext>
            </a:extLst>
          </p:cNvPr>
          <p:cNvSpPr>
            <a:spLocks noGrp="1"/>
          </p:cNvSpPr>
          <p:nvPr/>
        </p:nvSpPr>
        <p:spPr>
          <a:xfrm>
            <a:off x="685800" y="192405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0" name="Rectangle 19">
            <a:extLst>
              <a:ext uri="{FF2B5EF4-FFF2-40B4-BE49-F238E27FC236}">
                <a16:creationId xmlns:a16="http://schemas.microsoft.com/office/drawing/2014/main" id="{3B9FD803-C009-427E-85F0-B92CF62776CD}"/>
              </a:ext>
            </a:extLst>
          </p:cNvPr>
          <p:cNvSpPr>
            <a:spLocks noGrp="1"/>
          </p:cNvSpPr>
          <p:nvPr/>
        </p:nvSpPr>
        <p:spPr>
          <a:xfrm>
            <a:off x="781050" y="199072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acquisition</a:t>
            </a:r>
          </a:p>
          <a:p>
            <a:pPr algn="ctr">
              <a:defRPr sz="1275" b="1">
                <a:solidFill>
                  <a:srgbClr val="E8F0EF"/>
                </a:solidFill>
                <a:latin typeface="Arial"/>
                <a:ea typeface="Arial"/>
                <a:cs typeface="Arial"/>
              </a:defRPr>
            </a:pPr>
            <a:r>
              <a:rPr sz="1275" b="1">
                <a:solidFill>
                  <a:srgbClr val="E8F0EF"/>
                </a:solidFill>
                <a:latin typeface="Arial"/>
                <a:ea typeface="Arial"/>
                <a:cs typeface="Arial"/>
              </a:rPr>
              <a:t>Teams · YouTube · local</a:t>
            </a:r>
          </a:p>
        </p:txBody>
      </p:sp>
      <p:sp>
        <p:nvSpPr>
          <p:cNvPr id="21" name="Rounded Rectangle 20">
            <a:extLst>
              <a:ext uri="{FF2B5EF4-FFF2-40B4-BE49-F238E27FC236}">
                <a16:creationId xmlns:a16="http://schemas.microsoft.com/office/drawing/2014/main" id="{30C7DD4A-F927-4DAA-A98A-7162C27AEC1B}"/>
              </a:ext>
            </a:extLst>
          </p:cNvPr>
          <p:cNvSpPr>
            <a:spLocks noGrp="1"/>
          </p:cNvSpPr>
          <p:nvPr/>
        </p:nvSpPr>
        <p:spPr>
          <a:xfrm>
            <a:off x="685800" y="3619500"/>
            <a:ext cx="16192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2" name="Rectangle 21">
            <a:extLst>
              <a:ext uri="{FF2B5EF4-FFF2-40B4-BE49-F238E27FC236}">
                <a16:creationId xmlns:a16="http://schemas.microsoft.com/office/drawing/2014/main" id="{219CB0D0-3FD0-4178-AE85-11B6BE7D2207}"/>
              </a:ext>
            </a:extLst>
          </p:cNvPr>
          <p:cNvSpPr>
            <a:spLocks noGrp="1"/>
          </p:cNvSpPr>
          <p:nvPr/>
        </p:nvSpPr>
        <p:spPr>
          <a:xfrm>
            <a:off x="781050" y="3686175"/>
            <a:ext cx="1428750" cy="6477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ea typeface="Arial"/>
                <a:cs typeface="Arial"/>
              </a:rPr>
              <a:t>local recording</a:t>
            </a:r>
          </a:p>
          <a:p>
            <a:pPr algn="ctr">
              <a:defRPr sz="1275" b="1">
                <a:solidFill>
                  <a:srgbClr val="E8F0EF"/>
                </a:solidFill>
                <a:latin typeface="Arial"/>
                <a:ea typeface="Arial"/>
                <a:cs typeface="Arial"/>
              </a:defRPr>
            </a:pPr>
            <a:r>
              <a:rPr sz="1275" b="1">
                <a:solidFill>
                  <a:srgbClr val="E8F0EF"/>
                </a:solidFill>
                <a:latin typeface="Arial"/>
                <a:ea typeface="Arial"/>
                <a:cs typeface="Arial"/>
              </a:rPr>
              <a:t>+ transcript</a:t>
            </a:r>
          </a:p>
        </p:txBody>
      </p:sp>
      <p:sp>
        <p:nvSpPr>
          <p:cNvPr id="23" name="Rounded Rectangle 22">
            <a:extLst>
              <a:ext uri="{FF2B5EF4-FFF2-40B4-BE49-F238E27FC236}">
                <a16:creationId xmlns:a16="http://schemas.microsoft.com/office/drawing/2014/main" id="{4A8C923A-1554-4A49-8803-DA6FAC337559}"/>
              </a:ext>
            </a:extLst>
          </p:cNvPr>
          <p:cNvSpPr>
            <a:spLocks noGrp="1"/>
          </p:cNvSpPr>
          <p:nvPr/>
        </p:nvSpPr>
        <p:spPr>
          <a:xfrm>
            <a:off x="2838450" y="19240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4" name="Rectangle 23">
            <a:extLst>
              <a:ext uri="{FF2B5EF4-FFF2-40B4-BE49-F238E27FC236}">
                <a16:creationId xmlns:a16="http://schemas.microsoft.com/office/drawing/2014/main" id="{064CDA63-723A-42FA-8E7D-568F6F67D98D}"/>
              </a:ext>
            </a:extLst>
          </p:cNvPr>
          <p:cNvSpPr>
            <a:spLocks noGrp="1"/>
          </p:cNvSpPr>
          <p:nvPr/>
        </p:nvSpPr>
        <p:spPr>
          <a:xfrm>
            <a:off x="2933700" y="19907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FastAPI</a:t>
            </a:r>
          </a:p>
          <a:p>
            <a:pPr algn="ctr"/>
            <a:r>
              <a:rPr sz="1350" b="1">
                <a:solidFill>
                  <a:srgbClr val="E8F0EF"/>
                </a:solidFill>
                <a:latin typeface="Arial"/>
              </a:rPr>
              <a:t>takes in · answers · live updates</a:t>
            </a:r>
          </a:p>
        </p:txBody>
      </p:sp>
      <p:sp>
        <p:nvSpPr>
          <p:cNvPr id="25" name="Rounded Rectangle 24">
            <a:extLst>
              <a:ext uri="{FF2B5EF4-FFF2-40B4-BE49-F238E27FC236}">
                <a16:creationId xmlns:a16="http://schemas.microsoft.com/office/drawing/2014/main" id="{B3A68ADD-A2D5-4AA3-8187-0F2DFBF7B5AB}"/>
              </a:ext>
            </a:extLst>
          </p:cNvPr>
          <p:cNvSpPr>
            <a:spLocks noGrp="1"/>
          </p:cNvSpPr>
          <p:nvPr/>
        </p:nvSpPr>
        <p:spPr>
          <a:xfrm>
            <a:off x="2838450" y="2952750"/>
            <a:ext cx="1924050" cy="895350"/>
          </a:xfrm>
          <a:prstGeom prst="roundRect">
            <a:avLst>
              <a:gd name="adj" fmla="val 8511"/>
            </a:avLst>
          </a:prstGeom>
          <a:solidFill>
            <a:srgbClr val="152624"/>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EF2543CC-2C48-4E17-9EF7-DFCCFC5657EB}"/>
              </a:ext>
            </a:extLst>
          </p:cNvPr>
          <p:cNvSpPr>
            <a:spLocks noGrp="1"/>
          </p:cNvSpPr>
          <p:nvPr/>
        </p:nvSpPr>
        <p:spPr>
          <a:xfrm>
            <a:off x="2933700" y="3019425"/>
            <a:ext cx="1733550" cy="762000"/>
          </a:xfrm>
          <a:prstGeom prst="rect">
            <a:avLst/>
          </a:prstGeom>
          <a:noFill/>
          <a:ln w="0">
            <a:noFill/>
            <a:prstDash val="solid"/>
          </a:ln>
        </p:spPr>
        <p:txBody>
          <a:bodyPr wrap="square" lIns="0" tIns="0" rIns="0" bIns="0" anchor="ctr">
            <a:normAutofit/>
          </a:bodyPr>
          <a:lstStyle/>
          <a:p>
            <a:pPr algn="ctr">
              <a:defRPr sz="1425" b="1">
                <a:solidFill>
                  <a:srgbClr val="E8F0EF"/>
                </a:solidFill>
                <a:latin typeface="Arial"/>
                <a:ea typeface="Arial"/>
                <a:cs typeface="Arial"/>
              </a:defRPr>
            </a:pPr>
            <a:r>
              <a:rPr sz="1425" b="1">
                <a:solidFill>
                  <a:srgbClr val="E8F0EF"/>
                </a:solidFill>
                <a:latin typeface="Arial"/>
              </a:rPr>
              <a:t>Postgres</a:t>
            </a:r>
          </a:p>
          <a:p>
            <a:pPr algn="ctr"/>
            <a:r>
              <a:rPr sz="1425" b="1">
                <a:solidFill>
                  <a:srgbClr val="E8F0EF"/>
                </a:solidFill>
                <a:latin typeface="Arial"/>
              </a:rPr>
              <a:t>the record of truth</a:t>
            </a:r>
          </a:p>
        </p:txBody>
      </p:sp>
      <p:sp>
        <p:nvSpPr>
          <p:cNvPr id="27" name="Rounded Rectangle 26">
            <a:extLst>
              <a:ext uri="{FF2B5EF4-FFF2-40B4-BE49-F238E27FC236}">
                <a16:creationId xmlns:a16="http://schemas.microsoft.com/office/drawing/2014/main" id="{B746B101-38C2-4B79-931B-80952F330667}"/>
              </a:ext>
            </a:extLst>
          </p:cNvPr>
          <p:cNvSpPr>
            <a:spLocks noGrp="1"/>
          </p:cNvSpPr>
          <p:nvPr/>
        </p:nvSpPr>
        <p:spPr>
          <a:xfrm>
            <a:off x="2838450" y="4095750"/>
            <a:ext cx="1924050" cy="781050"/>
          </a:xfrm>
          <a:prstGeom prst="roundRect">
            <a:avLst>
              <a:gd name="adj" fmla="val 975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89879902-B588-4C2E-B779-0CD4E1F3A265}"/>
              </a:ext>
            </a:extLst>
          </p:cNvPr>
          <p:cNvSpPr>
            <a:spLocks noGrp="1"/>
          </p:cNvSpPr>
          <p:nvPr/>
        </p:nvSpPr>
        <p:spPr>
          <a:xfrm>
            <a:off x="2933700" y="4162425"/>
            <a:ext cx="1733550" cy="6477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Worker</a:t>
            </a:r>
          </a:p>
          <a:p>
            <a:pPr algn="ctr"/>
            <a:r>
              <a:rPr sz="1350" b="1">
                <a:solidFill>
                  <a:srgbClr val="E8F0EF"/>
                </a:solidFill>
                <a:latin typeface="Arial"/>
              </a:rPr>
              <a:t>restartable steps</a:t>
            </a:r>
          </a:p>
        </p:txBody>
      </p:sp>
      <p:sp>
        <p:nvSpPr>
          <p:cNvPr id="29" name="Rounded Rectangle 28">
            <a:extLst>
              <a:ext uri="{FF2B5EF4-FFF2-40B4-BE49-F238E27FC236}">
                <a16:creationId xmlns:a16="http://schemas.microsoft.com/office/drawing/2014/main" id="{E6C942DB-E786-43AF-80C9-D43E5747D6DB}"/>
              </a:ext>
            </a:extLst>
          </p:cNvPr>
          <p:cNvSpPr>
            <a:spLocks noGrp="1"/>
          </p:cNvSpPr>
          <p:nvPr/>
        </p:nvSpPr>
        <p:spPr>
          <a:xfrm>
            <a:off x="5486400" y="1924050"/>
            <a:ext cx="2324100" cy="647700"/>
          </a:xfrm>
          <a:prstGeom prst="roundRect">
            <a:avLst>
              <a:gd name="adj" fmla="val 11765"/>
            </a:avLst>
          </a:prstGeom>
          <a:solidFill>
            <a:srgbClr val="111D22"/>
          </a:solidFill>
          <a:ln w="9525">
            <a:solidFill>
              <a:srgbClr val="8AA0A4"/>
            </a:solidFill>
            <a:prstDash val="solid"/>
          </a:ln>
        </p:spPr>
        <p:txBody>
          <a:bodyPr/>
          <a:lstStyle/>
          <a:p>
            <a:endParaRPr lang="en-US"/>
          </a:p>
        </p:txBody>
      </p:sp>
      <p:sp>
        <p:nvSpPr>
          <p:cNvPr id="30" name="Rectangle 29">
            <a:extLst>
              <a:ext uri="{FF2B5EF4-FFF2-40B4-BE49-F238E27FC236}">
                <a16:creationId xmlns:a16="http://schemas.microsoft.com/office/drawing/2014/main" id="{87ECFA9B-2AFD-49FB-9A15-3BB4305E5F09}"/>
              </a:ext>
            </a:extLst>
          </p:cNvPr>
          <p:cNvSpPr>
            <a:spLocks noGrp="1"/>
          </p:cNvSpPr>
          <p:nvPr/>
        </p:nvSpPr>
        <p:spPr>
          <a:xfrm>
            <a:off x="5581650" y="1990725"/>
            <a:ext cx="2133600" cy="5143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originals, stored once</a:t>
            </a:r>
          </a:p>
        </p:txBody>
      </p:sp>
      <p:sp>
        <p:nvSpPr>
          <p:cNvPr id="31" name="Rounded Rectangle 30">
            <a:extLst>
              <a:ext uri="{FF2B5EF4-FFF2-40B4-BE49-F238E27FC236}">
                <a16:creationId xmlns:a16="http://schemas.microsoft.com/office/drawing/2014/main" id="{E21BD4E9-160A-473C-A53C-56171EFA3A43}"/>
              </a:ext>
            </a:extLst>
          </p:cNvPr>
          <p:cNvSpPr>
            <a:spLocks noGrp="1"/>
          </p:cNvSpPr>
          <p:nvPr/>
        </p:nvSpPr>
        <p:spPr>
          <a:xfrm>
            <a:off x="5486400" y="2762250"/>
            <a:ext cx="2324100" cy="742950"/>
          </a:xfrm>
          <a:prstGeom prst="roundRect">
            <a:avLst>
              <a:gd name="adj" fmla="val 10256"/>
            </a:avLst>
          </a:prstGeom>
          <a:solidFill>
            <a:srgbClr val="111D22"/>
          </a:solidFill>
          <a:ln w="9525">
            <a:solidFill>
              <a:srgbClr val="8AA0A4"/>
            </a:solidFill>
            <a:prstDash val="solid"/>
          </a:ln>
        </p:spPr>
        <p:txBody>
          <a:bodyPr/>
          <a:lstStyle/>
          <a:p>
            <a:endParaRPr lang="en-US"/>
          </a:p>
        </p:txBody>
      </p:sp>
      <p:sp>
        <p:nvSpPr>
          <p:cNvPr id="32" name="Rectangle 31">
            <a:extLst>
              <a:ext uri="{FF2B5EF4-FFF2-40B4-BE49-F238E27FC236}">
                <a16:creationId xmlns:a16="http://schemas.microsoft.com/office/drawing/2014/main" id="{4CADFF4F-4495-4424-82EC-820FA5D7F1F7}"/>
              </a:ext>
            </a:extLst>
          </p:cNvPr>
          <p:cNvSpPr>
            <a:spLocks noGrp="1"/>
          </p:cNvSpPr>
          <p:nvPr/>
        </p:nvSpPr>
        <p:spPr>
          <a:xfrm>
            <a:off x="5581650" y="2828925"/>
            <a:ext cx="2133600" cy="60960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files it makes</a:t>
            </a:r>
          </a:p>
          <a:p>
            <a:pPr algn="ctr"/>
            <a:r>
              <a:rPr sz="1275" b="1">
                <a:solidFill>
                  <a:srgbClr val="E8F0EF"/>
                </a:solidFill>
                <a:latin typeface="Arial"/>
              </a:rPr>
              <a:t>frames · screenshots</a:t>
            </a:r>
          </a:p>
        </p:txBody>
      </p:sp>
      <p:sp>
        <p:nvSpPr>
          <p:cNvPr id="33" name="Rounded Rectangle 32">
            <a:extLst>
              <a:ext uri="{FF2B5EF4-FFF2-40B4-BE49-F238E27FC236}">
                <a16:creationId xmlns:a16="http://schemas.microsoft.com/office/drawing/2014/main" id="{0F123C5E-145F-4B53-9EA3-16297334AEDF}"/>
              </a:ext>
            </a:extLst>
          </p:cNvPr>
          <p:cNvSpPr>
            <a:spLocks noGrp="1"/>
          </p:cNvSpPr>
          <p:nvPr/>
        </p:nvSpPr>
        <p:spPr>
          <a:xfrm>
            <a:off x="5486400" y="3905250"/>
            <a:ext cx="232410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4" name="Rectangle 33">
            <a:extLst>
              <a:ext uri="{FF2B5EF4-FFF2-40B4-BE49-F238E27FC236}">
                <a16:creationId xmlns:a16="http://schemas.microsoft.com/office/drawing/2014/main" id="{EEBDED1C-4576-4E4C-8C3C-E794E480F3E5}"/>
              </a:ext>
            </a:extLst>
          </p:cNvPr>
          <p:cNvSpPr>
            <a:spLocks noGrp="1"/>
          </p:cNvSpPr>
          <p:nvPr/>
        </p:nvSpPr>
        <p:spPr>
          <a:xfrm>
            <a:off x="5581650" y="3971925"/>
            <a:ext cx="213360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swappable AI slots</a:t>
            </a:r>
          </a:p>
          <a:p>
            <a:pPr algn="ctr"/>
            <a:r>
              <a:rPr sz="1275" b="1">
                <a:solidFill>
                  <a:srgbClr val="E8F0EF"/>
                </a:solidFill>
                <a:latin typeface="Arial"/>
              </a:rPr>
              <a:t>read text · hear speech · write · match meaning</a:t>
            </a:r>
          </a:p>
        </p:txBody>
      </p:sp>
      <p:sp>
        <p:nvSpPr>
          <p:cNvPr id="35" name="Rounded Rectangle 34">
            <a:extLst>
              <a:ext uri="{FF2B5EF4-FFF2-40B4-BE49-F238E27FC236}">
                <a16:creationId xmlns:a16="http://schemas.microsoft.com/office/drawing/2014/main" id="{94E38B27-302F-49D1-8D93-06BAD61E45E5}"/>
              </a:ext>
            </a:extLst>
          </p:cNvPr>
          <p:cNvSpPr>
            <a:spLocks noGrp="1"/>
          </p:cNvSpPr>
          <p:nvPr/>
        </p:nvSpPr>
        <p:spPr>
          <a:xfrm>
            <a:off x="8420100" y="2400300"/>
            <a:ext cx="1809750" cy="819150"/>
          </a:xfrm>
          <a:prstGeom prst="roundRect">
            <a:avLst>
              <a:gd name="adj" fmla="val 9302"/>
            </a:avLst>
          </a:prstGeom>
          <a:solidFill>
            <a:srgbClr val="111D22"/>
          </a:solidFill>
          <a:ln w="14288">
            <a:solidFill>
              <a:srgbClr val="3B82A6"/>
            </a:solidFill>
            <a:prstDash val="solid"/>
          </a:ln>
        </p:spPr>
        <p:txBody>
          <a:bodyPr/>
          <a:lstStyle/>
          <a:p>
            <a:endParaRPr lang="en-US"/>
          </a:p>
        </p:txBody>
      </p:sp>
      <p:sp>
        <p:nvSpPr>
          <p:cNvPr id="36" name="Rectangle 35">
            <a:extLst>
              <a:ext uri="{FF2B5EF4-FFF2-40B4-BE49-F238E27FC236}">
                <a16:creationId xmlns:a16="http://schemas.microsoft.com/office/drawing/2014/main" id="{A3302456-2312-48D2-854D-5D524ED81E45}"/>
              </a:ext>
            </a:extLst>
          </p:cNvPr>
          <p:cNvSpPr>
            <a:spLocks noGrp="1"/>
          </p:cNvSpPr>
          <p:nvPr/>
        </p:nvSpPr>
        <p:spPr>
          <a:xfrm>
            <a:off x="8515350" y="2466975"/>
            <a:ext cx="1619250" cy="68580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Neo4j</a:t>
            </a:r>
          </a:p>
          <a:p>
            <a:pPr algn="ctr"/>
            <a:r>
              <a:rPr sz="1350" b="1">
                <a:solidFill>
                  <a:srgbClr val="E8F0EF"/>
                </a:solidFill>
                <a:latin typeface="Arial"/>
              </a:rPr>
              <a:t>graph copy</a:t>
            </a:r>
          </a:p>
        </p:txBody>
      </p:sp>
      <p:sp>
        <p:nvSpPr>
          <p:cNvPr id="37" name="Rounded Rectangle 36">
            <a:extLst>
              <a:ext uri="{FF2B5EF4-FFF2-40B4-BE49-F238E27FC236}">
                <a16:creationId xmlns:a16="http://schemas.microsoft.com/office/drawing/2014/main" id="{FF8E2C88-C701-42F4-8E66-C2A4F14BC8F3}"/>
              </a:ext>
            </a:extLst>
          </p:cNvPr>
          <p:cNvSpPr>
            <a:spLocks noGrp="1"/>
          </p:cNvSpPr>
          <p:nvPr/>
        </p:nvSpPr>
        <p:spPr>
          <a:xfrm>
            <a:off x="8420100" y="3562350"/>
            <a:ext cx="1809750" cy="876300"/>
          </a:xfrm>
          <a:prstGeom prst="roundRect">
            <a:avLst>
              <a:gd name="adj" fmla="val 8696"/>
            </a:avLst>
          </a:prstGeom>
          <a:solidFill>
            <a:srgbClr val="111D22"/>
          </a:solidFill>
          <a:ln w="14288">
            <a:solidFill>
              <a:srgbClr val="A88BFF"/>
            </a:solidFill>
            <a:prstDash val="solid"/>
          </a:ln>
        </p:spPr>
        <p:txBody>
          <a:bodyPr/>
          <a:lstStyle/>
          <a:p>
            <a:endParaRPr lang="en-US"/>
          </a:p>
        </p:txBody>
      </p:sp>
      <p:sp>
        <p:nvSpPr>
          <p:cNvPr id="38" name="Rectangle 37">
            <a:extLst>
              <a:ext uri="{FF2B5EF4-FFF2-40B4-BE49-F238E27FC236}">
                <a16:creationId xmlns:a16="http://schemas.microsoft.com/office/drawing/2014/main" id="{63DC48F5-FC8E-4738-BF98-7E96D1865CB4}"/>
              </a:ext>
            </a:extLst>
          </p:cNvPr>
          <p:cNvSpPr>
            <a:spLocks noGrp="1"/>
          </p:cNvSpPr>
          <p:nvPr/>
        </p:nvSpPr>
        <p:spPr>
          <a:xfrm>
            <a:off x="8515350" y="3629025"/>
            <a:ext cx="1619250" cy="7429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Meilisearch</a:t>
            </a:r>
          </a:p>
          <a:p>
            <a:pPr algn="ctr"/>
            <a:r>
              <a:rPr sz="1275" b="1">
                <a:solidFill>
                  <a:srgbClr val="E8F0EF"/>
                </a:solidFill>
                <a:latin typeface="Arial"/>
              </a:rPr>
              <a:t>search copy: words + meaning</a:t>
            </a:r>
          </a:p>
        </p:txBody>
      </p:sp>
      <p:sp>
        <p:nvSpPr>
          <p:cNvPr id="39" name="Rounded Rectangle 38">
            <a:extLst>
              <a:ext uri="{FF2B5EF4-FFF2-40B4-BE49-F238E27FC236}">
                <a16:creationId xmlns:a16="http://schemas.microsoft.com/office/drawing/2014/main" id="{0E90BC63-2FAF-421E-8036-0D102D7D5C93}"/>
              </a:ext>
            </a:extLst>
          </p:cNvPr>
          <p:cNvSpPr>
            <a:spLocks noGrp="1"/>
          </p:cNvSpPr>
          <p:nvPr/>
        </p:nvSpPr>
        <p:spPr>
          <a:xfrm>
            <a:off x="10648950" y="2933700"/>
            <a:ext cx="1066800" cy="914400"/>
          </a:xfrm>
          <a:prstGeom prst="roundRect">
            <a:avLst>
              <a:gd name="adj" fmla="val 8333"/>
            </a:avLst>
          </a:prstGeom>
          <a:solidFill>
            <a:srgbClr val="111D22"/>
          </a:solidFill>
          <a:ln w="14288">
            <a:solidFill>
              <a:srgbClr val="47C6B7"/>
            </a:solidFill>
            <a:prstDash val="solid"/>
          </a:ln>
        </p:spPr>
        <p:txBody>
          <a:bodyPr/>
          <a:lstStyle/>
          <a:p>
            <a:endParaRPr lang="en-US"/>
          </a:p>
        </p:txBody>
      </p:sp>
      <p:sp>
        <p:nvSpPr>
          <p:cNvPr id="40" name="Rectangle 39">
            <a:extLst>
              <a:ext uri="{FF2B5EF4-FFF2-40B4-BE49-F238E27FC236}">
                <a16:creationId xmlns:a16="http://schemas.microsoft.com/office/drawing/2014/main" id="{B14AC0B2-1E82-4673-B563-721F38A6EC30}"/>
              </a:ext>
            </a:extLst>
          </p:cNvPr>
          <p:cNvSpPr>
            <a:spLocks noGrp="1"/>
          </p:cNvSpPr>
          <p:nvPr/>
        </p:nvSpPr>
        <p:spPr>
          <a:xfrm>
            <a:off x="10744200" y="3000375"/>
            <a:ext cx="876300" cy="781050"/>
          </a:xfrm>
          <a:prstGeom prst="rect">
            <a:avLst/>
          </a:prstGeom>
          <a:noFill/>
          <a:ln w="0">
            <a:noFill/>
            <a:prstDash val="solid"/>
          </a:ln>
        </p:spPr>
        <p:txBody>
          <a:bodyPr wrap="square" lIns="0" tIns="0" rIns="0" bIns="0" anchor="ctr">
            <a:normAutofit/>
          </a:bodyPr>
          <a:lstStyle/>
          <a:p>
            <a:pPr algn="ctr">
              <a:defRPr sz="1275" b="1">
                <a:solidFill>
                  <a:srgbClr val="E8F0EF"/>
                </a:solidFill>
                <a:latin typeface="Arial"/>
                <a:ea typeface="Arial"/>
                <a:cs typeface="Arial"/>
              </a:defRPr>
            </a:pPr>
            <a:r>
              <a:rPr sz="1275" b="1">
                <a:solidFill>
                  <a:srgbClr val="E8F0EF"/>
                </a:solidFill>
                <a:latin typeface="Arial"/>
              </a:rPr>
              <a:t>React</a:t>
            </a:r>
          </a:p>
          <a:p>
            <a:pPr algn="ctr"/>
            <a:r>
              <a:rPr sz="1275" b="1">
                <a:solidFill>
                  <a:srgbClr val="E8F0EF"/>
                </a:solidFill>
                <a:latin typeface="Arial"/>
              </a:rPr>
              <a:t>the web app</a:t>
            </a:r>
          </a:p>
        </p:txBody>
      </p:sp>
      <p:sp>
        <p:nvSpPr>
          <p:cNvPr id="41" name="Rectangle 40">
            <a:extLst>
              <a:ext uri="{FF2B5EF4-FFF2-40B4-BE49-F238E27FC236}">
                <a16:creationId xmlns:a16="http://schemas.microsoft.com/office/drawing/2014/main" id="{071B0262-1149-4AD7-B07F-597ADBA0D8D5}"/>
              </a:ext>
            </a:extLst>
          </p:cNvPr>
          <p:cNvSpPr>
            <a:spLocks noGrp="1"/>
          </p:cNvSpPr>
          <p:nvPr/>
        </p:nvSpPr>
        <p:spPr>
          <a:xfrm>
            <a:off x="1885950" y="5353050"/>
            <a:ext cx="8420100" cy="361950"/>
          </a:xfrm>
          <a:prstGeom prst="rect">
            <a:avLst/>
          </a:prstGeom>
          <a:noFill/>
          <a:ln w="0">
            <a:noFill/>
            <a:prstDash val="solid"/>
          </a:ln>
        </p:spPr>
        <p:txBody>
          <a:bodyPr wrap="square" lIns="0" tIns="0" rIns="0" bIns="0" anchor="t">
            <a:normAutofit/>
          </a:bodyPr>
          <a:lstStyle/>
          <a:p>
            <a:pPr algn="ctr">
              <a:defRPr sz="1650" b="1">
                <a:solidFill>
                  <a:srgbClr val="47C6B7"/>
                </a:solidFill>
                <a:latin typeface="Arial"/>
                <a:ea typeface="Arial"/>
                <a:cs typeface="Arial"/>
              </a:defRPr>
            </a:pPr>
            <a:r>
              <a:rPr sz="1650" b="1">
                <a:solidFill>
                  <a:srgbClr val="47C6B7"/>
                </a:solidFill>
                <a:latin typeface="Arial"/>
              </a:rPr>
              <a:t>Only Postgres is the truth. The search and graph copies can be deleted and rebuilt.</a:t>
            </a:r>
          </a:p>
        </p:txBody>
      </p:sp>
      <p:sp>
        <p:nvSpPr>
          <p:cNvPr id="42" name="Rectangle 41">
            <a:extLst>
              <a:ext uri="{FF2B5EF4-FFF2-40B4-BE49-F238E27FC236}">
                <a16:creationId xmlns:a16="http://schemas.microsoft.com/office/drawing/2014/main" id="{EA66E18A-8BB6-444F-994E-96D67758F904}"/>
              </a:ext>
            </a:extLst>
          </p:cNvPr>
          <p:cNvSpPr>
            <a:spLocks noGrp="1"/>
          </p:cNvSpPr>
          <p:nvPr/>
        </p:nvSpPr>
        <p:spPr>
          <a:xfrm>
            <a:off x="1447800" y="5791200"/>
            <a:ext cx="9296400" cy="266700"/>
          </a:xfrm>
          <a:prstGeom prst="rect">
            <a:avLst/>
          </a:prstGeom>
          <a:noFill/>
          <a:ln w="0">
            <a:noFill/>
            <a:prstDash val="solid"/>
          </a:ln>
        </p:spPr>
        <p:txBody>
          <a:bodyPr wrap="square" lIns="0" tIns="0" rIns="0" bIns="0" anchor="t">
            <a:normAutofit/>
          </a:bodyPr>
          <a:lstStyle/>
          <a:p>
            <a:pPr algn="ctr">
              <a:defRPr sz="1275" b="0">
                <a:solidFill>
                  <a:srgbClr val="E8F0EF"/>
                </a:solidFill>
                <a:latin typeface="Arial"/>
                <a:ea typeface="Arial"/>
                <a:cs typeface="Arial"/>
              </a:defRPr>
            </a:pPr>
            <a:r>
              <a:rPr sz="1275" b="0">
                <a:solidFill>
                  <a:srgbClr val="E8F0EF"/>
                </a:solidFill>
                <a:latin typeface="Arial"/>
              </a:rPr>
              <a:t>The worker runs on the Mac because two of the AI models only run there; the three stores run in Docker.</a:t>
            </a:r>
          </a:p>
        </p:txBody>
      </p:sp>
    </p:spTree>
    <p:extLst>
      <p:ext uri="{BB962C8B-B14F-4D97-AF65-F5344CB8AC3E}">
        <p14:creationId xmlns:p14="http://schemas.microsoft.com/office/powerpoint/2010/main" val="950159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43" name="Rectangle 42">
            <a:extLst>
              <a:ext uri="{FF2B5EF4-FFF2-40B4-BE49-F238E27FC236}">
                <a16:creationId xmlns:a16="http://schemas.microsoft.com/office/drawing/2014/main" id="{7F3CBF93-89B0-4BA2-B9CB-80BFDF1CC8BA}"/>
              </a:ext>
            </a:extLst>
          </p:cNvPr>
          <p:cNvSpPr>
            <a:spLocks noGrp="1"/>
          </p:cNvSpPr>
          <p:nvPr/>
        </p:nvSpPr>
        <p:spPr>
          <a:xfrm>
            <a:off x="0" y="0"/>
            <a:ext cx="12192000" cy="66675"/>
          </a:xfrm>
          <a:prstGeom prst="rect">
            <a:avLst/>
          </a:prstGeom>
          <a:solidFill>
            <a:srgbClr val="47C6B7"/>
          </a:solidFill>
          <a:ln w="0">
            <a:noFill/>
            <a:prstDash val="solid"/>
          </a:ln>
        </p:spPr>
        <p:txBody>
          <a:bodyPr/>
          <a:lstStyle/>
          <a:p>
            <a:endParaRPr lang="en-US"/>
          </a:p>
        </p:txBody>
      </p:sp>
      <p:sp>
        <p:nvSpPr>
          <p:cNvPr id="2" name="section-11">
            <a:extLst>
              <a:ext uri="{FF2B5EF4-FFF2-40B4-BE49-F238E27FC236}">
                <a16:creationId xmlns:a16="http://schemas.microsoft.com/office/drawing/2014/main" id="{3813EC49-2425-4783-B015-030EA10122D1}"/>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ea typeface="Arial"/>
                <a:cs typeface="Arial"/>
              </a:rPr>
              <a:t>QUESTION SEQUENCE</a:t>
            </a:r>
          </a:p>
        </p:txBody>
      </p:sp>
      <p:sp>
        <p:nvSpPr>
          <p:cNvPr id="3" name="Rectangle 2">
            <a:extLst>
              <a:ext uri="{FF2B5EF4-FFF2-40B4-BE49-F238E27FC236}">
                <a16:creationId xmlns:a16="http://schemas.microsoft.com/office/drawing/2014/main" id="{2C7D0049-1627-435F-8BB4-5F3D503B0268}"/>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05</a:t>
            </a:r>
          </a:p>
        </p:txBody>
      </p:sp>
      <p:sp>
        <p:nvSpPr>
          <p:cNvPr id="4" name="Rectangle 3">
            <a:extLst>
              <a:ext uri="{FF2B5EF4-FFF2-40B4-BE49-F238E27FC236}">
                <a16:creationId xmlns:a16="http://schemas.microsoft.com/office/drawing/2014/main" id="{077DC614-6A07-4A44-A94A-8ADB5A6B2B91}"/>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9B2E8598-489D-4712-85A4-B25BDE29AD7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rPr>
              <a:t>The computer decides what to fetch. The model only writes the words.</a:t>
            </a:r>
          </a:p>
        </p:txBody>
      </p:sp>
      <p:sp>
        <p:nvSpPr>
          <p:cNvPr id="6" name="Rectangle 5">
            <a:extLst>
              <a:ext uri="{FF2B5EF4-FFF2-40B4-BE49-F238E27FC236}">
                <a16:creationId xmlns:a16="http://schemas.microsoft.com/office/drawing/2014/main" id="{B05B5D11-477D-46A4-9133-5F549AB71DC6}"/>
              </a:ext>
            </a:extLst>
          </p:cNvPr>
          <p:cNvSpPr>
            <a:spLocks noGrp="1"/>
          </p:cNvSpPr>
          <p:nvPr/>
        </p:nvSpPr>
        <p:spPr>
          <a:xfrm>
            <a:off x="952500" y="2114550"/>
            <a:ext cx="28575" cy="3790950"/>
          </a:xfrm>
          <a:prstGeom prst="rect">
            <a:avLst/>
          </a:prstGeom>
          <a:solidFill>
            <a:srgbClr val="31444A"/>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14ACF2-20E8-41FE-A738-9C31C6C8B0F0}"/>
              </a:ext>
            </a:extLst>
          </p:cNvPr>
          <p:cNvSpPr>
            <a:spLocks noGrp="1"/>
          </p:cNvSpPr>
          <p:nvPr/>
        </p:nvSpPr>
        <p:spPr>
          <a:xfrm>
            <a:off x="2762250" y="2114550"/>
            <a:ext cx="28575" cy="3790950"/>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07B51BDC-9A0C-4E17-B801-13BD5B9C9E00}"/>
              </a:ext>
            </a:extLst>
          </p:cNvPr>
          <p:cNvSpPr>
            <a:spLocks noGrp="1"/>
          </p:cNvSpPr>
          <p:nvPr/>
        </p:nvSpPr>
        <p:spPr>
          <a:xfrm>
            <a:off x="4572000" y="2114550"/>
            <a:ext cx="28575" cy="37909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4B530504-E2B2-46F1-9405-28A133C3F8D0}"/>
              </a:ext>
            </a:extLst>
          </p:cNvPr>
          <p:cNvSpPr>
            <a:spLocks noGrp="1"/>
          </p:cNvSpPr>
          <p:nvPr/>
        </p:nvSpPr>
        <p:spPr>
          <a:xfrm>
            <a:off x="6381750" y="2114550"/>
            <a:ext cx="28575" cy="37909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BFF99E44-60AA-4C80-85C5-7FDE2230ACA1}"/>
              </a:ext>
            </a:extLst>
          </p:cNvPr>
          <p:cNvSpPr>
            <a:spLocks noGrp="1"/>
          </p:cNvSpPr>
          <p:nvPr/>
        </p:nvSpPr>
        <p:spPr>
          <a:xfrm>
            <a:off x="8191500" y="2114550"/>
            <a:ext cx="28575" cy="3790950"/>
          </a:xfrm>
          <a:prstGeom prst="rect">
            <a:avLst/>
          </a:prstGeom>
          <a:solidFill>
            <a:srgbClr val="31444A"/>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04829B1-63FC-4366-83D2-674812DC83D5}"/>
              </a:ext>
            </a:extLst>
          </p:cNvPr>
          <p:cNvSpPr>
            <a:spLocks noGrp="1"/>
          </p:cNvSpPr>
          <p:nvPr/>
        </p:nvSpPr>
        <p:spPr>
          <a:xfrm>
            <a:off x="10001250" y="2114550"/>
            <a:ext cx="28575" cy="3790950"/>
          </a:xfrm>
          <a:prstGeom prst="rect">
            <a:avLst/>
          </a:prstGeom>
          <a:solidFill>
            <a:srgbClr val="31444A"/>
          </a:solidFill>
          <a:ln w="0">
            <a:noFill/>
            <a:prstDash val="solid"/>
          </a:ln>
        </p:spPr>
        <p:txBody>
          <a:bodyPr/>
          <a:lstStyle/>
          <a:p>
            <a:endParaRPr lang="en-US"/>
          </a:p>
        </p:txBody>
      </p:sp>
      <p:sp>
        <p:nvSpPr>
          <p:cNvPr id="12" name="Right Arrow 11">
            <a:extLst>
              <a:ext uri="{FF2B5EF4-FFF2-40B4-BE49-F238E27FC236}">
                <a16:creationId xmlns:a16="http://schemas.microsoft.com/office/drawing/2014/main" id="{2A169967-D097-4C8C-939D-DACC4FD59828}"/>
              </a:ext>
            </a:extLst>
          </p:cNvPr>
          <p:cNvSpPr>
            <a:spLocks noGrp="1"/>
          </p:cNvSpPr>
          <p:nvPr/>
        </p:nvSpPr>
        <p:spPr>
          <a:xfrm>
            <a:off x="952500" y="2647950"/>
            <a:ext cx="1809750" cy="104775"/>
          </a:xfrm>
          <a:prstGeom prst="rightArrow">
            <a:avLst/>
          </a:prstGeom>
          <a:solidFill>
            <a:srgbClr val="8AA0A4"/>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26C8A88A-A459-45F9-B233-65B1DBF42FC1}"/>
              </a:ext>
            </a:extLst>
          </p:cNvPr>
          <p:cNvSpPr>
            <a:spLocks noGrp="1"/>
          </p:cNvSpPr>
          <p:nvPr/>
        </p:nvSpPr>
        <p:spPr>
          <a:xfrm>
            <a:off x="952500" y="24193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your question</a:t>
            </a:r>
          </a:p>
        </p:txBody>
      </p:sp>
      <p:sp>
        <p:nvSpPr>
          <p:cNvPr id="14" name="Right Arrow 13">
            <a:extLst>
              <a:ext uri="{FF2B5EF4-FFF2-40B4-BE49-F238E27FC236}">
                <a16:creationId xmlns:a16="http://schemas.microsoft.com/office/drawing/2014/main" id="{B31404DB-5884-4A03-974A-1A0C19981A55}"/>
              </a:ext>
            </a:extLst>
          </p:cNvPr>
          <p:cNvSpPr>
            <a:spLocks noGrp="1"/>
          </p:cNvSpPr>
          <p:nvPr/>
        </p:nvSpPr>
        <p:spPr>
          <a:xfrm>
            <a:off x="2762250" y="3143250"/>
            <a:ext cx="1809750" cy="104775"/>
          </a:xfrm>
          <a:prstGeom prst="rightArrow">
            <a:avLst/>
          </a:prstGeom>
          <a:solidFill>
            <a:srgbClr val="8AA0A4"/>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8F3B72F5-FE68-4D42-99AF-CAB982B5754D}"/>
              </a:ext>
            </a:extLst>
          </p:cNvPr>
          <p:cNvSpPr>
            <a:spLocks noGrp="1"/>
          </p:cNvSpPr>
          <p:nvPr/>
        </p:nvSpPr>
        <p:spPr>
          <a:xfrm>
            <a:off x="2762250" y="2914650"/>
            <a:ext cx="1809750" cy="190500"/>
          </a:xfrm>
          <a:prstGeom prst="rect">
            <a:avLst/>
          </a:prstGeom>
          <a:noFill/>
          <a:ln w="0">
            <a:noFill/>
            <a:prstDash val="solid"/>
          </a:ln>
        </p:spPr>
        <p:txBody>
          <a:bodyPr wrap="square" lIns="0" tIns="0" rIns="0" bIns="0" anchor="t">
            <a:normAutofit fontScale="91735"/>
          </a:bodyPr>
          <a:lstStyle/>
          <a:p>
            <a:pPr algn="ctr">
              <a:defRPr sz="975" b="0">
                <a:solidFill>
                  <a:srgbClr val="E8F0EF"/>
                </a:solidFill>
                <a:latin typeface="Arial"/>
                <a:ea typeface="Arial"/>
                <a:cs typeface="Arial"/>
              </a:defRPr>
            </a:pPr>
            <a:r>
              <a:rPr sz="975" b="0">
                <a:solidFill>
                  <a:srgbClr val="E8F0EF"/>
                </a:solidFill>
                <a:latin typeface="Arial"/>
              </a:rPr>
              <a:t>pick a known query shape</a:t>
            </a:r>
          </a:p>
        </p:txBody>
      </p:sp>
      <p:sp>
        <p:nvSpPr>
          <p:cNvPr id="16" name="Right Arrow 15">
            <a:extLst>
              <a:ext uri="{FF2B5EF4-FFF2-40B4-BE49-F238E27FC236}">
                <a16:creationId xmlns:a16="http://schemas.microsoft.com/office/drawing/2014/main" id="{B57FFD09-9E5E-43E7-BBE7-57B94EC2EB60}"/>
              </a:ext>
            </a:extLst>
          </p:cNvPr>
          <p:cNvSpPr>
            <a:spLocks noGrp="1"/>
          </p:cNvSpPr>
          <p:nvPr/>
        </p:nvSpPr>
        <p:spPr>
          <a:xfrm>
            <a:off x="2762250" y="3543300"/>
            <a:ext cx="3619500" cy="104775"/>
          </a:xfrm>
          <a:prstGeom prst="rightArrow">
            <a:avLst/>
          </a:prstGeom>
          <a:solidFill>
            <a:srgbClr val="8AA0A4"/>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F292DA21-AD43-43BB-B30E-FC0222C82EF7}"/>
              </a:ext>
            </a:extLst>
          </p:cNvPr>
          <p:cNvSpPr>
            <a:spLocks noGrp="1"/>
          </p:cNvSpPr>
          <p:nvPr/>
        </p:nvSpPr>
        <p:spPr>
          <a:xfrm>
            <a:off x="2762250" y="33147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search by words + meaning</a:t>
            </a:r>
          </a:p>
        </p:txBody>
      </p:sp>
      <p:sp>
        <p:nvSpPr>
          <p:cNvPr id="18" name="Left Arrow 17">
            <a:extLst>
              <a:ext uri="{FF2B5EF4-FFF2-40B4-BE49-F238E27FC236}">
                <a16:creationId xmlns:a16="http://schemas.microsoft.com/office/drawing/2014/main" id="{97C2986C-7497-471F-B977-D678F9B9729C}"/>
              </a:ext>
            </a:extLst>
          </p:cNvPr>
          <p:cNvSpPr>
            <a:spLocks noGrp="1"/>
          </p:cNvSpPr>
          <p:nvPr/>
        </p:nvSpPr>
        <p:spPr>
          <a:xfrm>
            <a:off x="2762250" y="3943350"/>
            <a:ext cx="1809750" cy="104775"/>
          </a:xfrm>
          <a:prstGeom prst="leftArrow">
            <a:avLst/>
          </a:prstGeom>
          <a:solidFill>
            <a:srgbClr val="8AA0A4"/>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B63653BC-C89B-4216-AFD5-DFCA90E0DA24}"/>
              </a:ext>
            </a:extLst>
          </p:cNvPr>
          <p:cNvSpPr>
            <a:spLocks noGrp="1"/>
          </p:cNvSpPr>
          <p:nvPr/>
        </p:nvSpPr>
        <p:spPr>
          <a:xfrm>
            <a:off x="2762250" y="3714750"/>
            <a:ext cx="18097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connected moments</a:t>
            </a:r>
          </a:p>
        </p:txBody>
      </p:sp>
      <p:sp>
        <p:nvSpPr>
          <p:cNvPr id="20" name="Left Arrow 19">
            <a:extLst>
              <a:ext uri="{FF2B5EF4-FFF2-40B4-BE49-F238E27FC236}">
                <a16:creationId xmlns:a16="http://schemas.microsoft.com/office/drawing/2014/main" id="{10847267-3488-4DD1-875A-7385D9CBA561}"/>
              </a:ext>
            </a:extLst>
          </p:cNvPr>
          <p:cNvSpPr>
            <a:spLocks noGrp="1"/>
          </p:cNvSpPr>
          <p:nvPr/>
        </p:nvSpPr>
        <p:spPr>
          <a:xfrm>
            <a:off x="2762250" y="4343400"/>
            <a:ext cx="3619500" cy="104775"/>
          </a:xfrm>
          <a:prstGeom prst="leftArrow">
            <a:avLst/>
          </a:prstGeom>
          <a:solidFill>
            <a:srgbClr val="8AA0A4"/>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71653BAF-B515-4908-A0BB-BC4032D43B5A}"/>
              </a:ext>
            </a:extLst>
          </p:cNvPr>
          <p:cNvSpPr>
            <a:spLocks noGrp="1"/>
          </p:cNvSpPr>
          <p:nvPr/>
        </p:nvSpPr>
        <p:spPr>
          <a:xfrm>
            <a:off x="2762250" y="4114800"/>
            <a:ext cx="36195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best-matching moments</a:t>
            </a:r>
          </a:p>
        </p:txBody>
      </p:sp>
      <p:sp>
        <p:nvSpPr>
          <p:cNvPr id="22" name="Right Arrow 21">
            <a:extLst>
              <a:ext uri="{FF2B5EF4-FFF2-40B4-BE49-F238E27FC236}">
                <a16:creationId xmlns:a16="http://schemas.microsoft.com/office/drawing/2014/main" id="{ED64BA29-9C4E-4C03-9300-F7E6E6F899E6}"/>
              </a:ext>
            </a:extLst>
          </p:cNvPr>
          <p:cNvSpPr>
            <a:spLocks noGrp="1"/>
          </p:cNvSpPr>
          <p:nvPr/>
        </p:nvSpPr>
        <p:spPr>
          <a:xfrm>
            <a:off x="2762250" y="4743450"/>
            <a:ext cx="5429250" cy="104775"/>
          </a:xfrm>
          <a:prstGeom prst="rightArrow">
            <a:avLst/>
          </a:prstGeom>
          <a:solidFill>
            <a:srgbClr val="8AA0A4"/>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44E1064C-9C75-4F83-BF49-C651D7238A6C}"/>
              </a:ext>
            </a:extLst>
          </p:cNvPr>
          <p:cNvSpPr>
            <a:spLocks noGrp="1"/>
          </p:cNvSpPr>
          <p:nvPr/>
        </p:nvSpPr>
        <p:spPr>
          <a:xfrm>
            <a:off x="2762250" y="451485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write an answer using only these</a:t>
            </a:r>
          </a:p>
        </p:txBody>
      </p:sp>
      <p:sp>
        <p:nvSpPr>
          <p:cNvPr id="24" name="Left Arrow 23">
            <a:extLst>
              <a:ext uri="{FF2B5EF4-FFF2-40B4-BE49-F238E27FC236}">
                <a16:creationId xmlns:a16="http://schemas.microsoft.com/office/drawing/2014/main" id="{A65C1C81-C7E1-4117-9818-7F7881C23941}"/>
              </a:ext>
            </a:extLst>
          </p:cNvPr>
          <p:cNvSpPr>
            <a:spLocks noGrp="1"/>
          </p:cNvSpPr>
          <p:nvPr/>
        </p:nvSpPr>
        <p:spPr>
          <a:xfrm>
            <a:off x="2762250" y="5143500"/>
            <a:ext cx="5429250" cy="104775"/>
          </a:xfrm>
          <a:prstGeom prst="leftArrow">
            <a:avLst/>
          </a:prstGeom>
          <a:solidFill>
            <a:srgbClr val="8AA0A4"/>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1C7ADA98-BEFB-454B-9C20-4B3D8BE14C26}"/>
              </a:ext>
            </a:extLst>
          </p:cNvPr>
          <p:cNvSpPr>
            <a:spLocks noGrp="1"/>
          </p:cNvSpPr>
          <p:nvPr/>
        </p:nvSpPr>
        <p:spPr>
          <a:xfrm>
            <a:off x="2762250" y="4914900"/>
            <a:ext cx="542925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draft, with a marker on every claim</a:t>
            </a:r>
          </a:p>
        </p:txBody>
      </p:sp>
      <p:sp>
        <p:nvSpPr>
          <p:cNvPr id="26" name="Right Arrow 25">
            <a:extLst>
              <a:ext uri="{FF2B5EF4-FFF2-40B4-BE49-F238E27FC236}">
                <a16:creationId xmlns:a16="http://schemas.microsoft.com/office/drawing/2014/main" id="{0C5E5F40-B81B-4030-997F-22972029C18B}"/>
              </a:ext>
            </a:extLst>
          </p:cNvPr>
          <p:cNvSpPr>
            <a:spLocks noGrp="1"/>
          </p:cNvSpPr>
          <p:nvPr/>
        </p:nvSpPr>
        <p:spPr>
          <a:xfrm>
            <a:off x="2762250" y="5543550"/>
            <a:ext cx="7239000" cy="104775"/>
          </a:xfrm>
          <a:prstGeom prst="rightArrow">
            <a:avLst/>
          </a:prstGeom>
          <a:solidFill>
            <a:srgbClr val="47C6B7"/>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285387BB-D48C-4A18-96CE-A3F7171F7623}"/>
              </a:ext>
            </a:extLst>
          </p:cNvPr>
          <p:cNvSpPr>
            <a:spLocks noGrp="1"/>
          </p:cNvSpPr>
          <p:nvPr/>
        </p:nvSpPr>
        <p:spPr>
          <a:xfrm>
            <a:off x="2762250" y="5314950"/>
            <a:ext cx="7239000" cy="190500"/>
          </a:xfrm>
          <a:prstGeom prst="rect">
            <a:avLst/>
          </a:prstGeom>
          <a:noFill/>
          <a:ln w="0">
            <a:noFill/>
            <a:prstDash val="solid"/>
          </a:ln>
        </p:spPr>
        <p:txBody>
          <a:bodyPr wrap="square" lIns="0" tIns="0" rIns="0" bIns="0" anchor="t">
            <a:normAutofit/>
          </a:bodyPr>
          <a:lstStyle/>
          <a:p>
            <a:pPr algn="ctr">
              <a:defRPr sz="975" b="0">
                <a:solidFill>
                  <a:srgbClr val="E8F0EF"/>
                </a:solidFill>
                <a:latin typeface="Arial"/>
                <a:ea typeface="Arial"/>
                <a:cs typeface="Arial"/>
              </a:defRPr>
            </a:pPr>
            <a:r>
              <a:rPr sz="975" b="0">
                <a:solidFill>
                  <a:srgbClr val="E8F0EF"/>
                </a:solidFill>
                <a:latin typeface="Arial"/>
              </a:rPr>
              <a:t>check every marker points at a real moment</a:t>
            </a:r>
          </a:p>
        </p:txBody>
      </p:sp>
      <p:sp>
        <p:nvSpPr>
          <p:cNvPr id="28" name="Left Arrow 27">
            <a:extLst>
              <a:ext uri="{FF2B5EF4-FFF2-40B4-BE49-F238E27FC236}">
                <a16:creationId xmlns:a16="http://schemas.microsoft.com/office/drawing/2014/main" id="{CA34FB6B-28AE-4CB1-80A0-3C52A6B2236B}"/>
              </a:ext>
            </a:extLst>
          </p:cNvPr>
          <p:cNvSpPr>
            <a:spLocks noGrp="1"/>
          </p:cNvSpPr>
          <p:nvPr/>
        </p:nvSpPr>
        <p:spPr>
          <a:xfrm>
            <a:off x="952500" y="5905500"/>
            <a:ext cx="1809750" cy="104775"/>
          </a:xfrm>
          <a:prstGeom prst="leftArrow">
            <a:avLst/>
          </a:prstGeom>
          <a:solidFill>
            <a:srgbClr val="47C6B7"/>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98211898-C709-46F5-8D52-459AFA7060E4}"/>
              </a:ext>
            </a:extLst>
          </p:cNvPr>
          <p:cNvSpPr>
            <a:spLocks noGrp="1"/>
          </p:cNvSpPr>
          <p:nvPr/>
        </p:nvSpPr>
        <p:spPr>
          <a:xfrm>
            <a:off x="952500" y="5676900"/>
            <a:ext cx="1809750" cy="190500"/>
          </a:xfrm>
          <a:prstGeom prst="rect">
            <a:avLst/>
          </a:prstGeom>
          <a:noFill/>
          <a:ln w="0">
            <a:noFill/>
            <a:prstDash val="solid"/>
          </a:ln>
        </p:spPr>
        <p:txBody>
          <a:bodyPr wrap="square" lIns="0" tIns="0" rIns="0" bIns="0" anchor="t">
            <a:normAutofit fontScale="91627" lnSpcReduction="20000"/>
          </a:bodyPr>
          <a:lstStyle/>
          <a:p>
            <a:pPr algn="ctr">
              <a:defRPr sz="975" b="0">
                <a:solidFill>
                  <a:srgbClr val="E8F0EF"/>
                </a:solidFill>
                <a:latin typeface="Arial"/>
                <a:ea typeface="Arial"/>
                <a:cs typeface="Arial"/>
              </a:defRPr>
            </a:pPr>
            <a:r>
              <a:rPr sz="975" b="0">
                <a:solidFill>
                  <a:srgbClr val="E8F0EF"/>
                </a:solidFill>
                <a:latin typeface="Arial"/>
              </a:rPr>
              <a:t>all good → send the answer + its citations</a:t>
            </a:r>
          </a:p>
        </p:txBody>
      </p:sp>
      <p:sp>
        <p:nvSpPr>
          <p:cNvPr id="30" name="Rounded Rectangle 29">
            <a:extLst>
              <a:ext uri="{FF2B5EF4-FFF2-40B4-BE49-F238E27FC236}">
                <a16:creationId xmlns:a16="http://schemas.microsoft.com/office/drawing/2014/main" id="{262D28D6-AA30-4846-9B6B-87A5D93D48B8}"/>
              </a:ext>
            </a:extLst>
          </p:cNvPr>
          <p:cNvSpPr>
            <a:spLocks noGrp="1"/>
          </p:cNvSpPr>
          <p:nvPr/>
        </p:nvSpPr>
        <p:spPr>
          <a:xfrm>
            <a:off x="34290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1" name="Rectangle 30">
            <a:extLst>
              <a:ext uri="{FF2B5EF4-FFF2-40B4-BE49-F238E27FC236}">
                <a16:creationId xmlns:a16="http://schemas.microsoft.com/office/drawing/2014/main" id="{275C25B9-4ECC-4673-8FE0-B1C362DFA9D6}"/>
              </a:ext>
            </a:extLst>
          </p:cNvPr>
          <p:cNvSpPr>
            <a:spLocks noGrp="1"/>
          </p:cNvSpPr>
          <p:nvPr/>
        </p:nvSpPr>
        <p:spPr>
          <a:xfrm>
            <a:off x="438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User</a:t>
            </a:r>
          </a:p>
        </p:txBody>
      </p:sp>
      <p:sp>
        <p:nvSpPr>
          <p:cNvPr id="32" name="Rounded Rectangle 31">
            <a:extLst>
              <a:ext uri="{FF2B5EF4-FFF2-40B4-BE49-F238E27FC236}">
                <a16:creationId xmlns:a16="http://schemas.microsoft.com/office/drawing/2014/main" id="{573E29B3-B4BD-495A-AA01-B0A75D8385D6}"/>
              </a:ext>
            </a:extLst>
          </p:cNvPr>
          <p:cNvSpPr>
            <a:spLocks noGrp="1"/>
          </p:cNvSpPr>
          <p:nvPr/>
        </p:nvSpPr>
        <p:spPr>
          <a:xfrm>
            <a:off x="2152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33" name="Rectangle 32">
            <a:extLst>
              <a:ext uri="{FF2B5EF4-FFF2-40B4-BE49-F238E27FC236}">
                <a16:creationId xmlns:a16="http://schemas.microsoft.com/office/drawing/2014/main" id="{0BDF8646-86D1-4DAD-9730-4AB4707F4B4E}"/>
              </a:ext>
            </a:extLst>
          </p:cNvPr>
          <p:cNvSpPr>
            <a:spLocks noGrp="1"/>
          </p:cNvSpPr>
          <p:nvPr/>
        </p:nvSpPr>
        <p:spPr>
          <a:xfrm>
            <a:off x="2247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API</a:t>
            </a:r>
          </a:p>
        </p:txBody>
      </p:sp>
      <p:sp>
        <p:nvSpPr>
          <p:cNvPr id="34" name="Rounded Rectangle 33">
            <a:extLst>
              <a:ext uri="{FF2B5EF4-FFF2-40B4-BE49-F238E27FC236}">
                <a16:creationId xmlns:a16="http://schemas.microsoft.com/office/drawing/2014/main" id="{F13BDBC0-C6E8-4B16-A1FB-6816E4135039}"/>
              </a:ext>
            </a:extLst>
          </p:cNvPr>
          <p:cNvSpPr>
            <a:spLocks noGrp="1"/>
          </p:cNvSpPr>
          <p:nvPr/>
        </p:nvSpPr>
        <p:spPr>
          <a:xfrm>
            <a:off x="3962400" y="1619250"/>
            <a:ext cx="1219200" cy="495300"/>
          </a:xfrm>
          <a:prstGeom prst="roundRect">
            <a:avLst>
              <a:gd name="adj" fmla="val 15385"/>
            </a:avLst>
          </a:prstGeom>
          <a:solidFill>
            <a:srgbClr val="111D22"/>
          </a:solidFill>
          <a:ln w="14288">
            <a:solidFill>
              <a:srgbClr val="3B82A6"/>
            </a:solidFill>
            <a:prstDash val="solid"/>
          </a:ln>
        </p:spPr>
        <p:txBody>
          <a:bodyPr/>
          <a:lstStyle/>
          <a:p>
            <a:endParaRPr lang="en-US"/>
          </a:p>
        </p:txBody>
      </p:sp>
      <p:sp>
        <p:nvSpPr>
          <p:cNvPr id="35" name="Rectangle 34">
            <a:extLst>
              <a:ext uri="{FF2B5EF4-FFF2-40B4-BE49-F238E27FC236}">
                <a16:creationId xmlns:a16="http://schemas.microsoft.com/office/drawing/2014/main" id="{B543278D-21AD-48E5-9181-0D7AF3D189F0}"/>
              </a:ext>
            </a:extLst>
          </p:cNvPr>
          <p:cNvSpPr>
            <a:spLocks noGrp="1"/>
          </p:cNvSpPr>
          <p:nvPr/>
        </p:nvSpPr>
        <p:spPr>
          <a:xfrm>
            <a:off x="40576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Neo4j</a:t>
            </a:r>
          </a:p>
        </p:txBody>
      </p:sp>
      <p:sp>
        <p:nvSpPr>
          <p:cNvPr id="36" name="Rounded Rectangle 35">
            <a:extLst>
              <a:ext uri="{FF2B5EF4-FFF2-40B4-BE49-F238E27FC236}">
                <a16:creationId xmlns:a16="http://schemas.microsoft.com/office/drawing/2014/main" id="{04A4517C-019A-47A2-8FF5-C52FE7EE5FA5}"/>
              </a:ext>
            </a:extLst>
          </p:cNvPr>
          <p:cNvSpPr>
            <a:spLocks noGrp="1"/>
          </p:cNvSpPr>
          <p:nvPr/>
        </p:nvSpPr>
        <p:spPr>
          <a:xfrm>
            <a:off x="5715000" y="1619250"/>
            <a:ext cx="13335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7" name="Rectangle 36">
            <a:extLst>
              <a:ext uri="{FF2B5EF4-FFF2-40B4-BE49-F238E27FC236}">
                <a16:creationId xmlns:a16="http://schemas.microsoft.com/office/drawing/2014/main" id="{BC068248-8900-47E9-92F4-6214F77CEEB3}"/>
              </a:ext>
            </a:extLst>
          </p:cNvPr>
          <p:cNvSpPr>
            <a:spLocks noGrp="1"/>
          </p:cNvSpPr>
          <p:nvPr/>
        </p:nvSpPr>
        <p:spPr>
          <a:xfrm>
            <a:off x="5810250" y="1685925"/>
            <a:ext cx="11430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Meilisearch</a:t>
            </a:r>
          </a:p>
        </p:txBody>
      </p:sp>
      <p:sp>
        <p:nvSpPr>
          <p:cNvPr id="38" name="Rounded Rectangle 37">
            <a:extLst>
              <a:ext uri="{FF2B5EF4-FFF2-40B4-BE49-F238E27FC236}">
                <a16:creationId xmlns:a16="http://schemas.microsoft.com/office/drawing/2014/main" id="{AFCDC307-30C3-4626-8915-323625604F86}"/>
              </a:ext>
            </a:extLst>
          </p:cNvPr>
          <p:cNvSpPr>
            <a:spLocks noGrp="1"/>
          </p:cNvSpPr>
          <p:nvPr/>
        </p:nvSpPr>
        <p:spPr>
          <a:xfrm>
            <a:off x="7581900" y="1619250"/>
            <a:ext cx="1219200" cy="495300"/>
          </a:xfrm>
          <a:prstGeom prst="roundRect">
            <a:avLst>
              <a:gd name="adj" fmla="val 15385"/>
            </a:avLst>
          </a:prstGeom>
          <a:solidFill>
            <a:srgbClr val="111D22"/>
          </a:solidFill>
          <a:ln w="14288">
            <a:solidFill>
              <a:srgbClr val="A88BFF"/>
            </a:solidFill>
            <a:prstDash val="solid"/>
          </a:ln>
        </p:spPr>
        <p:txBody>
          <a:bodyPr/>
          <a:lstStyle/>
          <a:p>
            <a:endParaRPr lang="en-US"/>
          </a:p>
        </p:txBody>
      </p:sp>
      <p:sp>
        <p:nvSpPr>
          <p:cNvPr id="39" name="Rectangle 38">
            <a:extLst>
              <a:ext uri="{FF2B5EF4-FFF2-40B4-BE49-F238E27FC236}">
                <a16:creationId xmlns:a16="http://schemas.microsoft.com/office/drawing/2014/main" id="{96BD2BD1-7EDA-4622-AE62-3BB09C38CA72}"/>
              </a:ext>
            </a:extLst>
          </p:cNvPr>
          <p:cNvSpPr>
            <a:spLocks noGrp="1"/>
          </p:cNvSpPr>
          <p:nvPr/>
        </p:nvSpPr>
        <p:spPr>
          <a:xfrm>
            <a:off x="767715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LLM</a:t>
            </a:r>
          </a:p>
        </p:txBody>
      </p:sp>
      <p:sp>
        <p:nvSpPr>
          <p:cNvPr id="40" name="Rounded Rectangle 39">
            <a:extLst>
              <a:ext uri="{FF2B5EF4-FFF2-40B4-BE49-F238E27FC236}">
                <a16:creationId xmlns:a16="http://schemas.microsoft.com/office/drawing/2014/main" id="{222D1A59-FAA4-42E3-AD59-DDA0544073E0}"/>
              </a:ext>
            </a:extLst>
          </p:cNvPr>
          <p:cNvSpPr>
            <a:spLocks noGrp="1"/>
          </p:cNvSpPr>
          <p:nvPr/>
        </p:nvSpPr>
        <p:spPr>
          <a:xfrm>
            <a:off x="9391650" y="1619250"/>
            <a:ext cx="1219200" cy="495300"/>
          </a:xfrm>
          <a:prstGeom prst="roundRect">
            <a:avLst>
              <a:gd name="adj" fmla="val 15385"/>
            </a:avLst>
          </a:prstGeom>
          <a:solidFill>
            <a:srgbClr val="111D22"/>
          </a:solidFill>
          <a:ln w="14288">
            <a:solidFill>
              <a:srgbClr val="47C6B7"/>
            </a:solidFill>
            <a:prstDash val="solid"/>
          </a:ln>
        </p:spPr>
        <p:txBody>
          <a:bodyPr/>
          <a:lstStyle/>
          <a:p>
            <a:endParaRPr lang="en-US"/>
          </a:p>
        </p:txBody>
      </p:sp>
      <p:sp>
        <p:nvSpPr>
          <p:cNvPr id="41" name="Rectangle 40">
            <a:extLst>
              <a:ext uri="{FF2B5EF4-FFF2-40B4-BE49-F238E27FC236}">
                <a16:creationId xmlns:a16="http://schemas.microsoft.com/office/drawing/2014/main" id="{22692308-D768-47B2-847A-4D6B72C674CE}"/>
              </a:ext>
            </a:extLst>
          </p:cNvPr>
          <p:cNvSpPr>
            <a:spLocks noGrp="1"/>
          </p:cNvSpPr>
          <p:nvPr/>
        </p:nvSpPr>
        <p:spPr>
          <a:xfrm>
            <a:off x="9486900" y="1685925"/>
            <a:ext cx="1028700" cy="361950"/>
          </a:xfrm>
          <a:prstGeom prst="rect">
            <a:avLst/>
          </a:prstGeom>
          <a:noFill/>
          <a:ln w="0">
            <a:noFill/>
            <a:prstDash val="solid"/>
          </a:ln>
        </p:spPr>
        <p:txBody>
          <a:bodyPr wrap="square" lIns="0" tIns="0" rIns="0" bIns="0" anchor="ctr">
            <a:normAutofit/>
          </a:bodyPr>
          <a:lstStyle/>
          <a:p>
            <a:pPr algn="ctr">
              <a:defRPr sz="1200" b="1">
                <a:solidFill>
                  <a:srgbClr val="E8F0EF"/>
                </a:solidFill>
                <a:latin typeface="Arial"/>
                <a:ea typeface="Arial"/>
                <a:cs typeface="Arial"/>
              </a:defRPr>
            </a:pPr>
            <a:r>
              <a:rPr sz="1200" b="1">
                <a:solidFill>
                  <a:srgbClr val="E8F0EF"/>
                </a:solidFill>
                <a:latin typeface="Arial"/>
                <a:ea typeface="Arial"/>
                <a:cs typeface="Arial"/>
              </a:rPr>
              <a:t>Postgres</a:t>
            </a:r>
          </a:p>
        </p:txBody>
      </p:sp>
      <p:sp>
        <p:nvSpPr>
          <p:cNvPr id="42" name="Rectangle 41">
            <a:extLst>
              <a:ext uri="{FF2B5EF4-FFF2-40B4-BE49-F238E27FC236}">
                <a16:creationId xmlns:a16="http://schemas.microsoft.com/office/drawing/2014/main" id="{AF3C55C2-3D97-4E88-B19E-603943AAE517}"/>
              </a:ext>
            </a:extLst>
          </p:cNvPr>
          <p:cNvSpPr>
            <a:spLocks noGrp="1"/>
          </p:cNvSpPr>
          <p:nvPr/>
        </p:nvSpPr>
        <p:spPr>
          <a:xfrm>
            <a:off x="3333750" y="6076950"/>
            <a:ext cx="5524500" cy="171450"/>
          </a:xfrm>
          <a:prstGeom prst="rect">
            <a:avLst/>
          </a:prstGeom>
          <a:noFill/>
          <a:ln w="0">
            <a:noFill/>
            <a:prstDash val="solid"/>
          </a:ln>
        </p:spPr>
        <p:txBody>
          <a:bodyPr wrap="square" lIns="0" tIns="0" rIns="0" bIns="0" anchor="t">
            <a:normAutofit fontScale="93750"/>
          </a:bodyPr>
          <a:lstStyle/>
          <a:p>
            <a:pPr algn="ctr">
              <a:defRPr sz="1200" b="1">
                <a:solidFill>
                  <a:srgbClr val="F07178"/>
                </a:solidFill>
                <a:latin typeface="Arial"/>
                <a:ea typeface="Arial"/>
                <a:cs typeface="Arial"/>
              </a:defRPr>
            </a:pPr>
            <a:r>
              <a:rPr sz="1200" b="1">
                <a:solidFill>
                  <a:srgbClr val="F07178"/>
                </a:solidFill>
                <a:latin typeface="Arial"/>
              </a:rPr>
              <a:t>One bad marker and nothing is sent. No citation, no answer.</a:t>
            </a:r>
          </a:p>
        </p:txBody>
      </p:sp>
    </p:spTree>
    <p:extLst>
      <p:ext uri="{BB962C8B-B14F-4D97-AF65-F5344CB8AC3E}">
        <p14:creationId xmlns:p14="http://schemas.microsoft.com/office/powerpoint/2010/main" val="59793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4BB36DC-AA0B-4E71-9067-70ED1742613D}"/>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13">
            <a:extLst>
              <a:ext uri="{FF2B5EF4-FFF2-40B4-BE49-F238E27FC236}">
                <a16:creationId xmlns:a16="http://schemas.microsoft.com/office/drawing/2014/main" id="{43FDD582-55D4-4C87-97DB-C2FC1D94EC5D}"/>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WHAT CAME FORWARD</a:t>
            </a:r>
          </a:p>
        </p:txBody>
      </p:sp>
      <p:sp>
        <p:nvSpPr>
          <p:cNvPr id="3" name="Rectangle 2">
            <a:extLst>
              <a:ext uri="{FF2B5EF4-FFF2-40B4-BE49-F238E27FC236}">
                <a16:creationId xmlns:a16="http://schemas.microsoft.com/office/drawing/2014/main" id="{33DFEF4C-9CB2-458D-A057-6E994F1B33B4}"/>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06</a:t>
            </a:r>
          </a:p>
        </p:txBody>
      </p:sp>
      <p:sp>
        <p:nvSpPr>
          <p:cNvPr id="4" name="Rectangle 3">
            <a:extLst>
              <a:ext uri="{FF2B5EF4-FFF2-40B4-BE49-F238E27FC236}">
                <a16:creationId xmlns:a16="http://schemas.microsoft.com/office/drawing/2014/main" id="{AE8062E8-6DD7-47C4-9FFB-753090DD664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214D0317-D22B-41D1-A95C-451B6623CA0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rPr>
              <a:t>The quick version found the product. The careful version made it last.</a:t>
            </a:r>
          </a:p>
        </p:txBody>
      </p:sp>
      <p:sp>
        <p:nvSpPr>
          <p:cNvPr id="6" name="Right Arrow 5">
            <a:extLst>
              <a:ext uri="{FF2B5EF4-FFF2-40B4-BE49-F238E27FC236}">
                <a16:creationId xmlns:a16="http://schemas.microsoft.com/office/drawing/2014/main" id="{DA62FB13-EB24-4E5F-9273-6BE00DA829EC}"/>
              </a:ext>
            </a:extLst>
          </p:cNvPr>
          <p:cNvSpPr>
            <a:spLocks noGrp="1"/>
          </p:cNvSpPr>
          <p:nvPr/>
        </p:nvSpPr>
        <p:spPr>
          <a:xfrm>
            <a:off x="3981450" y="2981325"/>
            <a:ext cx="914400" cy="266700"/>
          </a:xfrm>
          <a:prstGeom prst="rightArrow">
            <a:avLst/>
          </a:prstGeom>
          <a:solidFill>
            <a:srgbClr val="31444A"/>
          </a:solidFill>
          <a:ln w="0">
            <a:noFill/>
            <a:prstDash val="solid"/>
          </a:ln>
        </p:spPr>
        <p:txBody>
          <a:bodyPr/>
          <a:lstStyle/>
          <a:p>
            <a:endParaRPr lang="en-US"/>
          </a:p>
        </p:txBody>
      </p:sp>
      <p:sp>
        <p:nvSpPr>
          <p:cNvPr id="7" name="Left Arrow 6">
            <a:extLst>
              <a:ext uri="{FF2B5EF4-FFF2-40B4-BE49-F238E27FC236}">
                <a16:creationId xmlns:a16="http://schemas.microsoft.com/office/drawing/2014/main" id="{260FB934-F3F8-4F88-818C-8F254DD4B3F0}"/>
              </a:ext>
            </a:extLst>
          </p:cNvPr>
          <p:cNvSpPr>
            <a:spLocks noGrp="1"/>
          </p:cNvSpPr>
          <p:nvPr/>
        </p:nvSpPr>
        <p:spPr>
          <a:xfrm>
            <a:off x="7315200" y="2981325"/>
            <a:ext cx="914400" cy="266700"/>
          </a:xfrm>
          <a:prstGeom prst="leftArrow">
            <a:avLst/>
          </a:prstGeom>
          <a:solidFill>
            <a:srgbClr val="31444A"/>
          </a:solidFill>
          <a:ln w="0">
            <a:noFill/>
            <a:prstDash val="solid"/>
          </a:ln>
        </p:spPr>
        <p:txBody>
          <a:bodyPr/>
          <a:lstStyle/>
          <a:p>
            <a:endParaRPr lang="en-US"/>
          </a:p>
        </p:txBody>
      </p:sp>
      <p:sp>
        <p:nvSpPr>
          <p:cNvPr id="8" name="Rounded Rectangle 7">
            <a:extLst>
              <a:ext uri="{FF2B5EF4-FFF2-40B4-BE49-F238E27FC236}">
                <a16:creationId xmlns:a16="http://schemas.microsoft.com/office/drawing/2014/main" id="{60D6495D-A497-4467-B681-BA50BE64F5F5}"/>
              </a:ext>
            </a:extLst>
          </p:cNvPr>
          <p:cNvSpPr>
            <a:spLocks noGrp="1"/>
          </p:cNvSpPr>
          <p:nvPr/>
        </p:nvSpPr>
        <p:spPr>
          <a:xfrm>
            <a:off x="685800" y="1809750"/>
            <a:ext cx="3295650" cy="2857500"/>
          </a:xfrm>
          <a:prstGeom prst="roundRect">
            <a:avLst>
              <a:gd name="adj" fmla="val 2667"/>
            </a:avLst>
          </a:prstGeom>
          <a:solidFill>
            <a:srgbClr val="111D22"/>
          </a:solidFill>
          <a:ln w="19050">
            <a:solidFill>
              <a:srgbClr val="F2A93B"/>
            </a:solidFill>
            <a:prstDash val="solid"/>
          </a:ln>
        </p:spPr>
        <p:txBody>
          <a:bodyPr/>
          <a:lstStyle/>
          <a:p>
            <a:endParaRPr lang="en-US"/>
          </a:p>
        </p:txBody>
      </p:sp>
      <p:sp>
        <p:nvSpPr>
          <p:cNvPr id="9" name="Rectangle 8">
            <a:extLst>
              <a:ext uri="{FF2B5EF4-FFF2-40B4-BE49-F238E27FC236}">
                <a16:creationId xmlns:a16="http://schemas.microsoft.com/office/drawing/2014/main" id="{32F9AAFC-8DA9-404A-9F4A-FD286AC49B3D}"/>
              </a:ext>
            </a:extLst>
          </p:cNvPr>
          <p:cNvSpPr>
            <a:spLocks noGrp="1"/>
          </p:cNvSpPr>
          <p:nvPr/>
        </p:nvSpPr>
        <p:spPr>
          <a:xfrm>
            <a:off x="1028700" y="2095500"/>
            <a:ext cx="238125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BROUGHT FORWARD</a:t>
            </a:r>
          </a:p>
        </p:txBody>
      </p:sp>
      <p:sp>
        <p:nvSpPr>
          <p:cNvPr id="10" name="Rectangle 9">
            <a:extLst>
              <a:ext uri="{FF2B5EF4-FFF2-40B4-BE49-F238E27FC236}">
                <a16:creationId xmlns:a16="http://schemas.microsoft.com/office/drawing/2014/main" id="{CFC677F5-99CE-402F-BC78-CDF4C62DBA62}"/>
              </a:ext>
            </a:extLst>
          </p:cNvPr>
          <p:cNvSpPr>
            <a:spLocks noGrp="1"/>
          </p:cNvSpPr>
          <p:nvPr/>
        </p:nvSpPr>
        <p:spPr>
          <a:xfrm>
            <a:off x="10287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rPr>
              <a:t>Ask, threads, timeline</a:t>
            </a:r>
          </a:p>
          <a:p>
            <a:pPr algn="l"/>
            <a:r>
              <a:rPr sz="1575" b="0">
                <a:solidFill>
                  <a:srgbClr val="E8F0EF"/>
                </a:solidFill>
                <a:latin typeface="Arial"/>
              </a:rPr>
              <a:t>Evidence first, prose second</a:t>
            </a:r>
          </a:p>
          <a:p>
            <a:pPr algn="l"/>
            <a:r>
              <a:rPr sz="1575" b="0">
                <a:solidFill>
                  <a:srgbClr val="E8F0EF"/>
                </a:solidFill>
                <a:latin typeface="Arial"/>
              </a:rPr>
              <a:t>Screenshot + replay at the exact second</a:t>
            </a:r>
          </a:p>
          <a:p>
            <a:pPr algn="l"/>
            <a:r>
              <a:rPr sz="1575" b="0">
                <a:solidFill>
                  <a:srgbClr val="E8F0EF"/>
                </a:solidFill>
                <a:latin typeface="Arial"/>
              </a:rPr>
              <a:t>Screens built around the question</a:t>
            </a:r>
          </a:p>
        </p:txBody>
      </p:sp>
      <p:sp>
        <p:nvSpPr>
          <p:cNvPr id="11" name="Rounded Rectangle 10">
            <a:extLst>
              <a:ext uri="{FF2B5EF4-FFF2-40B4-BE49-F238E27FC236}">
                <a16:creationId xmlns:a16="http://schemas.microsoft.com/office/drawing/2014/main" id="{F4EE87AE-2752-4FBC-BE00-398D6F9DE789}"/>
              </a:ext>
            </a:extLst>
          </p:cNvPr>
          <p:cNvSpPr>
            <a:spLocks noGrp="1"/>
          </p:cNvSpPr>
          <p:nvPr/>
        </p:nvSpPr>
        <p:spPr>
          <a:xfrm>
            <a:off x="4895850" y="1638300"/>
            <a:ext cx="2419350" cy="3200400"/>
          </a:xfrm>
          <a:prstGeom prst="roundRect">
            <a:avLst>
              <a:gd name="adj" fmla="val 3150"/>
            </a:avLst>
          </a:prstGeom>
          <a:solidFill>
            <a:srgbClr val="1B2521"/>
          </a:solidFill>
          <a:ln w="28575">
            <a:solidFill>
              <a:srgbClr val="D8F36A"/>
            </a:solidFill>
            <a:prstDash val="solid"/>
          </a:ln>
        </p:spPr>
        <p:txBody>
          <a:bodyPr/>
          <a:lstStyle/>
          <a:p>
            <a:endParaRPr lang="en-US"/>
          </a:p>
        </p:txBody>
      </p:sp>
      <p:sp>
        <p:nvSpPr>
          <p:cNvPr id="12" name="Rectangle 11">
            <a:extLst>
              <a:ext uri="{FF2B5EF4-FFF2-40B4-BE49-F238E27FC236}">
                <a16:creationId xmlns:a16="http://schemas.microsoft.com/office/drawing/2014/main" id="{2E584836-B540-4D1D-B2C4-BBE80651832F}"/>
              </a:ext>
            </a:extLst>
          </p:cNvPr>
          <p:cNvSpPr>
            <a:spLocks noGrp="1"/>
          </p:cNvSpPr>
          <p:nvPr/>
        </p:nvSpPr>
        <p:spPr>
          <a:xfrm>
            <a:off x="5276850" y="2038350"/>
            <a:ext cx="1657350" cy="247650"/>
          </a:xfrm>
          <a:prstGeom prst="rect">
            <a:avLst/>
          </a:prstGeom>
          <a:noFill/>
          <a:ln w="0">
            <a:noFill/>
            <a:prstDash val="solid"/>
          </a:ln>
        </p:spPr>
        <p:txBody>
          <a:bodyPr wrap="square" lIns="0" tIns="0" rIns="0" bIns="0" anchor="t">
            <a:normAutofit/>
          </a:bodyPr>
          <a:lstStyle/>
          <a:p>
            <a:pPr algn="ctr">
              <a:defRPr sz="1050" b="1">
                <a:solidFill>
                  <a:srgbClr val="D8F36A"/>
                </a:solidFill>
                <a:latin typeface="Arial"/>
                <a:ea typeface="Arial"/>
                <a:cs typeface="Arial"/>
              </a:defRPr>
            </a:pPr>
            <a:r>
              <a:rPr sz="1050" b="1">
                <a:solidFill>
                  <a:srgbClr val="D8F36A"/>
                </a:solidFill>
                <a:latin typeface="Arial"/>
                <a:ea typeface="Arial"/>
                <a:cs typeface="Arial"/>
              </a:rPr>
              <a:t>THE REAL</a:t>
            </a:r>
          </a:p>
          <a:p>
            <a:pPr algn="ctr">
              <a:defRPr sz="1050" b="1">
                <a:solidFill>
                  <a:srgbClr val="D8F36A"/>
                </a:solidFill>
                <a:latin typeface="Arial"/>
                <a:ea typeface="Arial"/>
                <a:cs typeface="Arial"/>
              </a:defRPr>
            </a:pPr>
            <a:r>
              <a:rPr sz="1050" b="1">
                <a:solidFill>
                  <a:srgbClr val="D8F36A"/>
                </a:solidFill>
                <a:latin typeface="Arial"/>
                <a:ea typeface="Arial"/>
                <a:cs typeface="Arial"/>
              </a:rPr>
              <a:t>ARCHITECTURE</a:t>
            </a:r>
          </a:p>
        </p:txBody>
      </p:sp>
      <p:sp>
        <p:nvSpPr>
          <p:cNvPr id="13" name="Rectangle 12">
            <a:extLst>
              <a:ext uri="{FF2B5EF4-FFF2-40B4-BE49-F238E27FC236}">
                <a16:creationId xmlns:a16="http://schemas.microsoft.com/office/drawing/2014/main" id="{6A5A2ABC-423E-4D9B-9BAF-E87BC5210C00}"/>
              </a:ext>
            </a:extLst>
          </p:cNvPr>
          <p:cNvSpPr>
            <a:spLocks noGrp="1"/>
          </p:cNvSpPr>
          <p:nvPr/>
        </p:nvSpPr>
        <p:spPr>
          <a:xfrm>
            <a:off x="5181600" y="2667000"/>
            <a:ext cx="1847850" cy="1028700"/>
          </a:xfrm>
          <a:prstGeom prst="rect">
            <a:avLst/>
          </a:prstGeom>
          <a:noFill/>
          <a:ln w="0">
            <a:noFill/>
            <a:prstDash val="solid"/>
          </a:ln>
        </p:spPr>
        <p:txBody>
          <a:bodyPr wrap="square" lIns="0" tIns="0" rIns="0" bIns="0" anchor="t">
            <a:normAutofit fontScale="96195"/>
          </a:bodyPr>
          <a:lstStyle/>
          <a:p>
            <a:pPr algn="ctr">
              <a:defRPr sz="2325" b="1">
                <a:solidFill>
                  <a:srgbClr val="E8F0EF"/>
                </a:solidFill>
                <a:latin typeface="Arial"/>
                <a:ea typeface="Arial"/>
                <a:cs typeface="Arial"/>
              </a:defRPr>
            </a:pPr>
            <a:r>
              <a:rPr sz="2325" b="1">
                <a:solidFill>
                  <a:srgbClr val="E8F0EF"/>
                </a:solidFill>
                <a:latin typeface="Arial"/>
                <a:ea typeface="Arial"/>
                <a:cs typeface="Arial"/>
              </a:rPr>
              <a:t>A trustworthy</a:t>
            </a:r>
          </a:p>
          <a:p>
            <a:pPr algn="ctr">
              <a:defRPr sz="2325" b="1">
                <a:solidFill>
                  <a:srgbClr val="E8F0EF"/>
                </a:solidFill>
                <a:latin typeface="Arial"/>
                <a:ea typeface="Arial"/>
                <a:cs typeface="Arial"/>
              </a:defRPr>
            </a:pPr>
            <a:r>
              <a:rPr sz="2325" b="1">
                <a:solidFill>
                  <a:srgbClr val="E8F0EF"/>
                </a:solidFill>
                <a:latin typeface="Arial"/>
                <a:ea typeface="Arial"/>
                <a:cs typeface="Arial"/>
              </a:rPr>
              <a:t>evidence product</a:t>
            </a:r>
          </a:p>
        </p:txBody>
      </p:sp>
      <p:sp>
        <p:nvSpPr>
          <p:cNvPr id="14" name="Rectangle 13">
            <a:extLst>
              <a:ext uri="{FF2B5EF4-FFF2-40B4-BE49-F238E27FC236}">
                <a16:creationId xmlns:a16="http://schemas.microsoft.com/office/drawing/2014/main" id="{BD41556D-A023-41BA-8AB6-FC1A1B940BE1}"/>
              </a:ext>
            </a:extLst>
          </p:cNvPr>
          <p:cNvSpPr>
            <a:spLocks noGrp="1"/>
          </p:cNvSpPr>
          <p:nvPr/>
        </p:nvSpPr>
        <p:spPr>
          <a:xfrm>
            <a:off x="5276850" y="3962400"/>
            <a:ext cx="1657350" cy="533400"/>
          </a:xfrm>
          <a:prstGeom prst="rect">
            <a:avLst/>
          </a:prstGeom>
          <a:noFill/>
          <a:ln w="0">
            <a:noFill/>
            <a:prstDash val="solid"/>
          </a:ln>
        </p:spPr>
        <p:txBody>
          <a:bodyPr wrap="square" lIns="0" tIns="0" rIns="0" bIns="0" anchor="t">
            <a:normAutofit/>
          </a:bodyPr>
          <a:lstStyle/>
          <a:p>
            <a:pPr algn="ctr">
              <a:defRPr sz="1350" b="0">
                <a:solidFill>
                  <a:srgbClr val="8AA0A4"/>
                </a:solidFill>
                <a:latin typeface="Arial"/>
                <a:ea typeface="Arial"/>
                <a:cs typeface="Arial"/>
              </a:defRPr>
            </a:pPr>
            <a:r>
              <a:rPr sz="1350" b="0">
                <a:solidFill>
                  <a:srgbClr val="8AA0A4"/>
                </a:solidFill>
                <a:latin typeface="Arial"/>
                <a:ea typeface="Arial"/>
                <a:cs typeface="Arial"/>
              </a:rPr>
              <a:t>delightful to use</a:t>
            </a:r>
          </a:p>
          <a:p>
            <a:pPr algn="ctr">
              <a:defRPr sz="1350" b="0">
                <a:solidFill>
                  <a:srgbClr val="8AA0A4"/>
                </a:solidFill>
                <a:latin typeface="Arial"/>
                <a:ea typeface="Arial"/>
                <a:cs typeface="Arial"/>
              </a:defRPr>
            </a:pPr>
            <a:r>
              <a:rPr sz="1350" b="0">
                <a:solidFill>
                  <a:srgbClr val="8AA0A4"/>
                </a:solidFill>
                <a:latin typeface="Arial"/>
                <a:ea typeface="Arial"/>
                <a:cs typeface="Arial"/>
              </a:rPr>
              <a:t>and safe to evolve</a:t>
            </a:r>
          </a:p>
        </p:txBody>
      </p:sp>
      <p:sp>
        <p:nvSpPr>
          <p:cNvPr id="15" name="Rounded Rectangle 14">
            <a:extLst>
              <a:ext uri="{FF2B5EF4-FFF2-40B4-BE49-F238E27FC236}">
                <a16:creationId xmlns:a16="http://schemas.microsoft.com/office/drawing/2014/main" id="{39965976-81FA-466F-B481-C21B9EFE7537}"/>
              </a:ext>
            </a:extLst>
          </p:cNvPr>
          <p:cNvSpPr>
            <a:spLocks noGrp="1"/>
          </p:cNvSpPr>
          <p:nvPr/>
        </p:nvSpPr>
        <p:spPr>
          <a:xfrm>
            <a:off x="8229600" y="1809750"/>
            <a:ext cx="3276600" cy="2857500"/>
          </a:xfrm>
          <a:prstGeom prst="roundRect">
            <a:avLst>
              <a:gd name="adj" fmla="val 2667"/>
            </a:avLst>
          </a:prstGeom>
          <a:solidFill>
            <a:srgbClr val="111D22"/>
          </a:solidFill>
          <a:ln w="19050">
            <a:solidFill>
              <a:srgbClr val="47C6B7"/>
            </a:solidFill>
            <a:prstDash val="solid"/>
          </a:ln>
        </p:spPr>
        <p:txBody>
          <a:bodyPr/>
          <a:lstStyle/>
          <a:p>
            <a:endParaRPr lang="en-US"/>
          </a:p>
        </p:txBody>
      </p:sp>
      <p:sp>
        <p:nvSpPr>
          <p:cNvPr id="16" name="Rectangle 15">
            <a:extLst>
              <a:ext uri="{FF2B5EF4-FFF2-40B4-BE49-F238E27FC236}">
                <a16:creationId xmlns:a16="http://schemas.microsoft.com/office/drawing/2014/main" id="{36FFB655-E65E-4F80-AE3B-30C37F8BABD2}"/>
              </a:ext>
            </a:extLst>
          </p:cNvPr>
          <p:cNvSpPr>
            <a:spLocks noGrp="1"/>
          </p:cNvSpPr>
          <p:nvPr/>
        </p:nvSpPr>
        <p:spPr>
          <a:xfrm>
            <a:off x="8572500" y="2095500"/>
            <a:ext cx="238125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rPr>
              <a:t>THE FOUNDATION IT LANDED ON</a:t>
            </a:r>
          </a:p>
        </p:txBody>
      </p:sp>
      <p:sp>
        <p:nvSpPr>
          <p:cNvPr id="17" name="Rectangle 16">
            <a:extLst>
              <a:ext uri="{FF2B5EF4-FFF2-40B4-BE49-F238E27FC236}">
                <a16:creationId xmlns:a16="http://schemas.microsoft.com/office/drawing/2014/main" id="{FA23CD68-FCC3-4F99-BBE2-C08CE1F7FE81}"/>
              </a:ext>
            </a:extLst>
          </p:cNvPr>
          <p:cNvSpPr>
            <a:spLocks noGrp="1"/>
          </p:cNvSpPr>
          <p:nvPr/>
        </p:nvSpPr>
        <p:spPr>
          <a:xfrm>
            <a:off x="8572500" y="2533650"/>
            <a:ext cx="2571750" cy="1657350"/>
          </a:xfrm>
          <a:prstGeom prst="rect">
            <a:avLst/>
          </a:prstGeom>
          <a:noFill/>
          <a:ln w="0">
            <a:noFill/>
            <a:prstDash val="solid"/>
          </a:ln>
        </p:spPr>
        <p:txBody>
          <a:bodyPr wrap="square" lIns="0" tIns="0" rIns="0" bIns="0" anchor="t">
            <a:normAutofit/>
          </a:bodyPr>
          <a:lstStyle/>
          <a:p>
            <a:pPr algn="l">
              <a:defRPr sz="1575" b="0">
                <a:solidFill>
                  <a:srgbClr val="E8F0EF"/>
                </a:solidFill>
                <a:latin typeface="Arial"/>
                <a:ea typeface="Arial"/>
                <a:cs typeface="Arial"/>
              </a:defRPr>
            </a:pPr>
            <a:r>
              <a:rPr sz="1575" b="0">
                <a:solidFill>
                  <a:srgbClr val="E8F0EF"/>
                </a:solidFill>
                <a:latin typeface="Arial"/>
              </a:rPr>
              <a:t>One record of truth</a:t>
            </a:r>
          </a:p>
          <a:p>
            <a:pPr algn="l"/>
            <a:r>
              <a:rPr sz="1575" b="0">
                <a:solidFill>
                  <a:srgbClr val="E8F0EF"/>
                </a:solidFill>
                <a:latin typeface="Arial"/>
              </a:rPr>
              <a:t>Jobs that survive a crash</a:t>
            </a:r>
          </a:p>
          <a:p>
            <a:pPr algn="l"/>
            <a:r>
              <a:rPr sz="1575" b="0">
                <a:solidFill>
                  <a:srgbClr val="E8F0EF"/>
                </a:solidFill>
                <a:latin typeface="Arial"/>
              </a:rPr>
              <a:t>One generated API contract</a:t>
            </a:r>
          </a:p>
          <a:p>
            <a:pPr algn="l"/>
            <a:r>
              <a:rPr sz="1575" b="0">
                <a:solidFill>
                  <a:srgbClr val="E8F0EF"/>
                </a:solidFill>
                <a:latin typeface="Arial"/>
              </a:rPr>
              <a:t>Tests, and swappable models</a:t>
            </a:r>
          </a:p>
        </p:txBody>
      </p:sp>
      <p:sp>
        <p:nvSpPr>
          <p:cNvPr id="18" name="Rectangle 17">
            <a:extLst>
              <a:ext uri="{FF2B5EF4-FFF2-40B4-BE49-F238E27FC236}">
                <a16:creationId xmlns:a16="http://schemas.microsoft.com/office/drawing/2014/main" id="{B1987D38-8A8A-4190-AD27-529ABC556BCE}"/>
              </a:ext>
            </a:extLst>
          </p:cNvPr>
          <p:cNvSpPr>
            <a:spLocks noGrp="1"/>
          </p:cNvSpPr>
          <p:nvPr/>
        </p:nvSpPr>
        <p:spPr>
          <a:xfrm>
            <a:off x="1962150" y="5276850"/>
            <a:ext cx="8267700" cy="628650"/>
          </a:xfrm>
          <a:prstGeom prst="rect">
            <a:avLst/>
          </a:prstGeom>
          <a:noFill/>
          <a:ln w="0">
            <a:noFill/>
            <a:prstDash val="solid"/>
          </a:ln>
        </p:spPr>
        <p:txBody>
          <a:bodyPr wrap="square" lIns="0" tIns="0" rIns="0" bIns="0" anchor="t">
            <a:normAutofit/>
          </a:bodyPr>
          <a:lstStyle/>
          <a:p>
            <a:pPr algn="ctr">
              <a:defRPr sz="1575" b="1">
                <a:solidFill>
                  <a:srgbClr val="E8F0EF"/>
                </a:solidFill>
                <a:latin typeface="Arial"/>
                <a:ea typeface="Arial"/>
                <a:cs typeface="Arial"/>
              </a:defRPr>
            </a:pPr>
            <a:r>
              <a:rPr sz="1575" b="1">
                <a:solidFill>
                  <a:srgbClr val="E8F0EF"/>
                </a:solidFill>
                <a:latin typeface="Arial"/>
              </a:rPr>
              <a:t>Before adding more: test whether Postgres alone can do the search, instead of running a separate search engine.</a:t>
            </a:r>
          </a:p>
        </p:txBody>
      </p:sp>
    </p:spTree>
    <p:extLst>
      <p:ext uri="{BB962C8B-B14F-4D97-AF65-F5344CB8AC3E}">
        <p14:creationId xmlns:p14="http://schemas.microsoft.com/office/powerpoint/2010/main" val="1580531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2680525-1CB6-47F5-A7DD-3260D89F6A9D}"/>
              </a:ext>
            </a:extLst>
          </p:cNvPr>
          <p:cNvSpPr>
            <a:spLocks noGrp="1"/>
          </p:cNvSpPr>
          <p:nvPr/>
        </p:nvSpPr>
        <p:spPr>
          <a:xfrm>
            <a:off x="0" y="0"/>
            <a:ext cx="12192000" cy="85725"/>
          </a:xfrm>
          <a:prstGeom prst="rect">
            <a:avLst/>
          </a:prstGeom>
          <a:solidFill>
            <a:srgbClr val="47C6B7"/>
          </a:solidFill>
          <a:ln w="0">
            <a:noFill/>
            <a:prstDash val="solid"/>
          </a:ln>
        </p:spPr>
        <p:txBody>
          <a:bodyPr/>
          <a:lstStyle/>
          <a:p>
            <a:endParaRPr lang="en-US"/>
          </a:p>
        </p:txBody>
      </p:sp>
      <p:sp>
        <p:nvSpPr>
          <p:cNvPr id="2" name="demo-title">
            <a:extLst>
              <a:ext uri="{FF2B5EF4-FFF2-40B4-BE49-F238E27FC236}">
                <a16:creationId xmlns:a16="http://schemas.microsoft.com/office/drawing/2014/main" id="{BFC15130-9DF6-4EF2-B60B-9864BA878565}"/>
              </a:ext>
            </a:extLst>
          </p:cNvPr>
          <p:cNvSpPr>
            <a:spLocks noGrp="1"/>
          </p:cNvSpPr>
          <p:nvPr/>
        </p:nvSpPr>
        <p:spPr>
          <a:xfrm>
            <a:off x="685800" y="552450"/>
            <a:ext cx="5334000" cy="1257300"/>
          </a:xfrm>
          <a:prstGeom prst="rect">
            <a:avLst/>
          </a:prstGeom>
          <a:noFill/>
          <a:ln w="0">
            <a:noFill/>
            <a:prstDash val="solid"/>
          </a:ln>
        </p:spPr>
        <p:txBody>
          <a:bodyPr wrap="square" lIns="0" tIns="0" rIns="0" bIns="0" anchor="t">
            <a:normAutofit/>
          </a:bodyPr>
          <a:lstStyle/>
          <a:p>
            <a:pPr algn="l">
              <a:defRPr sz="7800" b="1">
                <a:solidFill>
                  <a:srgbClr val="E8F0EF"/>
                </a:solidFill>
                <a:latin typeface="Arial"/>
                <a:ea typeface="Arial"/>
                <a:cs typeface="Arial"/>
              </a:defRPr>
            </a:pPr>
            <a:r>
              <a:rPr sz="7800" b="1">
                <a:solidFill>
                  <a:srgbClr val="E8F0EF"/>
                </a:solidFill>
                <a:latin typeface="Arial"/>
                <a:ea typeface="Arial"/>
                <a:cs typeface="Arial"/>
              </a:rPr>
              <a:t>DEMO</a:t>
            </a:r>
          </a:p>
        </p:txBody>
      </p:sp>
      <p:sp>
        <p:nvSpPr>
          <p:cNvPr id="3" name="Rectangle 2">
            <a:extLst>
              <a:ext uri="{FF2B5EF4-FFF2-40B4-BE49-F238E27FC236}">
                <a16:creationId xmlns:a16="http://schemas.microsoft.com/office/drawing/2014/main" id="{91910BF0-7DD6-41E5-997C-1AE962D93C01}"/>
              </a:ext>
            </a:extLst>
          </p:cNvPr>
          <p:cNvSpPr>
            <a:spLocks noGrp="1"/>
          </p:cNvSpPr>
          <p:nvPr/>
        </p:nvSpPr>
        <p:spPr>
          <a:xfrm>
            <a:off x="742950" y="1866900"/>
            <a:ext cx="8286750" cy="495300"/>
          </a:xfrm>
          <a:prstGeom prst="rect">
            <a:avLst/>
          </a:prstGeom>
          <a:noFill/>
          <a:ln w="0">
            <a:noFill/>
            <a:prstDash val="solid"/>
          </a:ln>
        </p:spPr>
        <p:txBody>
          <a:bodyPr wrap="square" lIns="0" tIns="0" rIns="0" bIns="0" anchor="t">
            <a:normAutofit/>
          </a:bodyPr>
          <a:lstStyle/>
          <a:p>
            <a:pPr algn="l">
              <a:defRPr sz="2250" b="1">
                <a:solidFill>
                  <a:srgbClr val="E8F0EF"/>
                </a:solidFill>
                <a:latin typeface="Arial"/>
                <a:ea typeface="Arial"/>
                <a:cs typeface="Arial"/>
              </a:defRPr>
            </a:pPr>
            <a:r>
              <a:rPr sz="2250" b="1">
                <a:solidFill>
                  <a:srgbClr val="E8F0EF"/>
                </a:solidFill>
                <a:latin typeface="Arial"/>
                <a:ea typeface="Arial"/>
                <a:cs typeface="Arial"/>
              </a:rPr>
              <a:t>One question. Follow the evidence to the moment.</a:t>
            </a:r>
          </a:p>
        </p:txBody>
      </p:sp>
      <p:sp>
        <p:nvSpPr>
          <p:cNvPr id="4" name="Rectangle 3">
            <a:extLst>
              <a:ext uri="{FF2B5EF4-FFF2-40B4-BE49-F238E27FC236}">
                <a16:creationId xmlns:a16="http://schemas.microsoft.com/office/drawing/2014/main" id="{03F7A3C1-03C5-4055-8757-44C1C28D22A6}"/>
              </a:ext>
            </a:extLst>
          </p:cNvPr>
          <p:cNvSpPr>
            <a:spLocks noGrp="1"/>
          </p:cNvSpPr>
          <p:nvPr/>
        </p:nvSpPr>
        <p:spPr>
          <a:xfrm>
            <a:off x="685800" y="2571750"/>
            <a:ext cx="10820400" cy="28575"/>
          </a:xfrm>
          <a:prstGeom prst="rect">
            <a:avLst/>
          </a:prstGeom>
          <a:solidFill>
            <a:srgbClr val="31444A"/>
          </a:solidFill>
          <a:ln w="0">
            <a:noFill/>
            <a:prstDash val="solid"/>
          </a:ln>
        </p:spPr>
        <p:txBody>
          <a:bodyPr/>
          <a:lstStyle/>
          <a:p>
            <a:endParaRPr lang="en-US"/>
          </a:p>
        </p:txBody>
      </p:sp>
      <p:sp>
        <p:nvSpPr>
          <p:cNvPr id="5" name="Rectangle 4">
            <a:extLst>
              <a:ext uri="{FF2B5EF4-FFF2-40B4-BE49-F238E27FC236}">
                <a16:creationId xmlns:a16="http://schemas.microsoft.com/office/drawing/2014/main" id="{58B90AE4-717A-4DE6-AA58-F8C2F3328909}"/>
              </a:ext>
            </a:extLst>
          </p:cNvPr>
          <p:cNvSpPr>
            <a:spLocks noGrp="1"/>
          </p:cNvSpPr>
          <p:nvPr/>
        </p:nvSpPr>
        <p:spPr>
          <a:xfrm>
            <a:off x="800100" y="2914650"/>
            <a:ext cx="2857500" cy="20955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rPr>
              <a:t>ARC 1 · ASK → EVIDENCE → REPLAY</a:t>
            </a:r>
          </a:p>
        </p:txBody>
      </p:sp>
      <p:sp>
        <p:nvSpPr>
          <p:cNvPr id="6" name="Right Arrow 5">
            <a:extLst>
              <a:ext uri="{FF2B5EF4-FFF2-40B4-BE49-F238E27FC236}">
                <a16:creationId xmlns:a16="http://schemas.microsoft.com/office/drawing/2014/main" id="{C9B95FDD-A24F-4784-B731-93550DE0BBE1}"/>
              </a:ext>
            </a:extLst>
          </p:cNvPr>
          <p:cNvSpPr>
            <a:spLocks noGrp="1"/>
          </p:cNvSpPr>
          <p:nvPr/>
        </p:nvSpPr>
        <p:spPr>
          <a:xfrm>
            <a:off x="2590800" y="3581400"/>
            <a:ext cx="342900" cy="171450"/>
          </a:xfrm>
          <a:prstGeom prst="rightArrow">
            <a:avLst/>
          </a:prstGeom>
          <a:solidFill>
            <a:srgbClr val="31444A"/>
          </a:solidFill>
          <a:ln w="0">
            <a:noFill/>
            <a:prstDash val="solid"/>
          </a:ln>
        </p:spPr>
        <p:txBody>
          <a:bodyPr/>
          <a:lstStyle/>
          <a:p>
            <a:endParaRPr lang="en-US"/>
          </a:p>
        </p:txBody>
      </p:sp>
      <p:sp>
        <p:nvSpPr>
          <p:cNvPr id="7" name="Right Arrow 6">
            <a:extLst>
              <a:ext uri="{FF2B5EF4-FFF2-40B4-BE49-F238E27FC236}">
                <a16:creationId xmlns:a16="http://schemas.microsoft.com/office/drawing/2014/main" id="{D637A29B-DA33-428B-B125-570FEB9F31BF}"/>
              </a:ext>
            </a:extLst>
          </p:cNvPr>
          <p:cNvSpPr>
            <a:spLocks noGrp="1"/>
          </p:cNvSpPr>
          <p:nvPr/>
        </p:nvSpPr>
        <p:spPr>
          <a:xfrm>
            <a:off x="4833938" y="3581400"/>
            <a:ext cx="342900" cy="171450"/>
          </a:xfrm>
          <a:prstGeom prst="rightArrow">
            <a:avLst/>
          </a:prstGeom>
          <a:solidFill>
            <a:srgbClr val="31444A"/>
          </a:solidFill>
          <a:ln w="0">
            <a:noFill/>
            <a:prstDash val="solid"/>
          </a:ln>
        </p:spPr>
        <p:txBody>
          <a:bodyPr/>
          <a:lstStyle/>
          <a:p>
            <a:endParaRPr lang="en-US"/>
          </a:p>
        </p:txBody>
      </p:sp>
      <p:sp>
        <p:nvSpPr>
          <p:cNvPr id="8" name="Right Arrow 7">
            <a:extLst>
              <a:ext uri="{FF2B5EF4-FFF2-40B4-BE49-F238E27FC236}">
                <a16:creationId xmlns:a16="http://schemas.microsoft.com/office/drawing/2014/main" id="{91D23271-C5A6-46FA-B6DD-A551DBB45A41}"/>
              </a:ext>
            </a:extLst>
          </p:cNvPr>
          <p:cNvSpPr>
            <a:spLocks noGrp="1"/>
          </p:cNvSpPr>
          <p:nvPr/>
        </p:nvSpPr>
        <p:spPr>
          <a:xfrm>
            <a:off x="7077075" y="3581400"/>
            <a:ext cx="342900" cy="171450"/>
          </a:xfrm>
          <a:prstGeom prst="rightArrow">
            <a:avLst/>
          </a:prstGeom>
          <a:solidFill>
            <a:srgbClr val="31444A"/>
          </a:solidFill>
          <a:ln w="0">
            <a:noFill/>
            <a:prstDash val="solid"/>
          </a:ln>
        </p:spPr>
        <p:txBody>
          <a:bodyPr/>
          <a:lstStyle/>
          <a:p>
            <a:endParaRPr lang="en-US"/>
          </a:p>
        </p:txBody>
      </p:sp>
      <p:sp>
        <p:nvSpPr>
          <p:cNvPr id="9" name="Right Arrow 8">
            <a:extLst>
              <a:ext uri="{FF2B5EF4-FFF2-40B4-BE49-F238E27FC236}">
                <a16:creationId xmlns:a16="http://schemas.microsoft.com/office/drawing/2014/main" id="{54F206E7-C6FA-4953-B923-EF338A0E313C}"/>
              </a:ext>
            </a:extLst>
          </p:cNvPr>
          <p:cNvSpPr>
            <a:spLocks noGrp="1"/>
          </p:cNvSpPr>
          <p:nvPr/>
        </p:nvSpPr>
        <p:spPr>
          <a:xfrm>
            <a:off x="9320213" y="3581400"/>
            <a:ext cx="342900" cy="171450"/>
          </a:xfrm>
          <a:prstGeom prst="rightArrow">
            <a:avLst/>
          </a:prstGeom>
          <a:solidFill>
            <a:srgbClr val="31444A"/>
          </a:solidFill>
          <a:ln w="0">
            <a:noFill/>
            <a:prstDash val="solid"/>
          </a:ln>
        </p:spPr>
        <p:txBody>
          <a:bodyPr/>
          <a:lstStyle/>
          <a:p>
            <a:endParaRPr lang="en-US"/>
          </a:p>
        </p:txBody>
      </p:sp>
      <p:sp>
        <p:nvSpPr>
          <p:cNvPr id="10" name="Rounded Rectangle 9">
            <a:extLst>
              <a:ext uri="{FF2B5EF4-FFF2-40B4-BE49-F238E27FC236}">
                <a16:creationId xmlns:a16="http://schemas.microsoft.com/office/drawing/2014/main" id="{4A593B64-2E19-45B2-B549-A510BECC11D3}"/>
              </a:ext>
            </a:extLst>
          </p:cNvPr>
          <p:cNvSpPr>
            <a:spLocks noGrp="1"/>
          </p:cNvSpPr>
          <p:nvPr/>
        </p:nvSpPr>
        <p:spPr>
          <a:xfrm>
            <a:off x="80010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1" name="Rectangle 10">
            <a:extLst>
              <a:ext uri="{FF2B5EF4-FFF2-40B4-BE49-F238E27FC236}">
                <a16:creationId xmlns:a16="http://schemas.microsoft.com/office/drawing/2014/main" id="{70A867D5-8D96-4C7B-9F2B-58F937BCB6C8}"/>
              </a:ext>
            </a:extLst>
          </p:cNvPr>
          <p:cNvSpPr>
            <a:spLocks noGrp="1"/>
          </p:cNvSpPr>
          <p:nvPr/>
        </p:nvSpPr>
        <p:spPr>
          <a:xfrm>
            <a:off x="89535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Ask</a:t>
            </a:r>
          </a:p>
        </p:txBody>
      </p:sp>
      <p:sp>
        <p:nvSpPr>
          <p:cNvPr id="12" name="Rounded Rectangle 11">
            <a:extLst>
              <a:ext uri="{FF2B5EF4-FFF2-40B4-BE49-F238E27FC236}">
                <a16:creationId xmlns:a16="http://schemas.microsoft.com/office/drawing/2014/main" id="{16A282D0-865F-42E3-90C8-A1773669AF91}"/>
              </a:ext>
            </a:extLst>
          </p:cNvPr>
          <p:cNvSpPr>
            <a:spLocks noGrp="1"/>
          </p:cNvSpPr>
          <p:nvPr/>
        </p:nvSpPr>
        <p:spPr>
          <a:xfrm>
            <a:off x="3043238"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3" name="Rectangle 12">
            <a:extLst>
              <a:ext uri="{FF2B5EF4-FFF2-40B4-BE49-F238E27FC236}">
                <a16:creationId xmlns:a16="http://schemas.microsoft.com/office/drawing/2014/main" id="{45DA7B0B-7954-45D9-92D2-A4EBF518A407}"/>
              </a:ext>
            </a:extLst>
          </p:cNvPr>
          <p:cNvSpPr>
            <a:spLocks noGrp="1"/>
          </p:cNvSpPr>
          <p:nvPr/>
        </p:nvSpPr>
        <p:spPr>
          <a:xfrm>
            <a:off x="3138488"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Citations</a:t>
            </a:r>
          </a:p>
        </p:txBody>
      </p:sp>
      <p:sp>
        <p:nvSpPr>
          <p:cNvPr id="14" name="Rounded Rectangle 13">
            <a:extLst>
              <a:ext uri="{FF2B5EF4-FFF2-40B4-BE49-F238E27FC236}">
                <a16:creationId xmlns:a16="http://schemas.microsoft.com/office/drawing/2014/main" id="{980AAC83-0311-469A-AA76-6C61EA5CD564}"/>
              </a:ext>
            </a:extLst>
          </p:cNvPr>
          <p:cNvSpPr>
            <a:spLocks noGrp="1"/>
          </p:cNvSpPr>
          <p:nvPr/>
        </p:nvSpPr>
        <p:spPr>
          <a:xfrm>
            <a:off x="5286375"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5" name="Rectangle 14">
            <a:extLst>
              <a:ext uri="{FF2B5EF4-FFF2-40B4-BE49-F238E27FC236}">
                <a16:creationId xmlns:a16="http://schemas.microsoft.com/office/drawing/2014/main" id="{187E7234-F19D-4A35-877B-8EE357CADDAD}"/>
              </a:ext>
            </a:extLst>
          </p:cNvPr>
          <p:cNvSpPr>
            <a:spLocks noGrp="1"/>
          </p:cNvSpPr>
          <p:nvPr/>
        </p:nvSpPr>
        <p:spPr>
          <a:xfrm>
            <a:off x="5381625"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Moment</a:t>
            </a:r>
          </a:p>
        </p:txBody>
      </p:sp>
      <p:sp>
        <p:nvSpPr>
          <p:cNvPr id="16" name="Rounded Rectangle 15">
            <a:extLst>
              <a:ext uri="{FF2B5EF4-FFF2-40B4-BE49-F238E27FC236}">
                <a16:creationId xmlns:a16="http://schemas.microsoft.com/office/drawing/2014/main" id="{5703099D-963E-412A-8949-F919CAFE9AEE}"/>
              </a:ext>
            </a:extLst>
          </p:cNvPr>
          <p:cNvSpPr>
            <a:spLocks noGrp="1"/>
          </p:cNvSpPr>
          <p:nvPr/>
        </p:nvSpPr>
        <p:spPr>
          <a:xfrm>
            <a:off x="7529513"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7" name="Rectangle 16">
            <a:extLst>
              <a:ext uri="{FF2B5EF4-FFF2-40B4-BE49-F238E27FC236}">
                <a16:creationId xmlns:a16="http://schemas.microsoft.com/office/drawing/2014/main" id="{5D7B0A04-75D1-4D3B-BA65-359C9FAADA2F}"/>
              </a:ext>
            </a:extLst>
          </p:cNvPr>
          <p:cNvSpPr>
            <a:spLocks noGrp="1"/>
          </p:cNvSpPr>
          <p:nvPr/>
        </p:nvSpPr>
        <p:spPr>
          <a:xfrm>
            <a:off x="7624763"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Screenshot</a:t>
            </a:r>
          </a:p>
        </p:txBody>
      </p:sp>
      <p:sp>
        <p:nvSpPr>
          <p:cNvPr id="18" name="Rounded Rectangle 17">
            <a:extLst>
              <a:ext uri="{FF2B5EF4-FFF2-40B4-BE49-F238E27FC236}">
                <a16:creationId xmlns:a16="http://schemas.microsoft.com/office/drawing/2014/main" id="{62A6A86B-0A74-4614-9D33-CF587A45D84D}"/>
              </a:ext>
            </a:extLst>
          </p:cNvPr>
          <p:cNvSpPr>
            <a:spLocks noGrp="1"/>
          </p:cNvSpPr>
          <p:nvPr/>
        </p:nvSpPr>
        <p:spPr>
          <a:xfrm>
            <a:off x="9772650" y="3314700"/>
            <a:ext cx="1676400" cy="723900"/>
          </a:xfrm>
          <a:prstGeom prst="roundRect">
            <a:avLst>
              <a:gd name="adj" fmla="val 10526"/>
            </a:avLst>
          </a:prstGeom>
          <a:solidFill>
            <a:srgbClr val="111D22"/>
          </a:solidFill>
          <a:ln w="14288">
            <a:solidFill>
              <a:srgbClr val="F2A93B"/>
            </a:solidFill>
            <a:prstDash val="solid"/>
          </a:ln>
        </p:spPr>
        <p:txBody>
          <a:bodyPr/>
          <a:lstStyle/>
          <a:p>
            <a:endParaRPr lang="en-US"/>
          </a:p>
        </p:txBody>
      </p:sp>
      <p:sp>
        <p:nvSpPr>
          <p:cNvPr id="19" name="Rectangle 18">
            <a:extLst>
              <a:ext uri="{FF2B5EF4-FFF2-40B4-BE49-F238E27FC236}">
                <a16:creationId xmlns:a16="http://schemas.microsoft.com/office/drawing/2014/main" id="{44B22871-21F2-4F96-A60A-1116B5813E29}"/>
              </a:ext>
            </a:extLst>
          </p:cNvPr>
          <p:cNvSpPr>
            <a:spLocks noGrp="1"/>
          </p:cNvSpPr>
          <p:nvPr/>
        </p:nvSpPr>
        <p:spPr>
          <a:xfrm>
            <a:off x="9867900" y="33813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Replay</a:t>
            </a:r>
          </a:p>
        </p:txBody>
      </p:sp>
      <p:sp>
        <p:nvSpPr>
          <p:cNvPr id="20" name="Rectangle 19">
            <a:extLst>
              <a:ext uri="{FF2B5EF4-FFF2-40B4-BE49-F238E27FC236}">
                <a16:creationId xmlns:a16="http://schemas.microsoft.com/office/drawing/2014/main" id="{477FA3F1-B292-45A9-8C82-98AD3C2BAF14}"/>
              </a:ext>
            </a:extLst>
          </p:cNvPr>
          <p:cNvSpPr>
            <a:spLocks noGrp="1"/>
          </p:cNvSpPr>
          <p:nvPr/>
        </p:nvSpPr>
        <p:spPr>
          <a:xfrm>
            <a:off x="800100" y="4591050"/>
            <a:ext cx="2857500" cy="209550"/>
          </a:xfrm>
          <a:prstGeom prst="rect">
            <a:avLst/>
          </a:prstGeom>
          <a:noFill/>
          <a:ln w="0">
            <a:noFill/>
            <a:prstDash val="solid"/>
          </a:ln>
        </p:spPr>
        <p:txBody>
          <a:bodyPr wrap="square" lIns="0" tIns="0" rIns="0" bIns="0" anchor="t">
            <a:normAutofit/>
          </a:bodyPr>
          <a:lstStyle/>
          <a:p>
            <a:pPr algn="l">
              <a:defRPr sz="975" b="1">
                <a:solidFill>
                  <a:srgbClr val="47C6B7"/>
                </a:solidFill>
                <a:latin typeface="Arial"/>
                <a:ea typeface="Arial"/>
                <a:cs typeface="Arial"/>
              </a:defRPr>
            </a:pPr>
            <a:r>
              <a:rPr sz="975" b="1">
                <a:solidFill>
                  <a:srgbClr val="47C6B7"/>
                </a:solidFill>
                <a:latin typeface="Arial"/>
              </a:rPr>
              <a:t>ARC 2 · THREADS → TIMELINE → MEETING</a:t>
            </a:r>
          </a:p>
        </p:txBody>
      </p:sp>
      <p:sp>
        <p:nvSpPr>
          <p:cNvPr id="21" name="Right Arrow 20">
            <a:extLst>
              <a:ext uri="{FF2B5EF4-FFF2-40B4-BE49-F238E27FC236}">
                <a16:creationId xmlns:a16="http://schemas.microsoft.com/office/drawing/2014/main" id="{D79642A7-CC53-45F4-9331-5AED0A64AAE4}"/>
              </a:ext>
            </a:extLst>
          </p:cNvPr>
          <p:cNvSpPr>
            <a:spLocks noGrp="1"/>
          </p:cNvSpPr>
          <p:nvPr/>
        </p:nvSpPr>
        <p:spPr>
          <a:xfrm>
            <a:off x="2590800" y="5257800"/>
            <a:ext cx="342900" cy="171450"/>
          </a:xfrm>
          <a:prstGeom prst="rightArrow">
            <a:avLst/>
          </a:prstGeom>
          <a:solidFill>
            <a:srgbClr val="31444A"/>
          </a:solidFill>
          <a:ln w="0">
            <a:noFill/>
            <a:prstDash val="solid"/>
          </a:ln>
        </p:spPr>
        <p:txBody>
          <a:bodyPr/>
          <a:lstStyle/>
          <a:p>
            <a:endParaRPr lang="en-US"/>
          </a:p>
        </p:txBody>
      </p:sp>
      <p:sp>
        <p:nvSpPr>
          <p:cNvPr id="22" name="Right Arrow 21">
            <a:extLst>
              <a:ext uri="{FF2B5EF4-FFF2-40B4-BE49-F238E27FC236}">
                <a16:creationId xmlns:a16="http://schemas.microsoft.com/office/drawing/2014/main" id="{BA4C14BB-AEE8-4105-982F-121387E307FA}"/>
              </a:ext>
            </a:extLst>
          </p:cNvPr>
          <p:cNvSpPr>
            <a:spLocks noGrp="1"/>
          </p:cNvSpPr>
          <p:nvPr/>
        </p:nvSpPr>
        <p:spPr>
          <a:xfrm>
            <a:off x="4833938" y="5257800"/>
            <a:ext cx="342900" cy="171450"/>
          </a:xfrm>
          <a:prstGeom prst="rightArrow">
            <a:avLst/>
          </a:prstGeom>
          <a:solidFill>
            <a:srgbClr val="31444A"/>
          </a:solidFill>
          <a:ln w="0">
            <a:noFill/>
            <a:prstDash val="solid"/>
          </a:ln>
        </p:spPr>
        <p:txBody>
          <a:bodyPr/>
          <a:lstStyle/>
          <a:p>
            <a:endParaRPr lang="en-US"/>
          </a:p>
        </p:txBody>
      </p:sp>
      <p:sp>
        <p:nvSpPr>
          <p:cNvPr id="23" name="Right Arrow 22">
            <a:extLst>
              <a:ext uri="{FF2B5EF4-FFF2-40B4-BE49-F238E27FC236}">
                <a16:creationId xmlns:a16="http://schemas.microsoft.com/office/drawing/2014/main" id="{E3361A6B-5C3D-4C6D-BDF6-50754F1FBDA4}"/>
              </a:ext>
            </a:extLst>
          </p:cNvPr>
          <p:cNvSpPr>
            <a:spLocks noGrp="1"/>
          </p:cNvSpPr>
          <p:nvPr/>
        </p:nvSpPr>
        <p:spPr>
          <a:xfrm>
            <a:off x="7077075" y="5257800"/>
            <a:ext cx="342900" cy="171450"/>
          </a:xfrm>
          <a:prstGeom prst="rightArrow">
            <a:avLst/>
          </a:prstGeom>
          <a:solidFill>
            <a:srgbClr val="31444A"/>
          </a:solidFill>
          <a:ln w="0">
            <a:noFill/>
            <a:prstDash val="solid"/>
          </a:ln>
        </p:spPr>
        <p:txBody>
          <a:bodyPr/>
          <a:lstStyle/>
          <a:p>
            <a:endParaRPr lang="en-US"/>
          </a:p>
        </p:txBody>
      </p:sp>
      <p:sp>
        <p:nvSpPr>
          <p:cNvPr id="24" name="Right Arrow 23">
            <a:extLst>
              <a:ext uri="{FF2B5EF4-FFF2-40B4-BE49-F238E27FC236}">
                <a16:creationId xmlns:a16="http://schemas.microsoft.com/office/drawing/2014/main" id="{49680E70-B326-4771-80E2-3091BCABF41C}"/>
              </a:ext>
            </a:extLst>
          </p:cNvPr>
          <p:cNvSpPr>
            <a:spLocks noGrp="1"/>
          </p:cNvSpPr>
          <p:nvPr/>
        </p:nvSpPr>
        <p:spPr>
          <a:xfrm>
            <a:off x="9320213" y="5257800"/>
            <a:ext cx="342900" cy="171450"/>
          </a:xfrm>
          <a:prstGeom prst="rightArrow">
            <a:avLst/>
          </a:prstGeom>
          <a:solidFill>
            <a:srgbClr val="31444A"/>
          </a:solidFill>
          <a:ln w="0">
            <a:noFill/>
            <a:prstDash val="solid"/>
          </a:ln>
        </p:spPr>
        <p:txBody>
          <a:bodyPr/>
          <a:lstStyle/>
          <a:p>
            <a:endParaRPr lang="en-US"/>
          </a:p>
        </p:txBody>
      </p:sp>
      <p:sp>
        <p:nvSpPr>
          <p:cNvPr id="25" name="Rounded Rectangle 24">
            <a:extLst>
              <a:ext uri="{FF2B5EF4-FFF2-40B4-BE49-F238E27FC236}">
                <a16:creationId xmlns:a16="http://schemas.microsoft.com/office/drawing/2014/main" id="{4219CDEE-5395-41E4-B437-651271924374}"/>
              </a:ext>
            </a:extLst>
          </p:cNvPr>
          <p:cNvSpPr>
            <a:spLocks noGrp="1"/>
          </p:cNvSpPr>
          <p:nvPr/>
        </p:nvSpPr>
        <p:spPr>
          <a:xfrm>
            <a:off x="80010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6" name="Rectangle 25">
            <a:extLst>
              <a:ext uri="{FF2B5EF4-FFF2-40B4-BE49-F238E27FC236}">
                <a16:creationId xmlns:a16="http://schemas.microsoft.com/office/drawing/2014/main" id="{23D0AFEB-863E-4390-825E-C811B49A2F2D}"/>
              </a:ext>
            </a:extLst>
          </p:cNvPr>
          <p:cNvSpPr>
            <a:spLocks noGrp="1"/>
          </p:cNvSpPr>
          <p:nvPr/>
        </p:nvSpPr>
        <p:spPr>
          <a:xfrm>
            <a:off x="89535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Threads</a:t>
            </a:r>
          </a:p>
        </p:txBody>
      </p:sp>
      <p:sp>
        <p:nvSpPr>
          <p:cNvPr id="27" name="Rounded Rectangle 26">
            <a:extLst>
              <a:ext uri="{FF2B5EF4-FFF2-40B4-BE49-F238E27FC236}">
                <a16:creationId xmlns:a16="http://schemas.microsoft.com/office/drawing/2014/main" id="{80448F56-2C81-42FF-865E-2366EBD007E7}"/>
              </a:ext>
            </a:extLst>
          </p:cNvPr>
          <p:cNvSpPr>
            <a:spLocks noGrp="1"/>
          </p:cNvSpPr>
          <p:nvPr/>
        </p:nvSpPr>
        <p:spPr>
          <a:xfrm>
            <a:off x="3043238"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28" name="Rectangle 27">
            <a:extLst>
              <a:ext uri="{FF2B5EF4-FFF2-40B4-BE49-F238E27FC236}">
                <a16:creationId xmlns:a16="http://schemas.microsoft.com/office/drawing/2014/main" id="{29815411-687C-452E-94AA-4116F3B45ECB}"/>
              </a:ext>
            </a:extLst>
          </p:cNvPr>
          <p:cNvSpPr>
            <a:spLocks noGrp="1"/>
          </p:cNvSpPr>
          <p:nvPr/>
        </p:nvSpPr>
        <p:spPr>
          <a:xfrm>
            <a:off x="3138488"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Pick a subject</a:t>
            </a:r>
          </a:p>
        </p:txBody>
      </p:sp>
      <p:sp>
        <p:nvSpPr>
          <p:cNvPr id="29" name="Rounded Rectangle 28">
            <a:extLst>
              <a:ext uri="{FF2B5EF4-FFF2-40B4-BE49-F238E27FC236}">
                <a16:creationId xmlns:a16="http://schemas.microsoft.com/office/drawing/2014/main" id="{71C2B5CE-9222-4F72-9316-436FED7947AA}"/>
              </a:ext>
            </a:extLst>
          </p:cNvPr>
          <p:cNvSpPr>
            <a:spLocks noGrp="1"/>
          </p:cNvSpPr>
          <p:nvPr/>
        </p:nvSpPr>
        <p:spPr>
          <a:xfrm>
            <a:off x="5286375"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0" name="Rectangle 29">
            <a:extLst>
              <a:ext uri="{FF2B5EF4-FFF2-40B4-BE49-F238E27FC236}">
                <a16:creationId xmlns:a16="http://schemas.microsoft.com/office/drawing/2014/main" id="{E14FA48F-660C-4E68-9591-760505A77CF8}"/>
              </a:ext>
            </a:extLst>
          </p:cNvPr>
          <p:cNvSpPr>
            <a:spLocks noGrp="1"/>
          </p:cNvSpPr>
          <p:nvPr/>
        </p:nvSpPr>
        <p:spPr>
          <a:xfrm>
            <a:off x="5381625"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Timeline</a:t>
            </a:r>
          </a:p>
        </p:txBody>
      </p:sp>
      <p:sp>
        <p:nvSpPr>
          <p:cNvPr id="31" name="Rounded Rectangle 30">
            <a:extLst>
              <a:ext uri="{FF2B5EF4-FFF2-40B4-BE49-F238E27FC236}">
                <a16:creationId xmlns:a16="http://schemas.microsoft.com/office/drawing/2014/main" id="{068BE1EC-1011-42B7-B0A1-2E0578543F84}"/>
              </a:ext>
            </a:extLst>
          </p:cNvPr>
          <p:cNvSpPr>
            <a:spLocks noGrp="1"/>
          </p:cNvSpPr>
          <p:nvPr/>
        </p:nvSpPr>
        <p:spPr>
          <a:xfrm>
            <a:off x="7529513"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2" name="Rectangle 31">
            <a:extLst>
              <a:ext uri="{FF2B5EF4-FFF2-40B4-BE49-F238E27FC236}">
                <a16:creationId xmlns:a16="http://schemas.microsoft.com/office/drawing/2014/main" id="{68AA50C4-1D38-4632-87F5-44568BA1A341}"/>
              </a:ext>
            </a:extLst>
          </p:cNvPr>
          <p:cNvSpPr>
            <a:spLocks noGrp="1"/>
          </p:cNvSpPr>
          <p:nvPr/>
        </p:nvSpPr>
        <p:spPr>
          <a:xfrm>
            <a:off x="7624763"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Meeting</a:t>
            </a:r>
          </a:p>
        </p:txBody>
      </p:sp>
      <p:sp>
        <p:nvSpPr>
          <p:cNvPr id="33" name="Rounded Rectangle 32">
            <a:extLst>
              <a:ext uri="{FF2B5EF4-FFF2-40B4-BE49-F238E27FC236}">
                <a16:creationId xmlns:a16="http://schemas.microsoft.com/office/drawing/2014/main" id="{930D30A2-40A8-4141-A7D1-09D5CB4F1544}"/>
              </a:ext>
            </a:extLst>
          </p:cNvPr>
          <p:cNvSpPr>
            <a:spLocks noGrp="1"/>
          </p:cNvSpPr>
          <p:nvPr/>
        </p:nvSpPr>
        <p:spPr>
          <a:xfrm>
            <a:off x="9772650" y="4991100"/>
            <a:ext cx="1676400" cy="723900"/>
          </a:xfrm>
          <a:prstGeom prst="roundRect">
            <a:avLst>
              <a:gd name="adj" fmla="val 10526"/>
            </a:avLst>
          </a:prstGeom>
          <a:solidFill>
            <a:srgbClr val="111D22"/>
          </a:solidFill>
          <a:ln w="14288">
            <a:solidFill>
              <a:srgbClr val="47C6B7"/>
            </a:solidFill>
            <a:prstDash val="solid"/>
          </a:ln>
        </p:spPr>
        <p:txBody>
          <a:bodyPr/>
          <a:lstStyle/>
          <a:p>
            <a:endParaRPr lang="en-US"/>
          </a:p>
        </p:txBody>
      </p:sp>
      <p:sp>
        <p:nvSpPr>
          <p:cNvPr id="34" name="Rectangle 33">
            <a:extLst>
              <a:ext uri="{FF2B5EF4-FFF2-40B4-BE49-F238E27FC236}">
                <a16:creationId xmlns:a16="http://schemas.microsoft.com/office/drawing/2014/main" id="{CA344431-CC0A-4A24-9348-876D5B849481}"/>
              </a:ext>
            </a:extLst>
          </p:cNvPr>
          <p:cNvSpPr>
            <a:spLocks noGrp="1"/>
          </p:cNvSpPr>
          <p:nvPr/>
        </p:nvSpPr>
        <p:spPr>
          <a:xfrm>
            <a:off x="9867900" y="5057775"/>
            <a:ext cx="1485900" cy="590550"/>
          </a:xfrm>
          <a:prstGeom prst="rect">
            <a:avLst/>
          </a:prstGeom>
          <a:noFill/>
          <a:ln w="0">
            <a:noFill/>
            <a:prstDash val="solid"/>
          </a:ln>
        </p:spPr>
        <p:txBody>
          <a:bodyPr wrap="square" lIns="0" tIns="0" rIns="0" bIns="0" anchor="ctr">
            <a:normAutofit/>
          </a:bodyPr>
          <a:lstStyle/>
          <a:p>
            <a:pPr algn="ctr">
              <a:defRPr sz="1350" b="1">
                <a:solidFill>
                  <a:srgbClr val="E8F0EF"/>
                </a:solidFill>
                <a:latin typeface="Arial"/>
                <a:ea typeface="Arial"/>
                <a:cs typeface="Arial"/>
              </a:defRPr>
            </a:pPr>
            <a:r>
              <a:rPr sz="1350" b="1">
                <a:solidFill>
                  <a:srgbClr val="E8F0EF"/>
                </a:solidFill>
                <a:latin typeface="Arial"/>
              </a:rPr>
              <a:t>Documents</a:t>
            </a:r>
          </a:p>
        </p:txBody>
      </p:sp>
      <p:sp>
        <p:nvSpPr>
          <p:cNvPr id="35" name="Rectangle 34">
            <a:extLst>
              <a:ext uri="{FF2B5EF4-FFF2-40B4-BE49-F238E27FC236}">
                <a16:creationId xmlns:a16="http://schemas.microsoft.com/office/drawing/2014/main" id="{BF1250BB-C2E5-4154-9743-A2A2F4CAFE9E}"/>
              </a:ext>
            </a:extLst>
          </p:cNvPr>
          <p:cNvSpPr>
            <a:spLocks noGrp="1"/>
          </p:cNvSpPr>
          <p:nvPr/>
        </p:nvSpPr>
        <p:spPr>
          <a:xfrm>
            <a:off x="800100" y="5962650"/>
            <a:ext cx="8763000" cy="304800"/>
          </a:xfrm>
          <a:prstGeom prst="rect">
            <a:avLst/>
          </a:prstGeom>
          <a:noFill/>
          <a:ln w="0">
            <a:noFill/>
            <a:prstDash val="solid"/>
          </a:ln>
        </p:spPr>
        <p:txBody>
          <a:bodyPr wrap="square" lIns="0" tIns="0" rIns="0" bIns="0" anchor="t">
            <a:normAutofit/>
          </a:bodyPr>
          <a:lstStyle/>
          <a:p>
            <a:pPr algn="l">
              <a:defRPr sz="1575" b="1">
                <a:solidFill>
                  <a:srgbClr val="E8F0EF"/>
                </a:solidFill>
                <a:latin typeface="Arial"/>
                <a:ea typeface="Arial"/>
                <a:cs typeface="Arial"/>
              </a:defRPr>
            </a:pPr>
            <a:r>
              <a:rPr sz="1575" b="1">
                <a:solidFill>
                  <a:srgbClr val="E8F0EF"/>
                </a:solidFill>
                <a:latin typeface="Arial"/>
              </a:rPr>
              <a:t>Question: What is the DBE participation goal and how is it tracked?</a:t>
            </a:r>
          </a:p>
        </p:txBody>
      </p:sp>
      <p:sp>
        <p:nvSpPr>
          <p:cNvPr id="36" name="Rectangle 35">
            <a:extLst>
              <a:ext uri="{FF2B5EF4-FFF2-40B4-BE49-F238E27FC236}">
                <a16:creationId xmlns:a16="http://schemas.microsoft.com/office/drawing/2014/main" id="{840C3ADA-6078-42EF-AB23-0162570CB279}"/>
              </a:ext>
            </a:extLst>
          </p:cNvPr>
          <p:cNvSpPr>
            <a:spLocks noGrp="1"/>
          </p:cNvSpPr>
          <p:nvPr/>
        </p:nvSpPr>
        <p:spPr>
          <a:xfrm>
            <a:off x="10591800" y="5962650"/>
            <a:ext cx="857250" cy="266700"/>
          </a:xfrm>
          <a:prstGeom prst="rect">
            <a:avLst/>
          </a:prstGeom>
          <a:noFill/>
          <a:ln w="0">
            <a:noFill/>
            <a:prstDash val="solid"/>
          </a:ln>
        </p:spPr>
        <p:txBody>
          <a:bodyPr wrap="square" lIns="0" tIns="0" rIns="0" bIns="0" anchor="t">
            <a:normAutofit/>
          </a:bodyPr>
          <a:lstStyle/>
          <a:p>
            <a:pPr algn="r">
              <a:defRPr sz="1200" b="1">
                <a:solidFill>
                  <a:srgbClr val="D8F36A"/>
                </a:solidFill>
                <a:latin typeface="Arial"/>
                <a:ea typeface="Arial"/>
                <a:cs typeface="Arial"/>
              </a:defRPr>
            </a:pPr>
            <a:r>
              <a:rPr sz="1200" b="1">
                <a:solidFill>
                  <a:srgbClr val="D8F36A"/>
                </a:solidFill>
                <a:latin typeface="Arial"/>
                <a:ea typeface="Arial"/>
                <a:cs typeface="Arial"/>
              </a:rPr>
              <a:t>LIVE</a:t>
            </a:r>
          </a:p>
        </p:txBody>
      </p:sp>
    </p:spTree>
    <p:extLst>
      <p:ext uri="{BB962C8B-B14F-4D97-AF65-F5344CB8AC3E}">
        <p14:creationId xmlns:p14="http://schemas.microsoft.com/office/powerpoint/2010/main" val="587603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ECCA5DF-5581-4E02-BBA4-86C088BE955E}"/>
              </a:ext>
            </a:extLst>
          </p:cNvPr>
          <p:cNvSpPr>
            <a:spLocks noGrp="1"/>
          </p:cNvSpPr>
          <p:nvPr/>
        </p:nvSpPr>
        <p:spPr>
          <a:xfrm>
            <a:off x="0" y="0"/>
            <a:ext cx="85725" cy="6858000"/>
          </a:xfrm>
          <a:prstGeom prst="rect">
            <a:avLst/>
          </a:prstGeom>
          <a:solidFill>
            <a:srgbClr val="A88BFF"/>
          </a:solidFill>
          <a:ln w="0">
            <a:noFill/>
            <a:prstDash val="solid"/>
          </a:ln>
        </p:spPr>
        <p:txBody>
          <a:bodyPr/>
          <a:lstStyle/>
          <a:p>
            <a:endParaRPr lang="en-US"/>
          </a:p>
        </p:txBody>
      </p:sp>
      <p:sp>
        <p:nvSpPr>
          <p:cNvPr id="2" name="Rectangle 1">
            <a:extLst>
              <a:ext uri="{FF2B5EF4-FFF2-40B4-BE49-F238E27FC236}">
                <a16:creationId xmlns:a16="http://schemas.microsoft.com/office/drawing/2014/main" id="{1104236B-171A-4D4A-B5BC-38C47C7DD36D}"/>
              </a:ext>
            </a:extLst>
          </p:cNvPr>
          <p:cNvSpPr>
            <a:spLocks noGrp="1"/>
          </p:cNvSpPr>
          <p:nvPr/>
        </p:nvSpPr>
        <p:spPr>
          <a:xfrm>
            <a:off x="685800" y="533400"/>
            <a:ext cx="3238500" cy="895350"/>
          </a:xfrm>
          <a:prstGeom prst="rect">
            <a:avLst/>
          </a:prstGeom>
          <a:noFill/>
          <a:ln w="0">
            <a:noFill/>
            <a:prstDash val="solid"/>
          </a:ln>
        </p:spPr>
        <p:txBody>
          <a:bodyPr wrap="square" lIns="0" tIns="0" rIns="0" bIns="0" anchor="t">
            <a:normAutofit/>
          </a:bodyPr>
          <a:lstStyle/>
          <a:p>
            <a:pPr algn="l">
              <a:defRPr sz="5400" b="1">
                <a:solidFill>
                  <a:srgbClr val="A88BFF"/>
                </a:solidFill>
                <a:latin typeface="Arial"/>
                <a:ea typeface="Arial"/>
                <a:cs typeface="Arial"/>
              </a:defRPr>
            </a:pPr>
            <a:r>
              <a:rPr sz="5400" b="1">
                <a:solidFill>
                  <a:srgbClr val="A88BFF"/>
                </a:solidFill>
                <a:latin typeface="Arial"/>
                <a:ea typeface="Arial"/>
                <a:cs typeface="Arial"/>
              </a:rPr>
              <a:t>Q&amp;A</a:t>
            </a:r>
          </a:p>
        </p:txBody>
      </p:sp>
      <p:sp>
        <p:nvSpPr>
          <p:cNvPr id="3" name="Rectangle 2">
            <a:extLst>
              <a:ext uri="{FF2B5EF4-FFF2-40B4-BE49-F238E27FC236}">
                <a16:creationId xmlns:a16="http://schemas.microsoft.com/office/drawing/2014/main" id="{0D4429A5-B896-4887-A096-F78ABDA2121D}"/>
              </a:ext>
            </a:extLst>
          </p:cNvPr>
          <p:cNvSpPr>
            <a:spLocks noGrp="1"/>
          </p:cNvSpPr>
          <p:nvPr/>
        </p:nvSpPr>
        <p:spPr>
          <a:xfrm>
            <a:off x="723900" y="1600200"/>
            <a:ext cx="7239000" cy="590550"/>
          </a:xfrm>
          <a:prstGeom prst="rect">
            <a:avLst/>
          </a:prstGeom>
          <a:noFill/>
          <a:ln w="0">
            <a:noFill/>
            <a:prstDash val="solid"/>
          </a:ln>
        </p:spPr>
        <p:txBody>
          <a:bodyPr wrap="square" lIns="0" tIns="0" rIns="0" bIns="0" anchor="t">
            <a:normAutofit/>
          </a:bodyPr>
          <a:lstStyle/>
          <a:p>
            <a:pPr algn="l">
              <a:defRPr sz="2925" b="1">
                <a:solidFill>
                  <a:srgbClr val="E8F0EF"/>
                </a:solidFill>
                <a:latin typeface="Arial"/>
                <a:ea typeface="Arial"/>
                <a:cs typeface="Arial"/>
              </a:defRPr>
            </a:pPr>
            <a:r>
              <a:rPr sz="2925" b="1">
                <a:solidFill>
                  <a:srgbClr val="E8F0EF"/>
                </a:solidFill>
                <a:latin typeface="Arial"/>
                <a:ea typeface="Arial"/>
                <a:cs typeface="Arial"/>
              </a:rPr>
              <a:t>Ask me where the trade-offs bite.</a:t>
            </a:r>
          </a:p>
        </p:txBody>
      </p:sp>
      <p:sp>
        <p:nvSpPr>
          <p:cNvPr id="4" name="Oval 3">
            <a:extLst>
              <a:ext uri="{FF2B5EF4-FFF2-40B4-BE49-F238E27FC236}">
                <a16:creationId xmlns:a16="http://schemas.microsoft.com/office/drawing/2014/main" id="{C825AB50-EB47-432D-B2FF-CAF504921BC0}"/>
              </a:ext>
            </a:extLst>
          </p:cNvPr>
          <p:cNvSpPr>
            <a:spLocks noGrp="1"/>
          </p:cNvSpPr>
          <p:nvPr/>
        </p:nvSpPr>
        <p:spPr>
          <a:xfrm>
            <a:off x="828675" y="2838450"/>
            <a:ext cx="95250" cy="95250"/>
          </a:xfrm>
          <a:prstGeom prst="ellipse">
            <a:avLst/>
          </a:prstGeom>
          <a:solidFill>
            <a:srgbClr val="F2A93B"/>
          </a:solidFill>
          <a:ln w="9525">
            <a:solidFill>
              <a:srgbClr val="F2A93B"/>
            </a:solidFill>
            <a:prstDash val="solid"/>
          </a:ln>
        </p:spPr>
        <p:txBody>
          <a:bodyPr/>
          <a:lstStyle/>
          <a:p>
            <a:endParaRPr lang="en-US"/>
          </a:p>
        </p:txBody>
      </p:sp>
      <p:sp>
        <p:nvSpPr>
          <p:cNvPr id="5" name="Rectangle 4">
            <a:extLst>
              <a:ext uri="{FF2B5EF4-FFF2-40B4-BE49-F238E27FC236}">
                <a16:creationId xmlns:a16="http://schemas.microsoft.com/office/drawing/2014/main" id="{6B113F5D-7BBF-43CE-A419-BCCBC8DAC4D0}"/>
              </a:ext>
            </a:extLst>
          </p:cNvPr>
          <p:cNvSpPr>
            <a:spLocks noGrp="1"/>
          </p:cNvSpPr>
          <p:nvPr/>
        </p:nvSpPr>
        <p:spPr>
          <a:xfrm>
            <a:off x="1066800" y="27813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how good the search really is</a:t>
            </a:r>
          </a:p>
        </p:txBody>
      </p:sp>
      <p:sp>
        <p:nvSpPr>
          <p:cNvPr id="6" name="Oval 5">
            <a:extLst>
              <a:ext uri="{FF2B5EF4-FFF2-40B4-BE49-F238E27FC236}">
                <a16:creationId xmlns:a16="http://schemas.microsoft.com/office/drawing/2014/main" id="{2E61DE03-E5D8-4007-BFBB-E947AC4E9079}"/>
              </a:ext>
            </a:extLst>
          </p:cNvPr>
          <p:cNvSpPr>
            <a:spLocks noGrp="1"/>
          </p:cNvSpPr>
          <p:nvPr/>
        </p:nvSpPr>
        <p:spPr>
          <a:xfrm>
            <a:off x="828675" y="3390900"/>
            <a:ext cx="95250" cy="95250"/>
          </a:xfrm>
          <a:prstGeom prst="ellipse">
            <a:avLst/>
          </a:prstGeom>
          <a:solidFill>
            <a:srgbClr val="47C6B7"/>
          </a:solidFill>
          <a:ln w="9525">
            <a:solidFill>
              <a:srgbClr val="47C6B7"/>
            </a:solidFill>
            <a:prstDash val="solid"/>
          </a:ln>
        </p:spPr>
        <p:txBody>
          <a:bodyPr/>
          <a:lstStyle/>
          <a:p>
            <a:endParaRPr lang="en-US"/>
          </a:p>
        </p:txBody>
      </p:sp>
      <p:sp>
        <p:nvSpPr>
          <p:cNvPr id="7" name="Rectangle 6">
            <a:extLst>
              <a:ext uri="{FF2B5EF4-FFF2-40B4-BE49-F238E27FC236}">
                <a16:creationId xmlns:a16="http://schemas.microsoft.com/office/drawing/2014/main" id="{52092202-CA10-4B17-B40E-F9CE12CED067}"/>
              </a:ext>
            </a:extLst>
          </p:cNvPr>
          <p:cNvSpPr>
            <a:spLocks noGrp="1"/>
          </p:cNvSpPr>
          <p:nvPr/>
        </p:nvSpPr>
        <p:spPr>
          <a:xfrm>
            <a:off x="1066800" y="33337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whether you can trust a citation</a:t>
            </a:r>
          </a:p>
        </p:txBody>
      </p:sp>
      <p:sp>
        <p:nvSpPr>
          <p:cNvPr id="8" name="Oval 7">
            <a:extLst>
              <a:ext uri="{FF2B5EF4-FFF2-40B4-BE49-F238E27FC236}">
                <a16:creationId xmlns:a16="http://schemas.microsoft.com/office/drawing/2014/main" id="{2B231D12-BA8A-4D93-9978-8B5678F2F4EB}"/>
              </a:ext>
            </a:extLst>
          </p:cNvPr>
          <p:cNvSpPr>
            <a:spLocks noGrp="1"/>
          </p:cNvSpPr>
          <p:nvPr/>
        </p:nvSpPr>
        <p:spPr>
          <a:xfrm>
            <a:off x="828675" y="3943350"/>
            <a:ext cx="95250" cy="95250"/>
          </a:xfrm>
          <a:prstGeom prst="ellipse">
            <a:avLst/>
          </a:prstGeom>
          <a:solidFill>
            <a:srgbClr val="A88BFF"/>
          </a:solidFill>
          <a:ln w="9525">
            <a:solidFill>
              <a:srgbClr val="A88BFF"/>
            </a:solidFill>
            <a:prstDash val="solid"/>
          </a:ln>
        </p:spPr>
        <p:txBody>
          <a:bodyPr/>
          <a:lstStyle/>
          <a:p>
            <a:endParaRPr lang="en-US"/>
          </a:p>
        </p:txBody>
      </p:sp>
      <p:sp>
        <p:nvSpPr>
          <p:cNvPr id="9" name="Rectangle 8">
            <a:extLst>
              <a:ext uri="{FF2B5EF4-FFF2-40B4-BE49-F238E27FC236}">
                <a16:creationId xmlns:a16="http://schemas.microsoft.com/office/drawing/2014/main" id="{B9BE8817-EA2A-4A4F-8942-5AF988281705}"/>
              </a:ext>
            </a:extLst>
          </p:cNvPr>
          <p:cNvSpPr>
            <a:spLocks noGrp="1"/>
          </p:cNvSpPr>
          <p:nvPr/>
        </p:nvSpPr>
        <p:spPr>
          <a:xfrm>
            <a:off x="1066800" y="38862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happens when it breaks</a:t>
            </a:r>
          </a:p>
        </p:txBody>
      </p:sp>
      <p:sp>
        <p:nvSpPr>
          <p:cNvPr id="10" name="Oval 9">
            <a:extLst>
              <a:ext uri="{FF2B5EF4-FFF2-40B4-BE49-F238E27FC236}">
                <a16:creationId xmlns:a16="http://schemas.microsoft.com/office/drawing/2014/main" id="{890751CF-DD05-4C81-A718-47E02EB2FDBD}"/>
              </a:ext>
            </a:extLst>
          </p:cNvPr>
          <p:cNvSpPr>
            <a:spLocks noGrp="1"/>
          </p:cNvSpPr>
          <p:nvPr/>
        </p:nvSpPr>
        <p:spPr>
          <a:xfrm>
            <a:off x="828675" y="4495800"/>
            <a:ext cx="95250" cy="95250"/>
          </a:xfrm>
          <a:prstGeom prst="ellipse">
            <a:avLst/>
          </a:prstGeom>
          <a:solidFill>
            <a:srgbClr val="F07178"/>
          </a:solidFill>
          <a:ln w="9525">
            <a:solidFill>
              <a:srgbClr val="F07178"/>
            </a:solidFill>
            <a:prstDash val="solid"/>
          </a:ln>
        </p:spPr>
        <p:txBody>
          <a:bodyPr/>
          <a:lstStyle/>
          <a:p>
            <a:endParaRPr lang="en-US"/>
          </a:p>
        </p:txBody>
      </p:sp>
      <p:sp>
        <p:nvSpPr>
          <p:cNvPr id="11" name="Rectangle 10">
            <a:extLst>
              <a:ext uri="{FF2B5EF4-FFF2-40B4-BE49-F238E27FC236}">
                <a16:creationId xmlns:a16="http://schemas.microsoft.com/office/drawing/2014/main" id="{95692C9C-4E56-4E56-A0B5-4E15C0160B10}"/>
              </a:ext>
            </a:extLst>
          </p:cNvPr>
          <p:cNvSpPr>
            <a:spLocks noGrp="1"/>
          </p:cNvSpPr>
          <p:nvPr/>
        </p:nvSpPr>
        <p:spPr>
          <a:xfrm>
            <a:off x="1066800" y="443865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it would take to run this for real</a:t>
            </a:r>
          </a:p>
        </p:txBody>
      </p:sp>
      <p:sp>
        <p:nvSpPr>
          <p:cNvPr id="12" name="Oval 11">
            <a:extLst>
              <a:ext uri="{FF2B5EF4-FFF2-40B4-BE49-F238E27FC236}">
                <a16:creationId xmlns:a16="http://schemas.microsoft.com/office/drawing/2014/main" id="{1F82F9F3-C084-4A4F-BBFC-E1EB869D4B2D}"/>
              </a:ext>
            </a:extLst>
          </p:cNvPr>
          <p:cNvSpPr>
            <a:spLocks noGrp="1"/>
          </p:cNvSpPr>
          <p:nvPr/>
        </p:nvSpPr>
        <p:spPr>
          <a:xfrm>
            <a:off x="828675" y="5048250"/>
            <a:ext cx="95250" cy="95250"/>
          </a:xfrm>
          <a:prstGeom prst="ellipse">
            <a:avLst/>
          </a:prstGeom>
          <a:solidFill>
            <a:srgbClr val="D8F36A"/>
          </a:solidFill>
          <a:ln w="9525">
            <a:solidFill>
              <a:srgbClr val="D8F36A"/>
            </a:solidFill>
            <a:prstDash val="solid"/>
          </a:ln>
        </p:spPr>
        <p:txBody>
          <a:bodyPr/>
          <a:lstStyle/>
          <a:p>
            <a:endParaRPr lang="en-US"/>
          </a:p>
        </p:txBody>
      </p:sp>
      <p:sp>
        <p:nvSpPr>
          <p:cNvPr id="13" name="Rectangle 12">
            <a:extLst>
              <a:ext uri="{FF2B5EF4-FFF2-40B4-BE49-F238E27FC236}">
                <a16:creationId xmlns:a16="http://schemas.microsoft.com/office/drawing/2014/main" id="{2C1A0329-2FB8-4AE0-91F9-08B469BA5AC3}"/>
              </a:ext>
            </a:extLst>
          </p:cNvPr>
          <p:cNvSpPr>
            <a:spLocks noGrp="1"/>
          </p:cNvSpPr>
          <p:nvPr/>
        </p:nvSpPr>
        <p:spPr>
          <a:xfrm>
            <a:off x="1066800" y="4991100"/>
            <a:ext cx="4000500" cy="285750"/>
          </a:xfrm>
          <a:prstGeom prst="rect">
            <a:avLst/>
          </a:prstGeom>
          <a:noFill/>
          <a:ln w="0">
            <a:noFill/>
            <a:prstDash val="solid"/>
          </a:ln>
        </p:spPr>
        <p:txBody>
          <a:bodyPr wrap="square" lIns="0" tIns="0" rIns="0" bIns="0" anchor="t">
            <a:normAutofit/>
          </a:bodyPr>
          <a:lstStyle/>
          <a:p>
            <a:pPr algn="l">
              <a:defRPr sz="1650" b="0">
                <a:solidFill>
                  <a:srgbClr val="E8F0EF"/>
                </a:solidFill>
                <a:latin typeface="Arial"/>
                <a:ea typeface="Arial"/>
                <a:cs typeface="Arial"/>
              </a:defRPr>
            </a:pPr>
            <a:r>
              <a:rPr sz="1650" b="0">
                <a:solidFill>
                  <a:srgbClr val="E8F0EF"/>
                </a:solidFill>
                <a:latin typeface="Arial"/>
              </a:rPr>
              <a:t>what I would build next</a:t>
            </a:r>
          </a:p>
        </p:txBody>
      </p:sp>
      <p:sp>
        <p:nvSpPr>
          <p:cNvPr id="14" name="Rectangle 13">
            <a:extLst>
              <a:ext uri="{FF2B5EF4-FFF2-40B4-BE49-F238E27FC236}">
                <a16:creationId xmlns:a16="http://schemas.microsoft.com/office/drawing/2014/main" id="{A5B86B2A-69C2-4B95-A14C-374FBDDBEFFB}"/>
              </a:ext>
            </a:extLst>
          </p:cNvPr>
          <p:cNvSpPr>
            <a:spLocks noGrp="1"/>
          </p:cNvSpPr>
          <p:nvPr/>
        </p:nvSpPr>
        <p:spPr>
          <a:xfrm>
            <a:off x="8420100" y="1485900"/>
            <a:ext cx="2857500" cy="3714750"/>
          </a:xfrm>
          <a:prstGeom prst="rect">
            <a:avLst/>
          </a:prstGeom>
          <a:noFill/>
          <a:ln w="0">
            <a:noFill/>
            <a:prstDash val="solid"/>
          </a:ln>
        </p:spPr>
        <p:txBody>
          <a:bodyPr wrap="square" lIns="0" tIns="0" rIns="0" bIns="0" anchor="ctr">
            <a:normAutofit/>
          </a:bodyPr>
          <a:lstStyle/>
          <a:p>
            <a:pPr algn="ctr">
              <a:defRPr sz="22500" b="1">
                <a:solidFill>
                  <a:srgbClr val="17262C"/>
                </a:solidFill>
                <a:latin typeface="Arial"/>
                <a:ea typeface="Arial"/>
                <a:cs typeface="Arial"/>
              </a:defRPr>
            </a:pPr>
            <a:r>
              <a:rPr sz="22500" b="1">
                <a:solidFill>
                  <a:srgbClr val="17262C"/>
                </a:solidFill>
                <a:latin typeface="Arial"/>
                <a:ea typeface="Arial"/>
                <a:cs typeface="Arial"/>
              </a:rPr>
              <a:t>?</a:t>
            </a:r>
          </a:p>
        </p:txBody>
      </p:sp>
      <p:sp>
        <p:nvSpPr>
          <p:cNvPr id="15" name="Rectangle 14">
            <a:extLst>
              <a:ext uri="{FF2B5EF4-FFF2-40B4-BE49-F238E27FC236}">
                <a16:creationId xmlns:a16="http://schemas.microsoft.com/office/drawing/2014/main" id="{B49A4909-77E2-47A6-BBEA-E557AD29AAF8}"/>
              </a:ext>
            </a:extLst>
          </p:cNvPr>
          <p:cNvSpPr>
            <a:spLocks noGrp="1"/>
          </p:cNvSpPr>
          <p:nvPr/>
        </p:nvSpPr>
        <p:spPr>
          <a:xfrm>
            <a:off x="6572250" y="5410200"/>
            <a:ext cx="4476750" cy="590550"/>
          </a:xfrm>
          <a:prstGeom prst="rect">
            <a:avLst/>
          </a:prstGeom>
          <a:noFill/>
          <a:ln w="0">
            <a:noFill/>
            <a:prstDash val="solid"/>
          </a:ln>
        </p:spPr>
        <p:txBody>
          <a:bodyPr wrap="square" lIns="0" tIns="0" rIns="0" bIns="0" anchor="t">
            <a:normAutofit/>
          </a:bodyPr>
          <a:lstStyle/>
          <a:p>
            <a:pPr algn="ctr">
              <a:defRPr sz="1650" b="1">
                <a:solidFill>
                  <a:srgbClr val="8AA0A4"/>
                </a:solidFill>
                <a:latin typeface="Arial"/>
                <a:ea typeface="Arial"/>
                <a:cs typeface="Arial"/>
              </a:defRPr>
            </a:pPr>
            <a:r>
              <a:rPr sz="1650" b="1">
                <a:solidFill>
                  <a:srgbClr val="8AA0A4"/>
                </a:solidFill>
                <a:latin typeface="Arial"/>
              </a:rPr>
              <a:t>The strongest answer is honest about what is finished and what is not.</a:t>
            </a:r>
          </a:p>
        </p:txBody>
      </p:sp>
    </p:spTree>
    <p:extLst>
      <p:ext uri="{BB962C8B-B14F-4D97-AF65-F5344CB8AC3E}">
        <p14:creationId xmlns:p14="http://schemas.microsoft.com/office/powerpoint/2010/main" val="164735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B5AAF88-A684-4E3A-85CF-BDAB14C0CDC7}"/>
              </a:ext>
            </a:extLst>
          </p:cNvPr>
          <p:cNvSpPr>
            <a:spLocks noGrp="1"/>
          </p:cNvSpPr>
          <p:nvPr/>
        </p:nvSpPr>
        <p:spPr>
          <a:xfrm>
            <a:off x="1219200" y="3448050"/>
            <a:ext cx="9753600" cy="38100"/>
          </a:xfrm>
          <a:prstGeom prst="rect">
            <a:avLst/>
          </a:prstGeom>
          <a:solidFill>
            <a:srgbClr val="31444A"/>
          </a:solidFill>
          <a:ln w="0">
            <a:noFill/>
            <a:prstDash val="solid"/>
          </a:ln>
        </p:spPr>
        <p:txBody>
          <a:bodyPr/>
          <a:lstStyle/>
          <a:p>
            <a:endParaRPr lang="en-US"/>
          </a:p>
        </p:txBody>
      </p:sp>
      <p:sp>
        <p:nvSpPr>
          <p:cNvPr id="2" name="Oval 1">
            <a:extLst>
              <a:ext uri="{FF2B5EF4-FFF2-40B4-BE49-F238E27FC236}">
                <a16:creationId xmlns:a16="http://schemas.microsoft.com/office/drawing/2014/main" id="{2045012B-2D62-47D9-B5FD-F13DC67CB049}"/>
              </a:ext>
            </a:extLst>
          </p:cNvPr>
          <p:cNvSpPr>
            <a:spLocks noGrp="1"/>
          </p:cNvSpPr>
          <p:nvPr/>
        </p:nvSpPr>
        <p:spPr>
          <a:xfrm>
            <a:off x="1704975" y="3343275"/>
            <a:ext cx="247650" cy="247650"/>
          </a:xfrm>
          <a:prstGeom prst="ellipse">
            <a:avLst/>
          </a:prstGeom>
          <a:solidFill>
            <a:srgbClr val="F2A93B"/>
          </a:solidFill>
          <a:ln w="9525">
            <a:solidFill>
              <a:srgbClr val="F2A93B"/>
            </a:solidFill>
            <a:prstDash val="solid"/>
          </a:ln>
        </p:spPr>
        <p:txBody>
          <a:bodyPr/>
          <a:lstStyle/>
          <a:p>
            <a:endParaRPr lang="en-US"/>
          </a:p>
        </p:txBody>
      </p:sp>
      <p:sp>
        <p:nvSpPr>
          <p:cNvPr id="3" name="Oval 2">
            <a:extLst>
              <a:ext uri="{FF2B5EF4-FFF2-40B4-BE49-F238E27FC236}">
                <a16:creationId xmlns:a16="http://schemas.microsoft.com/office/drawing/2014/main" id="{85981116-61E3-4876-BC07-FD3C75E9170C}"/>
              </a:ext>
            </a:extLst>
          </p:cNvPr>
          <p:cNvSpPr>
            <a:spLocks noGrp="1"/>
          </p:cNvSpPr>
          <p:nvPr/>
        </p:nvSpPr>
        <p:spPr>
          <a:xfrm>
            <a:off x="5972175" y="3343275"/>
            <a:ext cx="247650" cy="247650"/>
          </a:xfrm>
          <a:prstGeom prst="ellipse">
            <a:avLst/>
          </a:prstGeom>
          <a:solidFill>
            <a:srgbClr val="47C6B7"/>
          </a:solidFill>
          <a:ln w="9525">
            <a:solidFill>
              <a:srgbClr val="47C6B7"/>
            </a:solidFill>
            <a:prstDash val="solid"/>
          </a:ln>
        </p:spPr>
        <p:txBody>
          <a:bodyPr/>
          <a:lstStyle/>
          <a:p>
            <a:endParaRPr lang="en-US"/>
          </a:p>
        </p:txBody>
      </p:sp>
      <p:sp>
        <p:nvSpPr>
          <p:cNvPr id="4" name="Oval 3">
            <a:extLst>
              <a:ext uri="{FF2B5EF4-FFF2-40B4-BE49-F238E27FC236}">
                <a16:creationId xmlns:a16="http://schemas.microsoft.com/office/drawing/2014/main" id="{9CED2EC0-B317-4DB8-9D50-BBA53FDCDE53}"/>
              </a:ext>
            </a:extLst>
          </p:cNvPr>
          <p:cNvSpPr>
            <a:spLocks noGrp="1"/>
          </p:cNvSpPr>
          <p:nvPr/>
        </p:nvSpPr>
        <p:spPr>
          <a:xfrm>
            <a:off x="10239375" y="3343275"/>
            <a:ext cx="247650" cy="247650"/>
          </a:xfrm>
          <a:prstGeom prst="ellipse">
            <a:avLst/>
          </a:prstGeom>
          <a:solidFill>
            <a:srgbClr val="D8F36A"/>
          </a:solidFill>
          <a:ln w="9525">
            <a:solidFill>
              <a:srgbClr val="D8F36A"/>
            </a:solidFill>
            <a:prstDash val="solid"/>
          </a:ln>
        </p:spPr>
        <p:txBody>
          <a:bodyPr/>
          <a:lstStyle/>
          <a:p>
            <a:endParaRPr lang="en-US"/>
          </a:p>
        </p:txBody>
      </p:sp>
      <p:sp>
        <p:nvSpPr>
          <p:cNvPr id="5" name="Rectangle 4">
            <a:extLst>
              <a:ext uri="{FF2B5EF4-FFF2-40B4-BE49-F238E27FC236}">
                <a16:creationId xmlns:a16="http://schemas.microsoft.com/office/drawing/2014/main" id="{DFED9D26-93E2-4AE0-8A43-B616BB3831B5}"/>
              </a:ext>
            </a:extLst>
          </p:cNvPr>
          <p:cNvSpPr>
            <a:spLocks noGrp="1"/>
          </p:cNvSpPr>
          <p:nvPr/>
        </p:nvSpPr>
        <p:spPr>
          <a:xfrm>
            <a:off x="1409700" y="2114550"/>
            <a:ext cx="9372600" cy="876300"/>
          </a:xfrm>
          <a:prstGeom prst="rect">
            <a:avLst/>
          </a:prstGeom>
          <a:noFill/>
          <a:ln w="0">
            <a:noFill/>
            <a:prstDash val="solid"/>
          </a:ln>
        </p:spPr>
        <p:txBody>
          <a:bodyPr wrap="square" lIns="0" tIns="0" rIns="0" bIns="0" anchor="t">
            <a:normAutofit fontScale="90909"/>
          </a:bodyPr>
          <a:lstStyle/>
          <a:p>
            <a:pPr algn="ctr">
              <a:defRPr sz="3825" b="1">
                <a:solidFill>
                  <a:srgbClr val="E8F0EF"/>
                </a:solidFill>
                <a:latin typeface="Arial"/>
                <a:ea typeface="Arial"/>
                <a:cs typeface="Arial"/>
              </a:defRPr>
            </a:pPr>
            <a:r>
              <a:rPr sz="3825" b="1">
                <a:solidFill>
                  <a:srgbClr val="E8F0EF"/>
                </a:solidFill>
                <a:latin typeface="Arial"/>
                <a:ea typeface="Arial"/>
                <a:cs typeface="Arial"/>
              </a:rPr>
              <a:t>Every answer is evidence you can replay.</a:t>
            </a:r>
          </a:p>
        </p:txBody>
      </p:sp>
      <p:sp>
        <p:nvSpPr>
          <p:cNvPr id="6" name="Rectangle 5">
            <a:extLst>
              <a:ext uri="{FF2B5EF4-FFF2-40B4-BE49-F238E27FC236}">
                <a16:creationId xmlns:a16="http://schemas.microsoft.com/office/drawing/2014/main" id="{9487E6C1-5D81-4753-A5C4-E85F20FBC59D}"/>
              </a:ext>
            </a:extLst>
          </p:cNvPr>
          <p:cNvSpPr>
            <a:spLocks noGrp="1"/>
          </p:cNvSpPr>
          <p:nvPr/>
        </p:nvSpPr>
        <p:spPr>
          <a:xfrm>
            <a:off x="2362200" y="4114800"/>
            <a:ext cx="7467600" cy="628650"/>
          </a:xfrm>
          <a:prstGeom prst="rect">
            <a:avLst/>
          </a:prstGeom>
          <a:noFill/>
          <a:ln w="0">
            <a:noFill/>
            <a:prstDash val="solid"/>
          </a:ln>
        </p:spPr>
        <p:txBody>
          <a:bodyPr wrap="square" lIns="0" tIns="0" rIns="0" bIns="0" anchor="t">
            <a:normAutofit/>
          </a:bodyPr>
          <a:lstStyle/>
          <a:p>
            <a:pPr algn="ctr">
              <a:defRPr sz="1875" b="0">
                <a:solidFill>
                  <a:srgbClr val="8AA0A4"/>
                </a:solidFill>
                <a:latin typeface="Arial"/>
                <a:ea typeface="Arial"/>
                <a:cs typeface="Arial"/>
              </a:defRPr>
            </a:pPr>
            <a:r>
              <a:rPr sz="1875" b="0">
                <a:solidFill>
                  <a:srgbClr val="8AA0A4"/>
                </a:solidFill>
                <a:latin typeface="Arial"/>
              </a:rPr>
              <a:t>One system, and it can rebuild itself from the evidence it kept.</a:t>
            </a:r>
          </a:p>
        </p:txBody>
      </p:sp>
      <p:sp>
        <p:nvSpPr>
          <p:cNvPr id="7" name="Rectangle 6">
            <a:extLst>
              <a:ext uri="{FF2B5EF4-FFF2-40B4-BE49-F238E27FC236}">
                <a16:creationId xmlns:a16="http://schemas.microsoft.com/office/drawing/2014/main" id="{4A39A1DD-51F2-4B96-95ED-D5C820908247}"/>
              </a:ext>
            </a:extLst>
          </p:cNvPr>
          <p:cNvSpPr>
            <a:spLocks noGrp="1"/>
          </p:cNvSpPr>
          <p:nvPr/>
        </p:nvSpPr>
        <p:spPr>
          <a:xfrm>
            <a:off x="685800" y="6115050"/>
            <a:ext cx="2286000" cy="266700"/>
          </a:xfrm>
          <a:prstGeom prst="rect">
            <a:avLst/>
          </a:prstGeom>
          <a:noFill/>
          <a:ln w="0">
            <a:noFill/>
            <a:prstDash val="solid"/>
          </a:ln>
        </p:spPr>
        <p:txBody>
          <a:bodyPr wrap="square" lIns="0" tIns="0" rIns="0" bIns="0" anchor="t">
            <a:normAutofit/>
          </a:bodyPr>
          <a:lstStyle/>
          <a:p>
            <a:pPr algn="l">
              <a:defRPr sz="1200" b="1">
                <a:solidFill>
                  <a:srgbClr val="47C6B7"/>
                </a:solidFill>
                <a:latin typeface="Arial"/>
                <a:ea typeface="Arial"/>
                <a:cs typeface="Arial"/>
              </a:defRPr>
            </a:pPr>
            <a:r>
              <a:rPr sz="1200" b="1">
                <a:solidFill>
                  <a:srgbClr val="47C6B7"/>
                </a:solidFill>
                <a:latin typeface="Arial"/>
                <a:ea typeface="Arial"/>
                <a:cs typeface="Arial"/>
              </a:rPr>
              <a:t>MeetingMiner</a:t>
            </a:r>
          </a:p>
        </p:txBody>
      </p:sp>
    </p:spTree>
    <p:extLst>
      <p:ext uri="{BB962C8B-B14F-4D97-AF65-F5344CB8AC3E}">
        <p14:creationId xmlns:p14="http://schemas.microsoft.com/office/powerpoint/2010/main" val="19617674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DC5C6345-AEFA-44B1-B7CF-24A2A39A9F20}"/>
              </a:ext>
            </a:extLst>
          </p:cNvPr>
          <p:cNvSpPr>
            <a:spLocks noGrp="1"/>
          </p:cNvSpPr>
          <p:nvPr/>
        </p:nvSpPr>
        <p:spPr>
          <a:xfrm>
            <a:off x="0" y="0"/>
            <a:ext cx="12192000" cy="66675"/>
          </a:xfrm>
          <a:prstGeom prst="rect">
            <a:avLst/>
          </a:prstGeom>
          <a:solidFill>
            <a:srgbClr val="3B82A6"/>
          </a:solidFill>
          <a:ln w="0">
            <a:noFill/>
            <a:prstDash val="solid"/>
          </a:ln>
        </p:spPr>
        <p:txBody>
          <a:bodyPr/>
          <a:lstStyle/>
          <a:p>
            <a:endParaRPr lang="en-US"/>
          </a:p>
        </p:txBody>
      </p:sp>
      <p:sp>
        <p:nvSpPr>
          <p:cNvPr id="2" name="section-18">
            <a:extLst>
              <a:ext uri="{FF2B5EF4-FFF2-40B4-BE49-F238E27FC236}">
                <a16:creationId xmlns:a16="http://schemas.microsoft.com/office/drawing/2014/main" id="{E7877D8E-B8FA-4217-B298-2994C3CBC260}"/>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3B82A6"/>
                </a:solidFill>
                <a:latin typeface="Arial"/>
                <a:ea typeface="Arial"/>
                <a:cs typeface="Arial"/>
              </a:defRPr>
            </a:pPr>
            <a:r>
              <a:rPr sz="975" b="1">
                <a:solidFill>
                  <a:srgbClr val="3B82A6"/>
                </a:solidFill>
                <a:latin typeface="Arial"/>
                <a:ea typeface="Arial"/>
                <a:cs typeface="Arial"/>
              </a:rPr>
              <a:t>APPENDIX · STACK DECODER</a:t>
            </a:r>
          </a:p>
        </p:txBody>
      </p:sp>
      <p:sp>
        <p:nvSpPr>
          <p:cNvPr id="3" name="Rectangle 2">
            <a:extLst>
              <a:ext uri="{FF2B5EF4-FFF2-40B4-BE49-F238E27FC236}">
                <a16:creationId xmlns:a16="http://schemas.microsoft.com/office/drawing/2014/main" id="{B7FB5DA0-89AB-41F9-8E82-5E633CEFB5D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10</a:t>
            </a:r>
          </a:p>
        </p:txBody>
      </p:sp>
      <p:sp>
        <p:nvSpPr>
          <p:cNvPr id="4" name="Rectangle 3">
            <a:extLst>
              <a:ext uri="{FF2B5EF4-FFF2-40B4-BE49-F238E27FC236}">
                <a16:creationId xmlns:a16="http://schemas.microsoft.com/office/drawing/2014/main" id="{0044A154-BC65-4B85-9C96-514E58992759}"/>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B1BB91E6-335A-4DDB-8C87-56669F08D1E7}"/>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The stack, translated into plain English.</a:t>
            </a:r>
          </a:p>
        </p:txBody>
      </p:sp>
      <p:sp>
        <p:nvSpPr>
          <p:cNvPr id="6" name="Rectangle 5">
            <a:extLst>
              <a:ext uri="{FF2B5EF4-FFF2-40B4-BE49-F238E27FC236}">
                <a16:creationId xmlns:a16="http://schemas.microsoft.com/office/drawing/2014/main" id="{F95ADD42-0DD6-4132-AEA0-0610EEF2A744}"/>
              </a:ext>
            </a:extLst>
          </p:cNvPr>
          <p:cNvSpPr>
            <a:spLocks noGrp="1"/>
          </p:cNvSpPr>
          <p:nvPr/>
        </p:nvSpPr>
        <p:spPr>
          <a:xfrm>
            <a:off x="685800" y="16764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BM25</a:t>
            </a:r>
          </a:p>
        </p:txBody>
      </p:sp>
      <p:sp>
        <p:nvSpPr>
          <p:cNvPr id="7" name="Rectangle 6">
            <a:extLst>
              <a:ext uri="{FF2B5EF4-FFF2-40B4-BE49-F238E27FC236}">
                <a16:creationId xmlns:a16="http://schemas.microsoft.com/office/drawing/2014/main" id="{6BDBAB77-B8F3-452F-9866-E590D5243DF8}"/>
              </a:ext>
            </a:extLst>
          </p:cNvPr>
          <p:cNvSpPr>
            <a:spLocks noGrp="1"/>
          </p:cNvSpPr>
          <p:nvPr/>
        </p:nvSpPr>
        <p:spPr>
          <a:xfrm>
            <a:off x="6858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Exact-word search. Strong when the question reuses the transcript's wording.</a:t>
            </a:r>
          </a:p>
        </p:txBody>
      </p:sp>
      <p:sp>
        <p:nvSpPr>
          <p:cNvPr id="8" name="Rectangle 7">
            <a:extLst>
              <a:ext uri="{FF2B5EF4-FFF2-40B4-BE49-F238E27FC236}">
                <a16:creationId xmlns:a16="http://schemas.microsoft.com/office/drawing/2014/main" id="{AD030224-CB14-44A6-91DA-0B154FDCD93E}"/>
              </a:ext>
            </a:extLst>
          </p:cNvPr>
          <p:cNvSpPr>
            <a:spLocks noGrp="1"/>
          </p:cNvSpPr>
          <p:nvPr/>
        </p:nvSpPr>
        <p:spPr>
          <a:xfrm>
            <a:off x="685800" y="2876550"/>
            <a:ext cx="4762500" cy="19050"/>
          </a:xfrm>
          <a:prstGeom prst="rect">
            <a:avLst/>
          </a:prstGeom>
          <a:solidFill>
            <a:srgbClr val="31444A"/>
          </a:solidFill>
          <a:ln w="0">
            <a:noFill/>
            <a:prstDash val="solid"/>
          </a:ln>
        </p:spPr>
        <p:txBody>
          <a:bodyPr/>
          <a:lstStyle/>
          <a:p>
            <a:endParaRPr lang="en-US"/>
          </a:p>
        </p:txBody>
      </p:sp>
      <p:sp>
        <p:nvSpPr>
          <p:cNvPr id="9" name="Rectangle 8">
            <a:extLst>
              <a:ext uri="{FF2B5EF4-FFF2-40B4-BE49-F238E27FC236}">
                <a16:creationId xmlns:a16="http://schemas.microsoft.com/office/drawing/2014/main" id="{A26FE8DA-5A47-48F1-B4D6-ECD72A612922}"/>
              </a:ext>
            </a:extLst>
          </p:cNvPr>
          <p:cNvSpPr>
            <a:spLocks noGrp="1"/>
          </p:cNvSpPr>
          <p:nvPr/>
        </p:nvSpPr>
        <p:spPr>
          <a:xfrm>
            <a:off x="6096000" y="1676400"/>
            <a:ext cx="2000250" cy="361950"/>
          </a:xfrm>
          <a:prstGeom prst="rect">
            <a:avLst/>
          </a:prstGeom>
          <a:noFill/>
          <a:ln w="0">
            <a:noFill/>
            <a:prstDash val="solid"/>
          </a:ln>
        </p:spPr>
        <p:txBody>
          <a:bodyPr wrap="square" lIns="0" tIns="0" rIns="0" bIns="0" anchor="t">
            <a:normAutofit/>
          </a:bodyPr>
          <a:lstStyle/>
          <a:p>
            <a:pPr algn="l">
              <a:defRPr sz="1800" b="1">
                <a:solidFill>
                  <a:srgbClr val="47C6B7"/>
                </a:solidFill>
                <a:latin typeface="Arial"/>
                <a:ea typeface="Arial"/>
                <a:cs typeface="Arial"/>
              </a:defRPr>
            </a:pPr>
            <a:r>
              <a:rPr sz="1800" b="1">
                <a:solidFill>
                  <a:srgbClr val="47C6B7"/>
                </a:solidFill>
                <a:latin typeface="Arial"/>
                <a:ea typeface="Arial"/>
                <a:cs typeface="Arial"/>
              </a:rPr>
              <a:t>Embeddings</a:t>
            </a:r>
          </a:p>
        </p:txBody>
      </p:sp>
      <p:sp>
        <p:nvSpPr>
          <p:cNvPr id="10" name="Rectangle 9">
            <a:extLst>
              <a:ext uri="{FF2B5EF4-FFF2-40B4-BE49-F238E27FC236}">
                <a16:creationId xmlns:a16="http://schemas.microsoft.com/office/drawing/2014/main" id="{7BA54AE7-3C85-4790-BED0-7740DE2F0206}"/>
              </a:ext>
            </a:extLst>
          </p:cNvPr>
          <p:cNvSpPr>
            <a:spLocks noGrp="1"/>
          </p:cNvSpPr>
          <p:nvPr/>
        </p:nvSpPr>
        <p:spPr>
          <a:xfrm>
            <a:off x="6096000" y="20955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Numbers that represent meaning. Useful when the user paraphrases.</a:t>
            </a:r>
          </a:p>
        </p:txBody>
      </p:sp>
      <p:sp>
        <p:nvSpPr>
          <p:cNvPr id="11" name="Rectangle 10">
            <a:extLst>
              <a:ext uri="{FF2B5EF4-FFF2-40B4-BE49-F238E27FC236}">
                <a16:creationId xmlns:a16="http://schemas.microsoft.com/office/drawing/2014/main" id="{C6314F6E-507E-4E09-9937-897D25B2BF35}"/>
              </a:ext>
            </a:extLst>
          </p:cNvPr>
          <p:cNvSpPr>
            <a:spLocks noGrp="1"/>
          </p:cNvSpPr>
          <p:nvPr/>
        </p:nvSpPr>
        <p:spPr>
          <a:xfrm>
            <a:off x="6096000" y="2876550"/>
            <a:ext cx="4762500" cy="19050"/>
          </a:xfrm>
          <a:prstGeom prst="rect">
            <a:avLst/>
          </a:prstGeom>
          <a:solidFill>
            <a:srgbClr val="31444A"/>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9AF4DB1-7D6B-4B24-A04D-761B729E2DA6}"/>
              </a:ext>
            </a:extLst>
          </p:cNvPr>
          <p:cNvSpPr>
            <a:spLocks noGrp="1"/>
          </p:cNvSpPr>
          <p:nvPr/>
        </p:nvSpPr>
        <p:spPr>
          <a:xfrm>
            <a:off x="685800" y="3086100"/>
            <a:ext cx="2000250" cy="361950"/>
          </a:xfrm>
          <a:prstGeom prst="rect">
            <a:avLst/>
          </a:prstGeom>
          <a:noFill/>
          <a:ln w="0">
            <a:noFill/>
            <a:prstDash val="solid"/>
          </a:ln>
        </p:spPr>
        <p:txBody>
          <a:bodyPr wrap="square" lIns="0" tIns="0" rIns="0" bIns="0" anchor="t">
            <a:normAutofit/>
          </a:bodyPr>
          <a:lstStyle/>
          <a:p>
            <a:pPr algn="l">
              <a:defRPr sz="1800" b="1">
                <a:solidFill>
                  <a:srgbClr val="A88BFF"/>
                </a:solidFill>
                <a:latin typeface="Arial"/>
                <a:ea typeface="Arial"/>
                <a:cs typeface="Arial"/>
              </a:defRPr>
            </a:pPr>
            <a:r>
              <a:rPr sz="1800" b="1">
                <a:solidFill>
                  <a:srgbClr val="A88BFF"/>
                </a:solidFill>
                <a:latin typeface="Arial"/>
                <a:ea typeface="Arial"/>
                <a:cs typeface="Arial"/>
              </a:rPr>
              <a:t>RRF</a:t>
            </a:r>
          </a:p>
        </p:txBody>
      </p:sp>
      <p:sp>
        <p:nvSpPr>
          <p:cNvPr id="13" name="Rectangle 12">
            <a:extLst>
              <a:ext uri="{FF2B5EF4-FFF2-40B4-BE49-F238E27FC236}">
                <a16:creationId xmlns:a16="http://schemas.microsoft.com/office/drawing/2014/main" id="{77C8CCED-D0D7-4F4D-8B43-1117B4737275}"/>
              </a:ext>
            </a:extLst>
          </p:cNvPr>
          <p:cNvSpPr>
            <a:spLocks noGrp="1"/>
          </p:cNvSpPr>
          <p:nvPr/>
        </p:nvSpPr>
        <p:spPr>
          <a:xfrm>
            <a:off x="6858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A fair way to merge two ranked lists when their scores cannot be compared.</a:t>
            </a:r>
          </a:p>
        </p:txBody>
      </p:sp>
      <p:sp>
        <p:nvSpPr>
          <p:cNvPr id="14" name="Rectangle 13">
            <a:extLst>
              <a:ext uri="{FF2B5EF4-FFF2-40B4-BE49-F238E27FC236}">
                <a16:creationId xmlns:a16="http://schemas.microsoft.com/office/drawing/2014/main" id="{3353AAF3-1DBA-412B-A0AB-CC524072E010}"/>
              </a:ext>
            </a:extLst>
          </p:cNvPr>
          <p:cNvSpPr>
            <a:spLocks noGrp="1"/>
          </p:cNvSpPr>
          <p:nvPr/>
        </p:nvSpPr>
        <p:spPr>
          <a:xfrm>
            <a:off x="685800" y="4286250"/>
            <a:ext cx="4762500" cy="19050"/>
          </a:xfrm>
          <a:prstGeom prst="rect">
            <a:avLst/>
          </a:prstGeom>
          <a:solidFill>
            <a:srgbClr val="31444A"/>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CB14629-054A-4D7D-B6D7-FA92F44A42C9}"/>
              </a:ext>
            </a:extLst>
          </p:cNvPr>
          <p:cNvSpPr>
            <a:spLocks noGrp="1"/>
          </p:cNvSpPr>
          <p:nvPr/>
        </p:nvSpPr>
        <p:spPr>
          <a:xfrm>
            <a:off x="6096000" y="3086100"/>
            <a:ext cx="2000250" cy="361950"/>
          </a:xfrm>
          <a:prstGeom prst="rect">
            <a:avLst/>
          </a:prstGeom>
          <a:noFill/>
          <a:ln w="0">
            <a:noFill/>
            <a:prstDash val="solid"/>
          </a:ln>
        </p:spPr>
        <p:txBody>
          <a:bodyPr wrap="square" lIns="0" tIns="0" rIns="0" bIns="0" anchor="t">
            <a:normAutofit/>
          </a:bodyPr>
          <a:lstStyle/>
          <a:p>
            <a:pPr algn="l">
              <a:defRPr sz="1800" b="1">
                <a:solidFill>
                  <a:srgbClr val="F2A93B"/>
                </a:solidFill>
                <a:latin typeface="Arial"/>
                <a:ea typeface="Arial"/>
                <a:cs typeface="Arial"/>
              </a:defRPr>
            </a:pPr>
            <a:r>
              <a:rPr sz="1800" b="1">
                <a:solidFill>
                  <a:srgbClr val="F2A93B"/>
                </a:solidFill>
                <a:latin typeface="Arial"/>
                <a:ea typeface="Arial"/>
                <a:cs typeface="Arial"/>
              </a:rPr>
              <a:t>Meilisearch</a:t>
            </a:r>
          </a:p>
        </p:txBody>
      </p:sp>
      <p:sp>
        <p:nvSpPr>
          <p:cNvPr id="16" name="Rectangle 15">
            <a:extLst>
              <a:ext uri="{FF2B5EF4-FFF2-40B4-BE49-F238E27FC236}">
                <a16:creationId xmlns:a16="http://schemas.microsoft.com/office/drawing/2014/main" id="{DE987C0D-D1D6-4BEF-BDA9-4D247FD08A45}"/>
              </a:ext>
            </a:extLst>
          </p:cNvPr>
          <p:cNvSpPr>
            <a:spLocks noGrp="1"/>
          </p:cNvSpPr>
          <p:nvPr/>
        </p:nvSpPr>
        <p:spPr>
          <a:xfrm>
            <a:off x="6096000" y="35052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search copy: exact words and meaning in one place, rebuilt from Postgres, never the truth.</a:t>
            </a:r>
          </a:p>
        </p:txBody>
      </p:sp>
      <p:sp>
        <p:nvSpPr>
          <p:cNvPr id="17" name="Rectangle 16">
            <a:extLst>
              <a:ext uri="{FF2B5EF4-FFF2-40B4-BE49-F238E27FC236}">
                <a16:creationId xmlns:a16="http://schemas.microsoft.com/office/drawing/2014/main" id="{736B464E-3241-425C-B85D-236940C8CF51}"/>
              </a:ext>
            </a:extLst>
          </p:cNvPr>
          <p:cNvSpPr>
            <a:spLocks noGrp="1"/>
          </p:cNvSpPr>
          <p:nvPr/>
        </p:nvSpPr>
        <p:spPr>
          <a:xfrm>
            <a:off x="6096000" y="4286250"/>
            <a:ext cx="47625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5E3EFDDD-6A55-4944-8E60-6415FE626FBC}"/>
              </a:ext>
            </a:extLst>
          </p:cNvPr>
          <p:cNvSpPr>
            <a:spLocks noGrp="1"/>
          </p:cNvSpPr>
          <p:nvPr/>
        </p:nvSpPr>
        <p:spPr>
          <a:xfrm>
            <a:off x="685800" y="4495800"/>
            <a:ext cx="2000250" cy="361950"/>
          </a:xfrm>
          <a:prstGeom prst="rect">
            <a:avLst/>
          </a:prstGeom>
          <a:noFill/>
          <a:ln w="0">
            <a:noFill/>
            <a:prstDash val="solid"/>
          </a:ln>
        </p:spPr>
        <p:txBody>
          <a:bodyPr wrap="square" lIns="0" tIns="0" rIns="0" bIns="0" anchor="t">
            <a:normAutofit fontScale="91540"/>
          </a:bodyPr>
          <a:lstStyle/>
          <a:p>
            <a:pPr algn="l">
              <a:defRPr sz="1800" b="1">
                <a:solidFill>
                  <a:srgbClr val="47C6B7"/>
                </a:solidFill>
                <a:latin typeface="Arial"/>
                <a:ea typeface="Arial"/>
                <a:cs typeface="Arial"/>
              </a:defRPr>
            </a:pPr>
            <a:r>
              <a:rPr sz="1800" b="1">
                <a:solidFill>
                  <a:srgbClr val="47C6B7"/>
                </a:solidFill>
                <a:latin typeface="Arial"/>
              </a:rPr>
              <a:t>Postgres (the truth)</a:t>
            </a:r>
          </a:p>
        </p:txBody>
      </p:sp>
      <p:sp>
        <p:nvSpPr>
          <p:cNvPr id="19" name="Rectangle 18">
            <a:extLst>
              <a:ext uri="{FF2B5EF4-FFF2-40B4-BE49-F238E27FC236}">
                <a16:creationId xmlns:a16="http://schemas.microsoft.com/office/drawing/2014/main" id="{01709D8B-C121-4FBD-8DFB-85A678AA77B9}"/>
              </a:ext>
            </a:extLst>
          </p:cNvPr>
          <p:cNvSpPr>
            <a:spLocks noGrp="1"/>
          </p:cNvSpPr>
          <p:nvPr/>
        </p:nvSpPr>
        <p:spPr>
          <a:xfrm>
            <a:off x="6858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one database that decides what is real. Everything else is a copy.</a:t>
            </a:r>
          </a:p>
        </p:txBody>
      </p:sp>
      <p:sp>
        <p:nvSpPr>
          <p:cNvPr id="20" name="Rectangle 19">
            <a:extLst>
              <a:ext uri="{FF2B5EF4-FFF2-40B4-BE49-F238E27FC236}">
                <a16:creationId xmlns:a16="http://schemas.microsoft.com/office/drawing/2014/main" id="{FB49E875-7FA7-49CC-8E9C-E13CA6D36DE6}"/>
              </a:ext>
            </a:extLst>
          </p:cNvPr>
          <p:cNvSpPr>
            <a:spLocks noGrp="1"/>
          </p:cNvSpPr>
          <p:nvPr/>
        </p:nvSpPr>
        <p:spPr>
          <a:xfrm>
            <a:off x="6096000" y="4495800"/>
            <a:ext cx="2000250" cy="361950"/>
          </a:xfrm>
          <a:prstGeom prst="rect">
            <a:avLst/>
          </a:prstGeom>
          <a:noFill/>
          <a:ln w="0">
            <a:noFill/>
            <a:prstDash val="solid"/>
          </a:ln>
        </p:spPr>
        <p:txBody>
          <a:bodyPr wrap="square" lIns="0" tIns="0" rIns="0" bIns="0" anchor="t">
            <a:normAutofit/>
          </a:bodyPr>
          <a:lstStyle/>
          <a:p>
            <a:pPr algn="l">
              <a:defRPr sz="1800" b="1">
                <a:solidFill>
                  <a:srgbClr val="3B82A6"/>
                </a:solidFill>
                <a:latin typeface="Arial"/>
                <a:ea typeface="Arial"/>
                <a:cs typeface="Arial"/>
              </a:defRPr>
            </a:pPr>
            <a:r>
              <a:rPr sz="1800" b="1">
                <a:solidFill>
                  <a:srgbClr val="3B82A6"/>
                </a:solidFill>
                <a:latin typeface="Arial"/>
                <a:ea typeface="Arial"/>
                <a:cs typeface="Arial"/>
              </a:rPr>
              <a:t>SSE</a:t>
            </a:r>
          </a:p>
        </p:txBody>
      </p:sp>
      <p:sp>
        <p:nvSpPr>
          <p:cNvPr id="21" name="Rectangle 20">
            <a:extLst>
              <a:ext uri="{FF2B5EF4-FFF2-40B4-BE49-F238E27FC236}">
                <a16:creationId xmlns:a16="http://schemas.microsoft.com/office/drawing/2014/main" id="{618F9307-E9FF-4878-88C4-C9D73310A142}"/>
              </a:ext>
            </a:extLst>
          </p:cNvPr>
          <p:cNvSpPr>
            <a:spLocks noGrp="1"/>
          </p:cNvSpPr>
          <p:nvPr/>
        </p:nvSpPr>
        <p:spPr>
          <a:xfrm>
            <a:off x="6096000" y="4914900"/>
            <a:ext cx="4762500" cy="7429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ea typeface="Arial"/>
                <a:cs typeface="Arial"/>
              </a:rPr>
              <a:t>One HTTP connection that keeps sending progress or answer updates to the browser.</a:t>
            </a:r>
          </a:p>
        </p:txBody>
      </p:sp>
    </p:spTree>
    <p:extLst>
      <p:ext uri="{BB962C8B-B14F-4D97-AF65-F5344CB8AC3E}">
        <p14:creationId xmlns:p14="http://schemas.microsoft.com/office/powerpoint/2010/main" val="5160401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ECFF4186-3794-4C78-93CB-8478E4786F16}"/>
              </a:ext>
            </a:extLst>
          </p:cNvPr>
          <p:cNvSpPr>
            <a:spLocks noGrp="1"/>
          </p:cNvSpPr>
          <p:nvPr/>
        </p:nvSpPr>
        <p:spPr>
          <a:xfrm>
            <a:off x="0" y="0"/>
            <a:ext cx="12192000" cy="66675"/>
          </a:xfrm>
          <a:prstGeom prst="rect">
            <a:avLst/>
          </a:prstGeom>
          <a:solidFill>
            <a:srgbClr val="F2A93B"/>
          </a:solidFill>
          <a:ln w="0">
            <a:noFill/>
            <a:prstDash val="solid"/>
          </a:ln>
        </p:spPr>
        <p:txBody>
          <a:bodyPr/>
          <a:lstStyle/>
          <a:p>
            <a:endParaRPr lang="en-US"/>
          </a:p>
        </p:txBody>
      </p:sp>
      <p:sp>
        <p:nvSpPr>
          <p:cNvPr id="2" name="section-19">
            <a:extLst>
              <a:ext uri="{FF2B5EF4-FFF2-40B4-BE49-F238E27FC236}">
                <a16:creationId xmlns:a16="http://schemas.microsoft.com/office/drawing/2014/main" id="{26EA9BDB-9DC6-4475-B4AC-047B2EE974E9}"/>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F2A93B"/>
                </a:solidFill>
                <a:latin typeface="Arial"/>
                <a:ea typeface="Arial"/>
                <a:cs typeface="Arial"/>
              </a:defRPr>
            </a:pPr>
            <a:r>
              <a:rPr sz="975" b="1">
                <a:solidFill>
                  <a:srgbClr val="F2A93B"/>
                </a:solidFill>
                <a:latin typeface="Arial"/>
                <a:ea typeface="Arial"/>
                <a:cs typeface="Arial"/>
              </a:rPr>
              <a:t>APPENDIX · RETRIEVAL</a:t>
            </a:r>
          </a:p>
        </p:txBody>
      </p:sp>
      <p:sp>
        <p:nvSpPr>
          <p:cNvPr id="3" name="Rectangle 2">
            <a:extLst>
              <a:ext uri="{FF2B5EF4-FFF2-40B4-BE49-F238E27FC236}">
                <a16:creationId xmlns:a16="http://schemas.microsoft.com/office/drawing/2014/main" id="{B9A64E76-6C51-4F12-BF17-A658D5BDA69F}"/>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11</a:t>
            </a:r>
          </a:p>
        </p:txBody>
      </p:sp>
      <p:sp>
        <p:nvSpPr>
          <p:cNvPr id="4" name="Rectangle 3">
            <a:extLst>
              <a:ext uri="{FF2B5EF4-FFF2-40B4-BE49-F238E27FC236}">
                <a16:creationId xmlns:a16="http://schemas.microsoft.com/office/drawing/2014/main" id="{FDA82AE6-2697-45A4-838F-3442988B0ADF}"/>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078337C1-61B6-4AED-8EEB-341BE1A01D0D}"/>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Hybrid search was measured, not guessed.</a:t>
            </a:r>
          </a:p>
        </p:txBody>
      </p:sp>
      <p:sp>
        <p:nvSpPr>
          <p:cNvPr id="6" name="Rectangle 5">
            <a:extLst>
              <a:ext uri="{FF2B5EF4-FFF2-40B4-BE49-F238E27FC236}">
                <a16:creationId xmlns:a16="http://schemas.microsoft.com/office/drawing/2014/main" id="{37604AFC-9A25-4804-B899-64F54D6027D6}"/>
              </a:ext>
            </a:extLst>
          </p:cNvPr>
          <p:cNvSpPr>
            <a:spLocks noGrp="1"/>
          </p:cNvSpPr>
          <p:nvPr/>
        </p:nvSpPr>
        <p:spPr>
          <a:xfrm>
            <a:off x="704850" y="1219200"/>
            <a:ext cx="4000500" cy="266700"/>
          </a:xfrm>
          <a:prstGeom prst="rect">
            <a:avLst/>
          </a:prstGeom>
          <a:noFill/>
          <a:ln w="0">
            <a:noFill/>
            <a:prstDash val="solid"/>
          </a:ln>
        </p:spPr>
        <p:txBody>
          <a:bodyPr wrap="square" lIns="0" tIns="0" rIns="0" bIns="0" anchor="t">
            <a:normAutofit/>
          </a:bodyPr>
          <a:lstStyle/>
          <a:p>
            <a:pPr algn="l">
              <a:defRPr sz="1275" b="0">
                <a:solidFill>
                  <a:srgbClr val="8AA0A4"/>
                </a:solidFill>
                <a:latin typeface="Arial"/>
                <a:ea typeface="Arial"/>
                <a:cs typeface="Arial"/>
              </a:defRPr>
            </a:pPr>
            <a:r>
              <a:rPr sz="1275" b="0">
                <a:solidFill>
                  <a:srgbClr val="8AA0A4"/>
                </a:solidFill>
                <a:latin typeface="Arial"/>
              </a:rPr>
              <a:t>Recall@5 — was the right passage in the top five? · 303 test questions · 7,730 passages</a:t>
            </a:r>
          </a:p>
        </p:txBody>
      </p:sp>
      <p:sp>
        <p:nvSpPr>
          <p:cNvPr id="7" name="Rectangle 6">
            <a:extLst>
              <a:ext uri="{FF2B5EF4-FFF2-40B4-BE49-F238E27FC236}">
                <a16:creationId xmlns:a16="http://schemas.microsoft.com/office/drawing/2014/main" id="{8473150E-3A0E-48CD-B6F4-42EAF21A15A1}"/>
              </a:ext>
            </a:extLst>
          </p:cNvPr>
          <p:cNvSpPr>
            <a:spLocks noGrp="1"/>
          </p:cNvSpPr>
          <p:nvPr/>
        </p:nvSpPr>
        <p:spPr>
          <a:xfrm>
            <a:off x="1104900" y="4953000"/>
            <a:ext cx="7048500" cy="28575"/>
          </a:xfrm>
          <a:prstGeom prst="rect">
            <a:avLst/>
          </a:prstGeom>
          <a:solidFill>
            <a:srgbClr val="31444A"/>
          </a:solidFill>
          <a:ln w="0">
            <a:noFill/>
            <a:prstDash val="solid"/>
          </a:ln>
        </p:spPr>
        <p:txBody>
          <a:bodyPr/>
          <a:lstStyle/>
          <a:p>
            <a:endParaRPr lang="en-US"/>
          </a:p>
        </p:txBody>
      </p:sp>
      <p:sp>
        <p:nvSpPr>
          <p:cNvPr id="8" name="Rectangle 7">
            <a:extLst>
              <a:ext uri="{FF2B5EF4-FFF2-40B4-BE49-F238E27FC236}">
                <a16:creationId xmlns:a16="http://schemas.microsoft.com/office/drawing/2014/main" id="{19749D51-5776-4887-AA3E-0DF511BEFBC5}"/>
              </a:ext>
            </a:extLst>
          </p:cNvPr>
          <p:cNvSpPr>
            <a:spLocks noGrp="1"/>
          </p:cNvSpPr>
          <p:nvPr/>
        </p:nvSpPr>
        <p:spPr>
          <a:xfrm>
            <a:off x="1428750" y="3181350"/>
            <a:ext cx="895350" cy="1771650"/>
          </a:xfrm>
          <a:prstGeom prst="rect">
            <a:avLst/>
          </a:prstGeom>
          <a:solidFill>
            <a:srgbClr val="F2A93B"/>
          </a:solidFill>
          <a:ln w="0">
            <a:noFill/>
            <a:prstDash val="solid"/>
          </a:ln>
        </p:spPr>
        <p:txBody>
          <a:bodyPr/>
          <a:lstStyle/>
          <a:p>
            <a:endParaRPr lang="en-US"/>
          </a:p>
        </p:txBody>
      </p:sp>
      <p:sp>
        <p:nvSpPr>
          <p:cNvPr id="9" name="Rectangle 8">
            <a:extLst>
              <a:ext uri="{FF2B5EF4-FFF2-40B4-BE49-F238E27FC236}">
                <a16:creationId xmlns:a16="http://schemas.microsoft.com/office/drawing/2014/main" id="{FA682C0B-169F-4AEF-9DF7-9836B35E00E1}"/>
              </a:ext>
            </a:extLst>
          </p:cNvPr>
          <p:cNvSpPr>
            <a:spLocks noGrp="1"/>
          </p:cNvSpPr>
          <p:nvPr/>
        </p:nvSpPr>
        <p:spPr>
          <a:xfrm>
            <a:off x="1352550" y="2819400"/>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37.2%</a:t>
            </a:r>
          </a:p>
        </p:txBody>
      </p:sp>
      <p:sp>
        <p:nvSpPr>
          <p:cNvPr id="10" name="Rectangle 9">
            <a:extLst>
              <a:ext uri="{FF2B5EF4-FFF2-40B4-BE49-F238E27FC236}">
                <a16:creationId xmlns:a16="http://schemas.microsoft.com/office/drawing/2014/main" id="{19B4AA0F-C09B-405A-879A-31B80E3B2D4F}"/>
              </a:ext>
            </a:extLst>
          </p:cNvPr>
          <p:cNvSpPr>
            <a:spLocks noGrp="1"/>
          </p:cNvSpPr>
          <p:nvPr/>
        </p:nvSpPr>
        <p:spPr>
          <a:xfrm>
            <a:off x="106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BM25</a:t>
            </a:r>
          </a:p>
        </p:txBody>
      </p:sp>
      <p:sp>
        <p:nvSpPr>
          <p:cNvPr id="11" name="Rectangle 10">
            <a:extLst>
              <a:ext uri="{FF2B5EF4-FFF2-40B4-BE49-F238E27FC236}">
                <a16:creationId xmlns:a16="http://schemas.microsoft.com/office/drawing/2014/main" id="{206003BC-14FF-4328-AC64-0FA3F7913E2D}"/>
              </a:ext>
            </a:extLst>
          </p:cNvPr>
          <p:cNvSpPr>
            <a:spLocks noGrp="1"/>
          </p:cNvSpPr>
          <p:nvPr/>
        </p:nvSpPr>
        <p:spPr>
          <a:xfrm>
            <a:off x="3238500" y="3390900"/>
            <a:ext cx="895350" cy="1562100"/>
          </a:xfrm>
          <a:prstGeom prst="rect">
            <a:avLst/>
          </a:prstGeom>
          <a:solidFill>
            <a:srgbClr val="47C6B7"/>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3E1F38D-FBD2-4FE4-8D42-BE64B17EDA82}"/>
              </a:ext>
            </a:extLst>
          </p:cNvPr>
          <p:cNvSpPr>
            <a:spLocks noGrp="1"/>
          </p:cNvSpPr>
          <p:nvPr/>
        </p:nvSpPr>
        <p:spPr>
          <a:xfrm>
            <a:off x="3162300" y="30289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32.8%</a:t>
            </a:r>
          </a:p>
        </p:txBody>
      </p:sp>
      <p:sp>
        <p:nvSpPr>
          <p:cNvPr id="13" name="Rectangle 12">
            <a:extLst>
              <a:ext uri="{FF2B5EF4-FFF2-40B4-BE49-F238E27FC236}">
                <a16:creationId xmlns:a16="http://schemas.microsoft.com/office/drawing/2014/main" id="{B802AAF8-DF98-4618-8610-7DE22EA9D538}"/>
              </a:ext>
            </a:extLst>
          </p:cNvPr>
          <p:cNvSpPr>
            <a:spLocks noGrp="1"/>
          </p:cNvSpPr>
          <p:nvPr/>
        </p:nvSpPr>
        <p:spPr>
          <a:xfrm>
            <a:off x="287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exact · embedding</a:t>
            </a:r>
          </a:p>
        </p:txBody>
      </p:sp>
      <p:sp>
        <p:nvSpPr>
          <p:cNvPr id="14" name="Rectangle 13">
            <a:extLst>
              <a:ext uri="{FF2B5EF4-FFF2-40B4-BE49-F238E27FC236}">
                <a16:creationId xmlns:a16="http://schemas.microsoft.com/office/drawing/2014/main" id="{471C044A-28C7-47B3-A23F-10965A5A9816}"/>
              </a:ext>
            </a:extLst>
          </p:cNvPr>
          <p:cNvSpPr>
            <a:spLocks noGrp="1"/>
          </p:cNvSpPr>
          <p:nvPr/>
        </p:nvSpPr>
        <p:spPr>
          <a:xfrm>
            <a:off x="5238750" y="2924175"/>
            <a:ext cx="895350" cy="2028825"/>
          </a:xfrm>
          <a:prstGeom prst="rect">
            <a:avLst/>
          </a:prstGeom>
          <a:solidFill>
            <a:srgbClr val="F2A93B"/>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D0E6F79E-6675-41D1-A8DF-1E7A45B36AF6}"/>
              </a:ext>
            </a:extLst>
          </p:cNvPr>
          <p:cNvSpPr>
            <a:spLocks noGrp="1"/>
          </p:cNvSpPr>
          <p:nvPr/>
        </p:nvSpPr>
        <p:spPr>
          <a:xfrm>
            <a:off x="5162550" y="2562225"/>
            <a:ext cx="1047750" cy="285750"/>
          </a:xfrm>
          <a:prstGeom prst="rect">
            <a:avLst/>
          </a:prstGeom>
          <a:noFill/>
          <a:ln w="0">
            <a:noFill/>
            <a:prstDash val="solid"/>
          </a:ln>
        </p:spPr>
        <p:txBody>
          <a:bodyPr wrap="square" lIns="0" tIns="0" rIns="0" bIns="0" anchor="t">
            <a:normAutofit/>
          </a:bodyPr>
          <a:lstStyle/>
          <a:p>
            <a:pPr algn="ctr">
              <a:defRPr sz="1575" b="1">
                <a:solidFill>
                  <a:srgbClr val="F2A93B"/>
                </a:solidFill>
                <a:latin typeface="Arial"/>
                <a:ea typeface="Arial"/>
                <a:cs typeface="Arial"/>
              </a:defRPr>
            </a:pPr>
            <a:r>
              <a:rPr sz="1575" b="1">
                <a:solidFill>
                  <a:srgbClr val="F2A93B"/>
                </a:solidFill>
                <a:latin typeface="Arial"/>
                <a:ea typeface="Arial"/>
                <a:cs typeface="Arial"/>
              </a:rPr>
              <a:t>42.5%</a:t>
            </a:r>
          </a:p>
        </p:txBody>
      </p:sp>
      <p:sp>
        <p:nvSpPr>
          <p:cNvPr id="16" name="Rectangle 15">
            <a:extLst>
              <a:ext uri="{FF2B5EF4-FFF2-40B4-BE49-F238E27FC236}">
                <a16:creationId xmlns:a16="http://schemas.microsoft.com/office/drawing/2014/main" id="{6A7D88F3-103C-438A-9BBC-840135FA9E73}"/>
              </a:ext>
            </a:extLst>
          </p:cNvPr>
          <p:cNvSpPr>
            <a:spLocks noGrp="1"/>
          </p:cNvSpPr>
          <p:nvPr/>
        </p:nvSpPr>
        <p:spPr>
          <a:xfrm>
            <a:off x="487680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BM25</a:t>
            </a:r>
          </a:p>
        </p:txBody>
      </p:sp>
      <p:sp>
        <p:nvSpPr>
          <p:cNvPr id="17" name="Rectangle 16">
            <a:extLst>
              <a:ext uri="{FF2B5EF4-FFF2-40B4-BE49-F238E27FC236}">
                <a16:creationId xmlns:a16="http://schemas.microsoft.com/office/drawing/2014/main" id="{15A139BC-26C1-449D-9F91-10C0D6FFB6BB}"/>
              </a:ext>
            </a:extLst>
          </p:cNvPr>
          <p:cNvSpPr>
            <a:spLocks noGrp="1"/>
          </p:cNvSpPr>
          <p:nvPr/>
        </p:nvSpPr>
        <p:spPr>
          <a:xfrm>
            <a:off x="7048500" y="2095500"/>
            <a:ext cx="895350" cy="2857500"/>
          </a:xfrm>
          <a:prstGeom prst="rect">
            <a:avLst/>
          </a:prstGeom>
          <a:solidFill>
            <a:srgbClr val="47C6B7"/>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4410E99F-6E5E-48A7-9A68-1062AFE60153}"/>
              </a:ext>
            </a:extLst>
          </p:cNvPr>
          <p:cNvSpPr>
            <a:spLocks noGrp="1"/>
          </p:cNvSpPr>
          <p:nvPr/>
        </p:nvSpPr>
        <p:spPr>
          <a:xfrm>
            <a:off x="6972300" y="1733550"/>
            <a:ext cx="1047750" cy="285750"/>
          </a:xfrm>
          <a:prstGeom prst="rect">
            <a:avLst/>
          </a:prstGeom>
          <a:noFill/>
          <a:ln w="0">
            <a:noFill/>
            <a:prstDash val="solid"/>
          </a:ln>
        </p:spPr>
        <p:txBody>
          <a:bodyPr wrap="square" lIns="0" tIns="0" rIns="0" bIns="0" anchor="t">
            <a:normAutofit/>
          </a:bodyPr>
          <a:lstStyle/>
          <a:p>
            <a:pPr algn="ctr">
              <a:defRPr sz="1575" b="1">
                <a:solidFill>
                  <a:srgbClr val="47C6B7"/>
                </a:solidFill>
                <a:latin typeface="Arial"/>
                <a:ea typeface="Arial"/>
                <a:cs typeface="Arial"/>
              </a:defRPr>
            </a:pPr>
            <a:r>
              <a:rPr sz="1575" b="1">
                <a:solidFill>
                  <a:srgbClr val="47C6B7"/>
                </a:solidFill>
                <a:latin typeface="Arial"/>
                <a:ea typeface="Arial"/>
                <a:cs typeface="Arial"/>
              </a:rPr>
              <a:t>60.0%</a:t>
            </a:r>
          </a:p>
        </p:txBody>
      </p:sp>
      <p:sp>
        <p:nvSpPr>
          <p:cNvPr id="19" name="Rectangle 18">
            <a:extLst>
              <a:ext uri="{FF2B5EF4-FFF2-40B4-BE49-F238E27FC236}">
                <a16:creationId xmlns:a16="http://schemas.microsoft.com/office/drawing/2014/main" id="{BBD63D38-688E-4BAC-92B7-92DE52C51735}"/>
              </a:ext>
            </a:extLst>
          </p:cNvPr>
          <p:cNvSpPr>
            <a:spLocks noGrp="1"/>
          </p:cNvSpPr>
          <p:nvPr/>
        </p:nvSpPr>
        <p:spPr>
          <a:xfrm>
            <a:off x="6686550" y="5105400"/>
            <a:ext cx="1619250" cy="285750"/>
          </a:xfrm>
          <a:prstGeom prst="rect">
            <a:avLst/>
          </a:prstGeom>
          <a:noFill/>
          <a:ln w="0">
            <a:noFill/>
            <a:prstDash val="solid"/>
          </a:ln>
        </p:spPr>
        <p:txBody>
          <a:bodyPr wrap="square" lIns="0" tIns="0" rIns="0" bIns="0" anchor="t">
            <a:normAutofit/>
          </a:bodyPr>
          <a:lstStyle/>
          <a:p>
            <a:pPr algn="ctr">
              <a:defRPr sz="1050" b="0">
                <a:solidFill>
                  <a:srgbClr val="E8F0EF"/>
                </a:solidFill>
                <a:latin typeface="Arial"/>
                <a:ea typeface="Arial"/>
                <a:cs typeface="Arial"/>
              </a:defRPr>
            </a:pPr>
            <a:r>
              <a:rPr sz="1050" b="0">
                <a:solidFill>
                  <a:srgbClr val="E8F0EF"/>
                </a:solidFill>
                <a:latin typeface="Arial"/>
                <a:ea typeface="Arial"/>
                <a:cs typeface="Arial"/>
              </a:rPr>
              <a:t>paraphrase · embedding</a:t>
            </a:r>
          </a:p>
        </p:txBody>
      </p:sp>
      <p:sp>
        <p:nvSpPr>
          <p:cNvPr id="20" name="Rounded Rectangle 19">
            <a:extLst>
              <a:ext uri="{FF2B5EF4-FFF2-40B4-BE49-F238E27FC236}">
                <a16:creationId xmlns:a16="http://schemas.microsoft.com/office/drawing/2014/main" id="{6A2401C7-58F4-4290-A32C-9574FFFD8DCF}"/>
              </a:ext>
            </a:extLst>
          </p:cNvPr>
          <p:cNvSpPr>
            <a:spLocks noGrp="1"/>
          </p:cNvSpPr>
          <p:nvPr/>
        </p:nvSpPr>
        <p:spPr>
          <a:xfrm>
            <a:off x="8572500" y="1790700"/>
            <a:ext cx="2914650" cy="3333750"/>
          </a:xfrm>
          <a:prstGeom prst="roundRect">
            <a:avLst>
              <a:gd name="adj" fmla="val 2614"/>
            </a:avLst>
          </a:prstGeom>
          <a:solidFill>
            <a:srgbClr val="17262C"/>
          </a:solidFill>
          <a:ln w="19050">
            <a:solidFill>
              <a:srgbClr val="F2A93B"/>
            </a:solidFill>
            <a:prstDash val="solid"/>
          </a:ln>
        </p:spPr>
        <p:txBody>
          <a:bodyPr/>
          <a:lstStyle/>
          <a:p>
            <a:endParaRPr lang="en-US"/>
          </a:p>
        </p:txBody>
      </p:sp>
      <p:sp>
        <p:nvSpPr>
          <p:cNvPr id="21" name="Rectangle 20">
            <a:extLst>
              <a:ext uri="{FF2B5EF4-FFF2-40B4-BE49-F238E27FC236}">
                <a16:creationId xmlns:a16="http://schemas.microsoft.com/office/drawing/2014/main" id="{8B29AFC2-33AF-46AD-B6AB-BF5923728BB6}"/>
              </a:ext>
            </a:extLst>
          </p:cNvPr>
          <p:cNvSpPr>
            <a:spLocks noGrp="1"/>
          </p:cNvSpPr>
          <p:nvPr/>
        </p:nvSpPr>
        <p:spPr>
          <a:xfrm>
            <a:off x="8972550" y="2190750"/>
            <a:ext cx="2095500" cy="457200"/>
          </a:xfrm>
          <a:prstGeom prst="rect">
            <a:avLst/>
          </a:prstGeom>
          <a:noFill/>
          <a:ln w="0">
            <a:noFill/>
            <a:prstDash val="solid"/>
          </a:ln>
        </p:spPr>
        <p:txBody>
          <a:bodyPr wrap="square" lIns="0" tIns="0" rIns="0" bIns="0" anchor="t">
            <a:normAutofit/>
          </a:bodyPr>
          <a:lstStyle/>
          <a:p>
            <a:pPr algn="ctr">
              <a:defRPr sz="2550" b="1">
                <a:solidFill>
                  <a:srgbClr val="F2A93B"/>
                </a:solidFill>
                <a:latin typeface="Arial"/>
                <a:ea typeface="Arial"/>
                <a:cs typeface="Arial"/>
              </a:defRPr>
            </a:pPr>
            <a:r>
              <a:rPr sz="2550" b="1">
                <a:solidFill>
                  <a:srgbClr val="F2A93B"/>
                </a:solidFill>
                <a:latin typeface="Arial"/>
                <a:ea typeface="Arial"/>
                <a:cs typeface="Arial"/>
              </a:rPr>
              <a:t>0 of 9</a:t>
            </a:r>
          </a:p>
        </p:txBody>
      </p:sp>
      <p:sp>
        <p:nvSpPr>
          <p:cNvPr id="22" name="Rectangle 21">
            <a:extLst>
              <a:ext uri="{FF2B5EF4-FFF2-40B4-BE49-F238E27FC236}">
                <a16:creationId xmlns:a16="http://schemas.microsoft.com/office/drawing/2014/main" id="{279368F4-7F39-4C39-84AB-5F73022113AA}"/>
              </a:ext>
            </a:extLst>
          </p:cNvPr>
          <p:cNvSpPr>
            <a:spLocks noGrp="1"/>
          </p:cNvSpPr>
          <p:nvPr/>
        </p:nvSpPr>
        <p:spPr>
          <a:xfrm>
            <a:off x="8972550" y="2724150"/>
            <a:ext cx="2095500" cy="87630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embedding models beat BM25 when the question reused the transcript's words.</a:t>
            </a:r>
          </a:p>
        </p:txBody>
      </p:sp>
      <p:sp>
        <p:nvSpPr>
          <p:cNvPr id="23" name="Rectangle 22">
            <a:extLst>
              <a:ext uri="{FF2B5EF4-FFF2-40B4-BE49-F238E27FC236}">
                <a16:creationId xmlns:a16="http://schemas.microsoft.com/office/drawing/2014/main" id="{3DF34E52-9740-4CD7-B0AC-BB473C733F81}"/>
              </a:ext>
            </a:extLst>
          </p:cNvPr>
          <p:cNvSpPr>
            <a:spLocks noGrp="1"/>
          </p:cNvSpPr>
          <p:nvPr/>
        </p:nvSpPr>
        <p:spPr>
          <a:xfrm>
            <a:off x="8972550" y="3829050"/>
            <a:ext cx="2095500" cy="457200"/>
          </a:xfrm>
          <a:prstGeom prst="rect">
            <a:avLst/>
          </a:prstGeom>
          <a:noFill/>
          <a:ln w="0">
            <a:noFill/>
            <a:prstDash val="solid"/>
          </a:ln>
        </p:spPr>
        <p:txBody>
          <a:bodyPr wrap="square" lIns="0" tIns="0" rIns="0" bIns="0" anchor="t">
            <a:normAutofit/>
          </a:bodyPr>
          <a:lstStyle/>
          <a:p>
            <a:pPr algn="ctr">
              <a:defRPr sz="2550" b="1">
                <a:solidFill>
                  <a:srgbClr val="47C6B7"/>
                </a:solidFill>
                <a:latin typeface="Arial"/>
                <a:ea typeface="Arial"/>
                <a:cs typeface="Arial"/>
              </a:defRPr>
            </a:pPr>
            <a:r>
              <a:rPr sz="2550" b="1">
                <a:solidFill>
                  <a:srgbClr val="47C6B7"/>
                </a:solidFill>
                <a:latin typeface="Arial"/>
                <a:ea typeface="Arial"/>
                <a:cs typeface="Arial"/>
              </a:rPr>
              <a:t>5 of 9</a:t>
            </a:r>
          </a:p>
        </p:txBody>
      </p:sp>
      <p:sp>
        <p:nvSpPr>
          <p:cNvPr id="24" name="Rectangle 23">
            <a:extLst>
              <a:ext uri="{FF2B5EF4-FFF2-40B4-BE49-F238E27FC236}">
                <a16:creationId xmlns:a16="http://schemas.microsoft.com/office/drawing/2014/main" id="{6AFC55A7-CD16-4778-84D6-13C2DE817EDC}"/>
              </a:ext>
            </a:extLst>
          </p:cNvPr>
          <p:cNvSpPr>
            <a:spLocks noGrp="1"/>
          </p:cNvSpPr>
          <p:nvPr/>
        </p:nvSpPr>
        <p:spPr>
          <a:xfrm>
            <a:off x="8972550" y="4362450"/>
            <a:ext cx="2095500" cy="552450"/>
          </a:xfrm>
          <a:prstGeom prst="rect">
            <a:avLst/>
          </a:prstGeom>
          <a:noFill/>
          <a:ln w="0">
            <a:noFill/>
            <a:prstDash val="solid"/>
          </a:ln>
        </p:spPr>
        <p:txBody>
          <a:bodyPr wrap="square" lIns="0" tIns="0" rIns="0" bIns="0" anchor="t">
            <a:normAutofit/>
          </a:bodyPr>
          <a:lstStyle/>
          <a:p>
            <a:pPr algn="ctr">
              <a:defRPr sz="1425" b="0">
                <a:solidFill>
                  <a:srgbClr val="E8F0EF"/>
                </a:solidFill>
                <a:latin typeface="Arial"/>
                <a:ea typeface="Arial"/>
                <a:cs typeface="Arial"/>
              </a:defRPr>
            </a:pPr>
            <a:r>
              <a:rPr sz="1425" b="0">
                <a:solidFill>
                  <a:srgbClr val="E8F0EF"/>
                </a:solidFill>
                <a:latin typeface="Arial"/>
                <a:ea typeface="Arial"/>
                <a:cs typeface="Arial"/>
              </a:rPr>
              <a:t>won when the question was a paraphrase.</a:t>
            </a:r>
          </a:p>
        </p:txBody>
      </p:sp>
    </p:spTree>
    <p:extLst>
      <p:ext uri="{BB962C8B-B14F-4D97-AF65-F5344CB8AC3E}">
        <p14:creationId xmlns:p14="http://schemas.microsoft.com/office/powerpoint/2010/main" val="2065859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115"/>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6203940D-67D3-4909-9498-A965883A7FCB}"/>
              </a:ext>
            </a:extLst>
          </p:cNvPr>
          <p:cNvSpPr>
            <a:spLocks noGrp="1"/>
          </p:cNvSpPr>
          <p:nvPr/>
        </p:nvSpPr>
        <p:spPr>
          <a:xfrm>
            <a:off x="0" y="0"/>
            <a:ext cx="12192000" cy="66675"/>
          </a:xfrm>
          <a:prstGeom prst="rect">
            <a:avLst/>
          </a:prstGeom>
          <a:solidFill>
            <a:srgbClr val="D8F36A"/>
          </a:solidFill>
          <a:ln w="0">
            <a:noFill/>
            <a:prstDash val="solid"/>
          </a:ln>
        </p:spPr>
        <p:txBody>
          <a:bodyPr/>
          <a:lstStyle/>
          <a:p>
            <a:endParaRPr lang="en-US"/>
          </a:p>
        </p:txBody>
      </p:sp>
      <p:sp>
        <p:nvSpPr>
          <p:cNvPr id="2" name="section-21">
            <a:extLst>
              <a:ext uri="{FF2B5EF4-FFF2-40B4-BE49-F238E27FC236}">
                <a16:creationId xmlns:a16="http://schemas.microsoft.com/office/drawing/2014/main" id="{7EBCF82C-6407-4A30-83D6-EA3F16491E9C}"/>
              </a:ext>
            </a:extLst>
          </p:cNvPr>
          <p:cNvSpPr>
            <a:spLocks noGrp="1"/>
          </p:cNvSpPr>
          <p:nvPr/>
        </p:nvSpPr>
        <p:spPr>
          <a:xfrm>
            <a:off x="685800" y="266700"/>
            <a:ext cx="3238500" cy="228600"/>
          </a:xfrm>
          <a:prstGeom prst="rect">
            <a:avLst/>
          </a:prstGeom>
          <a:noFill/>
          <a:ln w="0">
            <a:noFill/>
            <a:prstDash val="solid"/>
          </a:ln>
        </p:spPr>
        <p:txBody>
          <a:bodyPr wrap="square" lIns="0" tIns="0" rIns="0" bIns="0" anchor="t">
            <a:normAutofit/>
          </a:bodyPr>
          <a:lstStyle/>
          <a:p>
            <a:pPr algn="l">
              <a:defRPr sz="975" b="1">
                <a:solidFill>
                  <a:srgbClr val="D8F36A"/>
                </a:solidFill>
                <a:latin typeface="Arial"/>
                <a:ea typeface="Arial"/>
                <a:cs typeface="Arial"/>
              </a:defRPr>
            </a:pPr>
            <a:r>
              <a:rPr sz="975" b="1">
                <a:solidFill>
                  <a:srgbClr val="D8F36A"/>
                </a:solidFill>
                <a:latin typeface="Arial"/>
                <a:ea typeface="Arial"/>
                <a:cs typeface="Arial"/>
              </a:rPr>
              <a:t>APPENDIX · ROADMAP</a:t>
            </a:r>
          </a:p>
        </p:txBody>
      </p:sp>
      <p:sp>
        <p:nvSpPr>
          <p:cNvPr id="3" name="Rectangle 2">
            <a:extLst>
              <a:ext uri="{FF2B5EF4-FFF2-40B4-BE49-F238E27FC236}">
                <a16:creationId xmlns:a16="http://schemas.microsoft.com/office/drawing/2014/main" id="{ADB11F13-8680-4F49-AA2D-C7F7CAFC6565}"/>
              </a:ext>
            </a:extLst>
          </p:cNvPr>
          <p:cNvSpPr>
            <a:spLocks noGrp="1"/>
          </p:cNvSpPr>
          <p:nvPr/>
        </p:nvSpPr>
        <p:spPr>
          <a:xfrm>
            <a:off x="11258550" y="6343650"/>
            <a:ext cx="381000" cy="209550"/>
          </a:xfrm>
          <a:prstGeom prst="rect">
            <a:avLst/>
          </a:prstGeom>
          <a:noFill/>
          <a:ln w="0">
            <a:noFill/>
            <a:prstDash val="solid"/>
          </a:ln>
        </p:spPr>
        <p:txBody>
          <a:bodyPr wrap="square" lIns="0" tIns="0" rIns="0" bIns="0" anchor="t">
            <a:normAutofit/>
          </a:bodyPr>
          <a:lstStyle/>
          <a:p>
            <a:pPr algn="r">
              <a:defRPr sz="975" b="1">
                <a:solidFill>
                  <a:srgbClr val="8AA0A4"/>
                </a:solidFill>
                <a:latin typeface="Arial"/>
                <a:ea typeface="Arial"/>
                <a:cs typeface="Arial"/>
              </a:defRPr>
            </a:pPr>
            <a:r>
              <a:rPr sz="975" b="1">
                <a:solidFill>
                  <a:srgbClr val="8AA0A4"/>
                </a:solidFill>
                <a:latin typeface="Arial"/>
                <a:ea typeface="Arial"/>
                <a:cs typeface="Arial"/>
              </a:rPr>
              <a:t>12</a:t>
            </a:r>
          </a:p>
        </p:txBody>
      </p:sp>
      <p:sp>
        <p:nvSpPr>
          <p:cNvPr id="4" name="Rectangle 3">
            <a:extLst>
              <a:ext uri="{FF2B5EF4-FFF2-40B4-BE49-F238E27FC236}">
                <a16:creationId xmlns:a16="http://schemas.microsoft.com/office/drawing/2014/main" id="{B4FB7D35-E2AB-492F-9C1E-69209AEFDB46}"/>
              </a:ext>
            </a:extLst>
          </p:cNvPr>
          <p:cNvSpPr>
            <a:spLocks noGrp="1"/>
          </p:cNvSpPr>
          <p:nvPr/>
        </p:nvSpPr>
        <p:spPr>
          <a:xfrm>
            <a:off x="685800" y="6257925"/>
            <a:ext cx="10572750" cy="19050"/>
          </a:xfrm>
          <a:prstGeom prst="rect">
            <a:avLst/>
          </a:prstGeom>
          <a:solidFill>
            <a:srgbClr val="31444A"/>
          </a:solidFill>
          <a:ln w="0">
            <a:noFill/>
            <a:prstDash val="solid"/>
          </a:ln>
        </p:spPr>
        <p:txBody>
          <a:bodyPr/>
          <a:lstStyle/>
          <a:p>
            <a:endParaRPr lang="en-US"/>
          </a:p>
        </p:txBody>
      </p:sp>
      <p:sp>
        <p:nvSpPr>
          <p:cNvPr id="5" name="slide-title">
            <a:extLst>
              <a:ext uri="{FF2B5EF4-FFF2-40B4-BE49-F238E27FC236}">
                <a16:creationId xmlns:a16="http://schemas.microsoft.com/office/drawing/2014/main" id="{69D3CECD-B26B-4A95-B8BB-FACBBC800252}"/>
              </a:ext>
            </a:extLst>
          </p:cNvPr>
          <p:cNvSpPr>
            <a:spLocks noGrp="1"/>
          </p:cNvSpPr>
          <p:nvPr/>
        </p:nvSpPr>
        <p:spPr>
          <a:xfrm>
            <a:off x="685800" y="628650"/>
            <a:ext cx="10668000" cy="685800"/>
          </a:xfrm>
          <a:prstGeom prst="rect">
            <a:avLst/>
          </a:prstGeom>
          <a:noFill/>
          <a:ln w="0">
            <a:noFill/>
            <a:prstDash val="solid"/>
          </a:ln>
        </p:spPr>
        <p:txBody>
          <a:bodyPr wrap="square" lIns="0" tIns="0" rIns="0" bIns="0" anchor="t">
            <a:normAutofit/>
          </a:bodyPr>
          <a:lstStyle/>
          <a:p>
            <a:pPr algn="l">
              <a:defRPr sz="3150" b="1">
                <a:solidFill>
                  <a:srgbClr val="E8F0EF"/>
                </a:solidFill>
                <a:latin typeface="Arial"/>
                <a:ea typeface="Arial"/>
                <a:cs typeface="Arial"/>
              </a:defRPr>
            </a:pPr>
            <a:r>
              <a:rPr sz="3150" b="1">
                <a:solidFill>
                  <a:srgbClr val="E8F0EF"/>
                </a:solidFill>
                <a:latin typeface="Arial"/>
                <a:ea typeface="Arial"/>
                <a:cs typeface="Arial"/>
              </a:rPr>
              <a:t>What the evidence says to do next.</a:t>
            </a:r>
          </a:p>
        </p:txBody>
      </p:sp>
      <p:sp>
        <p:nvSpPr>
          <p:cNvPr id="6" name="Rectangle 5">
            <a:extLst>
              <a:ext uri="{FF2B5EF4-FFF2-40B4-BE49-F238E27FC236}">
                <a16:creationId xmlns:a16="http://schemas.microsoft.com/office/drawing/2014/main" id="{4E1D1F31-C377-4B3E-A235-0CAB74C144AF}"/>
              </a:ext>
            </a:extLst>
          </p:cNvPr>
          <p:cNvSpPr>
            <a:spLocks noGrp="1"/>
          </p:cNvSpPr>
          <p:nvPr/>
        </p:nvSpPr>
        <p:spPr>
          <a:xfrm>
            <a:off x="800100" y="1562100"/>
            <a:ext cx="666750" cy="495300"/>
          </a:xfrm>
          <a:prstGeom prst="rect">
            <a:avLst/>
          </a:prstGeom>
          <a:noFill/>
          <a:ln w="0">
            <a:noFill/>
            <a:prstDash val="solid"/>
          </a:ln>
        </p:spPr>
        <p:txBody>
          <a:bodyPr wrap="square" lIns="0" tIns="0" rIns="0" bIns="0" anchor="t">
            <a:normAutofit/>
          </a:bodyPr>
          <a:lstStyle/>
          <a:p>
            <a:pPr algn="l">
              <a:defRPr sz="2700" b="1">
                <a:solidFill>
                  <a:srgbClr val="F2A93B"/>
                </a:solidFill>
                <a:latin typeface="Arial"/>
                <a:ea typeface="Arial"/>
                <a:cs typeface="Arial"/>
              </a:defRPr>
            </a:pPr>
            <a:r>
              <a:rPr sz="2700" b="1">
                <a:solidFill>
                  <a:srgbClr val="F2A93B"/>
                </a:solidFill>
                <a:latin typeface="Arial"/>
                <a:ea typeface="Arial"/>
                <a:cs typeface="Arial"/>
              </a:rPr>
              <a:t>01</a:t>
            </a:r>
          </a:p>
        </p:txBody>
      </p:sp>
      <p:sp>
        <p:nvSpPr>
          <p:cNvPr id="7" name="Rectangle 6">
            <a:extLst>
              <a:ext uri="{FF2B5EF4-FFF2-40B4-BE49-F238E27FC236}">
                <a16:creationId xmlns:a16="http://schemas.microsoft.com/office/drawing/2014/main" id="{A5DB1032-F62D-48F7-B1F3-75688AB2E820}"/>
              </a:ext>
            </a:extLst>
          </p:cNvPr>
          <p:cNvSpPr>
            <a:spLocks noGrp="1"/>
          </p:cNvSpPr>
          <p:nvPr/>
        </p:nvSpPr>
        <p:spPr>
          <a:xfrm>
            <a:off x="1695450" y="1600200"/>
            <a:ext cx="3333750" cy="285750"/>
          </a:xfrm>
          <a:prstGeom prst="rect">
            <a:avLst/>
          </a:prstGeom>
          <a:noFill/>
          <a:ln w="0">
            <a:noFill/>
            <a:prstDash val="solid"/>
          </a:ln>
        </p:spPr>
        <p:txBody>
          <a:bodyPr wrap="square" lIns="0" tIns="0" rIns="0" bIns="0" anchor="t">
            <a:normAutofit/>
          </a:bodyPr>
          <a:lstStyle/>
          <a:p>
            <a:pPr algn="l">
              <a:defRPr sz="1500" b="1">
                <a:solidFill>
                  <a:srgbClr val="F2A93B"/>
                </a:solidFill>
                <a:latin typeface="Arial"/>
                <a:ea typeface="Arial"/>
                <a:cs typeface="Arial"/>
              </a:defRPr>
            </a:pPr>
            <a:r>
              <a:rPr sz="1500" b="1">
                <a:solidFill>
                  <a:srgbClr val="F2A93B"/>
                </a:solidFill>
                <a:latin typeface="Arial"/>
              </a:rPr>
              <a:t>RETEST THE MEANING MODEL</a:t>
            </a:r>
          </a:p>
        </p:txBody>
      </p:sp>
      <p:sp>
        <p:nvSpPr>
          <p:cNvPr id="8" name="Rectangle 7">
            <a:extLst>
              <a:ext uri="{FF2B5EF4-FFF2-40B4-BE49-F238E27FC236}">
                <a16:creationId xmlns:a16="http://schemas.microsoft.com/office/drawing/2014/main" id="{D3FC8793-0C2F-4E48-95FE-21EA27AB66BB}"/>
              </a:ext>
            </a:extLst>
          </p:cNvPr>
          <p:cNvSpPr>
            <a:spLocks noGrp="1"/>
          </p:cNvSpPr>
          <p:nvPr/>
        </p:nvSpPr>
        <p:spPr>
          <a:xfrm>
            <a:off x="5334000" y="15621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The test winner is the same size as the one shipped, so switching is a config change and a rebuild, not a migration.</a:t>
            </a:r>
          </a:p>
        </p:txBody>
      </p:sp>
      <p:sp>
        <p:nvSpPr>
          <p:cNvPr id="9" name="Rectangle 8">
            <a:extLst>
              <a:ext uri="{FF2B5EF4-FFF2-40B4-BE49-F238E27FC236}">
                <a16:creationId xmlns:a16="http://schemas.microsoft.com/office/drawing/2014/main" id="{F4CA3040-6E50-4028-8BB0-E477C6069290}"/>
              </a:ext>
            </a:extLst>
          </p:cNvPr>
          <p:cNvSpPr>
            <a:spLocks noGrp="1"/>
          </p:cNvSpPr>
          <p:nvPr/>
        </p:nvSpPr>
        <p:spPr>
          <a:xfrm>
            <a:off x="1695450" y="2343150"/>
            <a:ext cx="9372600" cy="19050"/>
          </a:xfrm>
          <a:prstGeom prst="rect">
            <a:avLst/>
          </a:prstGeom>
          <a:solidFill>
            <a:srgbClr val="31444A"/>
          </a:solidFill>
          <a:ln w="0">
            <a:noFill/>
            <a:prstDash val="solid"/>
          </a:ln>
        </p:spPr>
        <p:txBody>
          <a:bodyPr/>
          <a:lstStyle/>
          <a:p>
            <a:endParaRPr lang="en-US"/>
          </a:p>
        </p:txBody>
      </p:sp>
      <p:sp>
        <p:nvSpPr>
          <p:cNvPr id="10" name="Rectangle 9">
            <a:extLst>
              <a:ext uri="{FF2B5EF4-FFF2-40B4-BE49-F238E27FC236}">
                <a16:creationId xmlns:a16="http://schemas.microsoft.com/office/drawing/2014/main" id="{7D244AE6-791B-4736-BCC6-F7A5882A8011}"/>
              </a:ext>
            </a:extLst>
          </p:cNvPr>
          <p:cNvSpPr>
            <a:spLocks noGrp="1"/>
          </p:cNvSpPr>
          <p:nvPr/>
        </p:nvSpPr>
        <p:spPr>
          <a:xfrm>
            <a:off x="800100" y="2628900"/>
            <a:ext cx="666750" cy="495300"/>
          </a:xfrm>
          <a:prstGeom prst="rect">
            <a:avLst/>
          </a:prstGeom>
          <a:noFill/>
          <a:ln w="0">
            <a:noFill/>
            <a:prstDash val="solid"/>
          </a:ln>
        </p:spPr>
        <p:txBody>
          <a:bodyPr wrap="square" lIns="0" tIns="0" rIns="0" bIns="0" anchor="t">
            <a:normAutofit/>
          </a:bodyPr>
          <a:lstStyle/>
          <a:p>
            <a:pPr algn="l">
              <a:defRPr sz="2700" b="1">
                <a:solidFill>
                  <a:srgbClr val="47C6B7"/>
                </a:solidFill>
                <a:latin typeface="Arial"/>
                <a:ea typeface="Arial"/>
                <a:cs typeface="Arial"/>
              </a:defRPr>
            </a:pPr>
            <a:r>
              <a:rPr sz="2700" b="1">
                <a:solidFill>
                  <a:srgbClr val="47C6B7"/>
                </a:solidFill>
                <a:latin typeface="Arial"/>
                <a:ea typeface="Arial"/>
                <a:cs typeface="Arial"/>
              </a:rPr>
              <a:t>02</a:t>
            </a:r>
          </a:p>
        </p:txBody>
      </p:sp>
      <p:sp>
        <p:nvSpPr>
          <p:cNvPr id="11" name="Rectangle 10">
            <a:extLst>
              <a:ext uri="{FF2B5EF4-FFF2-40B4-BE49-F238E27FC236}">
                <a16:creationId xmlns:a16="http://schemas.microsoft.com/office/drawing/2014/main" id="{F24FA7BA-6313-4649-BE2F-E3CF9143CB62}"/>
              </a:ext>
            </a:extLst>
          </p:cNvPr>
          <p:cNvSpPr>
            <a:spLocks noGrp="1"/>
          </p:cNvSpPr>
          <p:nvPr/>
        </p:nvSpPr>
        <p:spPr>
          <a:xfrm>
            <a:off x="1695450" y="2667000"/>
            <a:ext cx="3333750" cy="285750"/>
          </a:xfrm>
          <a:prstGeom prst="rect">
            <a:avLst/>
          </a:prstGeom>
          <a:noFill/>
          <a:ln w="0">
            <a:noFill/>
            <a:prstDash val="solid"/>
          </a:ln>
        </p:spPr>
        <p:txBody>
          <a:bodyPr wrap="square" lIns="0" tIns="0" rIns="0" bIns="0" anchor="t">
            <a:normAutofit/>
          </a:bodyPr>
          <a:lstStyle/>
          <a:p>
            <a:pPr algn="l">
              <a:defRPr sz="1500" b="1">
                <a:solidFill>
                  <a:srgbClr val="47C6B7"/>
                </a:solidFill>
                <a:latin typeface="Arial"/>
                <a:ea typeface="Arial"/>
                <a:cs typeface="Arial"/>
              </a:defRPr>
            </a:pPr>
            <a:r>
              <a:rPr sz="1500" b="1">
                <a:solidFill>
                  <a:srgbClr val="47C6B7"/>
                </a:solidFill>
                <a:latin typeface="Arial"/>
              </a:rPr>
              <a:t>KEEP ONE SOURCE OF TRUTH</a:t>
            </a:r>
          </a:p>
        </p:txBody>
      </p:sp>
      <p:sp>
        <p:nvSpPr>
          <p:cNvPr id="12" name="Rectangle 11">
            <a:extLst>
              <a:ext uri="{FF2B5EF4-FFF2-40B4-BE49-F238E27FC236}">
                <a16:creationId xmlns:a16="http://schemas.microsoft.com/office/drawing/2014/main" id="{AD525488-6A3B-4E76-9A22-181287EC3BE3}"/>
              </a:ext>
            </a:extLst>
          </p:cNvPr>
          <p:cNvSpPr>
            <a:spLocks noGrp="1"/>
          </p:cNvSpPr>
          <p:nvPr/>
        </p:nvSpPr>
        <p:spPr>
          <a:xfrm>
            <a:off x="5334000" y="26289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Keep Postgres as the record, the citation rules, jobs that survive a crash, and originals that are never edited.</a:t>
            </a:r>
          </a:p>
        </p:txBody>
      </p:sp>
      <p:sp>
        <p:nvSpPr>
          <p:cNvPr id="13" name="Rectangle 12">
            <a:extLst>
              <a:ext uri="{FF2B5EF4-FFF2-40B4-BE49-F238E27FC236}">
                <a16:creationId xmlns:a16="http://schemas.microsoft.com/office/drawing/2014/main" id="{40306D7C-6F94-4E1E-B611-5CFE7E784AFB}"/>
              </a:ext>
            </a:extLst>
          </p:cNvPr>
          <p:cNvSpPr>
            <a:spLocks noGrp="1"/>
          </p:cNvSpPr>
          <p:nvPr/>
        </p:nvSpPr>
        <p:spPr>
          <a:xfrm>
            <a:off x="1695450" y="3409950"/>
            <a:ext cx="9372600" cy="19050"/>
          </a:xfrm>
          <a:prstGeom prst="rect">
            <a:avLst/>
          </a:prstGeom>
          <a:solidFill>
            <a:srgbClr val="31444A"/>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B7E2DFC0-0426-4924-AFB0-6B4B359A6614}"/>
              </a:ext>
            </a:extLst>
          </p:cNvPr>
          <p:cNvSpPr>
            <a:spLocks noGrp="1"/>
          </p:cNvSpPr>
          <p:nvPr/>
        </p:nvSpPr>
        <p:spPr>
          <a:xfrm>
            <a:off x="800100" y="3695700"/>
            <a:ext cx="666750" cy="495300"/>
          </a:xfrm>
          <a:prstGeom prst="rect">
            <a:avLst/>
          </a:prstGeom>
          <a:noFill/>
          <a:ln w="0">
            <a:noFill/>
            <a:prstDash val="solid"/>
          </a:ln>
        </p:spPr>
        <p:txBody>
          <a:bodyPr wrap="square" lIns="0" tIns="0" rIns="0" bIns="0" anchor="t">
            <a:normAutofit/>
          </a:bodyPr>
          <a:lstStyle/>
          <a:p>
            <a:pPr algn="l">
              <a:defRPr sz="2700" b="1">
                <a:solidFill>
                  <a:srgbClr val="A88BFF"/>
                </a:solidFill>
                <a:latin typeface="Arial"/>
                <a:ea typeface="Arial"/>
                <a:cs typeface="Arial"/>
              </a:defRPr>
            </a:pPr>
            <a:r>
              <a:rPr sz="2700" b="1">
                <a:solidFill>
                  <a:srgbClr val="A88BFF"/>
                </a:solidFill>
                <a:latin typeface="Arial"/>
                <a:ea typeface="Arial"/>
                <a:cs typeface="Arial"/>
              </a:rPr>
              <a:t>03</a:t>
            </a:r>
          </a:p>
        </p:txBody>
      </p:sp>
      <p:sp>
        <p:nvSpPr>
          <p:cNvPr id="15" name="Rectangle 14">
            <a:extLst>
              <a:ext uri="{FF2B5EF4-FFF2-40B4-BE49-F238E27FC236}">
                <a16:creationId xmlns:a16="http://schemas.microsoft.com/office/drawing/2014/main" id="{DE480EB5-3BD5-46B4-A01B-411C0C69DC60}"/>
              </a:ext>
            </a:extLst>
          </p:cNvPr>
          <p:cNvSpPr>
            <a:spLocks noGrp="1"/>
          </p:cNvSpPr>
          <p:nvPr/>
        </p:nvSpPr>
        <p:spPr>
          <a:xfrm>
            <a:off x="1695450" y="3733800"/>
            <a:ext cx="3333750" cy="285750"/>
          </a:xfrm>
          <a:prstGeom prst="rect">
            <a:avLst/>
          </a:prstGeom>
          <a:noFill/>
          <a:ln w="0">
            <a:noFill/>
            <a:prstDash val="solid"/>
          </a:ln>
        </p:spPr>
        <p:txBody>
          <a:bodyPr wrap="square" lIns="0" tIns="0" rIns="0" bIns="0" anchor="t">
            <a:normAutofit/>
          </a:bodyPr>
          <a:lstStyle/>
          <a:p>
            <a:pPr algn="l">
              <a:defRPr sz="1500" b="1">
                <a:solidFill>
                  <a:srgbClr val="A88BFF"/>
                </a:solidFill>
                <a:latin typeface="Arial"/>
                <a:ea typeface="Arial"/>
                <a:cs typeface="Arial"/>
              </a:defRPr>
            </a:pPr>
            <a:r>
              <a:rPr sz="1500" b="1">
                <a:solidFill>
                  <a:srgbClr val="A88BFF"/>
                </a:solidFill>
                <a:latin typeface="Arial"/>
              </a:rPr>
              <a:t>TEST FEWER DATABASES</a:t>
            </a:r>
          </a:p>
        </p:txBody>
      </p:sp>
      <p:sp>
        <p:nvSpPr>
          <p:cNvPr id="16" name="Rectangle 15">
            <a:extLst>
              <a:ext uri="{FF2B5EF4-FFF2-40B4-BE49-F238E27FC236}">
                <a16:creationId xmlns:a16="http://schemas.microsoft.com/office/drawing/2014/main" id="{13804773-DD1F-4F1C-8EC4-C0FB049348D4}"/>
              </a:ext>
            </a:extLst>
          </p:cNvPr>
          <p:cNvSpPr>
            <a:spLocks noGrp="1"/>
          </p:cNvSpPr>
          <p:nvPr/>
        </p:nvSpPr>
        <p:spPr>
          <a:xfrm>
            <a:off x="5334000" y="36957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See whether Postgres can do the search on its own before keeping two more databases forever.</a:t>
            </a:r>
          </a:p>
        </p:txBody>
      </p:sp>
      <p:sp>
        <p:nvSpPr>
          <p:cNvPr id="17" name="Rectangle 16">
            <a:extLst>
              <a:ext uri="{FF2B5EF4-FFF2-40B4-BE49-F238E27FC236}">
                <a16:creationId xmlns:a16="http://schemas.microsoft.com/office/drawing/2014/main" id="{F1A45402-D671-41B2-9261-491091A8EE20}"/>
              </a:ext>
            </a:extLst>
          </p:cNvPr>
          <p:cNvSpPr>
            <a:spLocks noGrp="1"/>
          </p:cNvSpPr>
          <p:nvPr/>
        </p:nvSpPr>
        <p:spPr>
          <a:xfrm>
            <a:off x="1695450" y="4476750"/>
            <a:ext cx="9372600" cy="19050"/>
          </a:xfrm>
          <a:prstGeom prst="rect">
            <a:avLst/>
          </a:prstGeom>
          <a:solidFill>
            <a:srgbClr val="31444A"/>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D2C703D7-DE6D-499F-826B-418E067AC7CF}"/>
              </a:ext>
            </a:extLst>
          </p:cNvPr>
          <p:cNvSpPr>
            <a:spLocks noGrp="1"/>
          </p:cNvSpPr>
          <p:nvPr/>
        </p:nvSpPr>
        <p:spPr>
          <a:xfrm>
            <a:off x="800100" y="4762500"/>
            <a:ext cx="666750" cy="495300"/>
          </a:xfrm>
          <a:prstGeom prst="rect">
            <a:avLst/>
          </a:prstGeom>
          <a:noFill/>
          <a:ln w="0">
            <a:noFill/>
            <a:prstDash val="solid"/>
          </a:ln>
        </p:spPr>
        <p:txBody>
          <a:bodyPr wrap="square" lIns="0" tIns="0" rIns="0" bIns="0" anchor="t">
            <a:normAutofit/>
          </a:bodyPr>
          <a:lstStyle/>
          <a:p>
            <a:pPr algn="l">
              <a:defRPr sz="2700" b="1">
                <a:solidFill>
                  <a:srgbClr val="D8F36A"/>
                </a:solidFill>
                <a:latin typeface="Arial"/>
                <a:ea typeface="Arial"/>
                <a:cs typeface="Arial"/>
              </a:defRPr>
            </a:pPr>
            <a:r>
              <a:rPr sz="2700" b="1">
                <a:solidFill>
                  <a:srgbClr val="D8F36A"/>
                </a:solidFill>
                <a:latin typeface="Arial"/>
                <a:ea typeface="Arial"/>
                <a:cs typeface="Arial"/>
              </a:rPr>
              <a:t>04</a:t>
            </a:r>
          </a:p>
        </p:txBody>
      </p:sp>
      <p:sp>
        <p:nvSpPr>
          <p:cNvPr id="19" name="Rectangle 18">
            <a:extLst>
              <a:ext uri="{FF2B5EF4-FFF2-40B4-BE49-F238E27FC236}">
                <a16:creationId xmlns:a16="http://schemas.microsoft.com/office/drawing/2014/main" id="{F48A144D-CCE2-4F80-9C6F-564D919AA532}"/>
              </a:ext>
            </a:extLst>
          </p:cNvPr>
          <p:cNvSpPr>
            <a:spLocks noGrp="1"/>
          </p:cNvSpPr>
          <p:nvPr/>
        </p:nvSpPr>
        <p:spPr>
          <a:xfrm>
            <a:off x="1695450" y="4800600"/>
            <a:ext cx="3333750" cy="285750"/>
          </a:xfrm>
          <a:prstGeom prst="rect">
            <a:avLst/>
          </a:prstGeom>
          <a:noFill/>
          <a:ln w="0">
            <a:noFill/>
            <a:prstDash val="solid"/>
          </a:ln>
        </p:spPr>
        <p:txBody>
          <a:bodyPr wrap="square" lIns="0" tIns="0" rIns="0" bIns="0" anchor="t">
            <a:normAutofit/>
          </a:bodyPr>
          <a:lstStyle/>
          <a:p>
            <a:pPr algn="l">
              <a:defRPr sz="1500" b="1">
                <a:solidFill>
                  <a:srgbClr val="D8F36A"/>
                </a:solidFill>
                <a:latin typeface="Arial"/>
                <a:ea typeface="Arial"/>
                <a:cs typeface="Arial"/>
              </a:defRPr>
            </a:pPr>
            <a:r>
              <a:rPr sz="1500" b="1">
                <a:solidFill>
                  <a:srgbClr val="D8F36A"/>
                </a:solidFill>
                <a:latin typeface="Arial"/>
              </a:rPr>
              <a:t>LOCK IT DOWN</a:t>
            </a:r>
          </a:p>
        </p:txBody>
      </p:sp>
      <p:sp>
        <p:nvSpPr>
          <p:cNvPr id="20" name="Rectangle 19">
            <a:extLst>
              <a:ext uri="{FF2B5EF4-FFF2-40B4-BE49-F238E27FC236}">
                <a16:creationId xmlns:a16="http://schemas.microsoft.com/office/drawing/2014/main" id="{5A85FC9F-BF1D-40E4-9318-77598BA2AF59}"/>
              </a:ext>
            </a:extLst>
          </p:cNvPr>
          <p:cNvSpPr>
            <a:spLocks noGrp="1"/>
          </p:cNvSpPr>
          <p:nvPr/>
        </p:nvSpPr>
        <p:spPr>
          <a:xfrm>
            <a:off x="5334000" y="4762500"/>
            <a:ext cx="5734050" cy="590550"/>
          </a:xfrm>
          <a:prstGeom prst="rect">
            <a:avLst/>
          </a:prstGeom>
          <a:noFill/>
          <a:ln w="0">
            <a:noFill/>
            <a:prstDash val="solid"/>
          </a:ln>
        </p:spPr>
        <p:txBody>
          <a:bodyPr wrap="square" lIns="0" tIns="0" rIns="0" bIns="0" anchor="t">
            <a:normAutofit/>
          </a:bodyPr>
          <a:lstStyle/>
          <a:p>
            <a:pPr algn="l">
              <a:defRPr sz="1425" b="0">
                <a:solidFill>
                  <a:srgbClr val="E8F0EF"/>
                </a:solidFill>
                <a:latin typeface="Arial"/>
                <a:ea typeface="Arial"/>
                <a:cs typeface="Arial"/>
              </a:defRPr>
            </a:pPr>
            <a:r>
              <a:rPr sz="1425" b="0">
                <a:solidFill>
                  <a:srgbClr val="E8F0EF"/>
                </a:solidFill>
                <a:latin typeface="Arial"/>
              </a:rPr>
              <a:t>Add logins, rules about what may leave the machine, and tests that run the whole path end to end.</a:t>
            </a:r>
          </a:p>
        </p:txBody>
      </p:sp>
      <p:sp>
        <p:nvSpPr>
          <p:cNvPr id="21" name="Rectangle 20">
            <a:extLst>
              <a:ext uri="{FF2B5EF4-FFF2-40B4-BE49-F238E27FC236}">
                <a16:creationId xmlns:a16="http://schemas.microsoft.com/office/drawing/2014/main" id="{6E5C00F2-6B3C-4DFA-912C-E9BBA2BBE1F4}"/>
              </a:ext>
            </a:extLst>
          </p:cNvPr>
          <p:cNvSpPr>
            <a:spLocks noGrp="1"/>
          </p:cNvSpPr>
          <p:nvPr/>
        </p:nvSpPr>
        <p:spPr>
          <a:xfrm>
            <a:off x="1866900" y="5772150"/>
            <a:ext cx="8458200" cy="361950"/>
          </a:xfrm>
          <a:prstGeom prst="rect">
            <a:avLst/>
          </a:prstGeom>
          <a:noFill/>
          <a:ln w="0">
            <a:noFill/>
            <a:prstDash val="solid"/>
          </a:ln>
        </p:spPr>
        <p:txBody>
          <a:bodyPr wrap="square" lIns="0" tIns="0" rIns="0" bIns="0" anchor="t">
            <a:normAutofit/>
          </a:bodyPr>
          <a:lstStyle/>
          <a:p>
            <a:pPr algn="ctr">
              <a:defRPr sz="1725" b="1">
                <a:solidFill>
                  <a:srgbClr val="E8F0EF"/>
                </a:solidFill>
                <a:latin typeface="Arial"/>
                <a:ea typeface="Arial"/>
                <a:cs typeface="Arial"/>
              </a:defRPr>
            </a:pPr>
            <a:r>
              <a:rPr sz="1725" b="1">
                <a:solidFill>
                  <a:srgbClr val="E8F0EF"/>
                </a:solidFill>
                <a:latin typeface="Arial"/>
                <a:ea typeface="Arial"/>
                <a:cs typeface="Arial"/>
              </a:rPr>
              <a:t>Goal: keep the evidence chain simple for the user and explicit for the system.</a:t>
            </a:r>
          </a:p>
        </p:txBody>
      </p:sp>
    </p:spTree>
    <p:extLst>
      <p:ext uri="{BB962C8B-B14F-4D97-AF65-F5344CB8AC3E}">
        <p14:creationId xmlns:p14="http://schemas.microsoft.com/office/powerpoint/2010/main" val="121352322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2883</Words>
  <Application>Microsoft Macintosh PowerPoint</Application>
  <DocSecurity>0</DocSecurity>
  <PresentationFormat>Widescreen</PresentationFormat>
  <Paragraphs>279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Tim Goeke</cp:lastModifiedBy>
  <cp:revision>2</cp:revision>
  <dcterms:created xsi:type="dcterms:W3CDTF">2026-08-22T16:52:04Z</dcterms:created>
  <dcterms:modified xsi:type="dcterms:W3CDTF">2026-09-01T01:16:05Z</dcterms:modified>
</cp:coreProperties>
</file>