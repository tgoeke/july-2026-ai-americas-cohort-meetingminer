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4" r:id="rId10"/>
    <p:sldId id="265" r:id="rId11"/>
    <p:sldId id="266" r:id="rId12"/>
    <p:sldId id="268" r:id="rId14"/>
    <p:sldId id="269" r:id="rId15"/>
    <p:sldId id="271" r:id="rId17"/>
    <p:sldId id="272" r:id="rId18"/>
    <p:sldId id="273" r:id="rId19"/>
    <p:sldId id="274" r:id="rId20"/>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39"/>
    <p:restoredTop sz="94653"/>
  </p:normalViewPr>
  <p:slideViewPr>
    <p:cSldViewPr snapToGrid="0">
      <p:cViewPr>
        <p:scale>
          <a:sx n="215" d="100"/>
          <a:sy n="215" d="100"/>
        </p:scale>
        <p:origin x="4216" y="1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promise, not the technology. MeetingMiner is not a meeting summarizer. It is an evidence engine: ask a question, see the passages that support the answer, then jump to the exact moment in the recording and the screen that was visible. I built two versions with competing architectural strategies, and the comparison taught me that product experience and architectural discipline are separate problems.</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MeetingMiner did not begin as a meeting application. Watchback was the YouTube downloader: give it a URL, and it acquired the video, found or generated a timed transcript, kept the metadata, and preserved a playable source. As the project grew, those packages became a searchable video library with time-linked playback.</a:t>
            </a:r>
          </a:p>
          <a:p>
            <a:endParaRPr/>
          </a:p>
          <a:p>
            <a:r>
              <a:t>The durable lesson was not simply how to download a file. It was how to keep the media, the words and the timestamp connected as one evidence package. MeetingMiner extends that idea from YouTube videos to meetings. Now the user asks across a corpus, opens a citation, sees what was on screen and replays the original moment.</a:t>
            </a:r>
          </a:p>
          <a:p>
            <a:endParaRPr/>
          </a:p>
          <a:p>
            <a:r>
              <a:t>This is a conceptual and product lineage—and a source-acquisition lineage—rather than a claim that every MeetingMiner component is a direct copy of Watchback.</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a:p>
            <a:r>
              <a:t>- /Users/devopsterus/current/summit_code_works/skybox/_legacy/transcriptor/README.md</a:t>
            </a:r>
          </a:p>
          <a:p>
            <a:r>
              <a:t>- /Users/devopsterus/current/summit_code_works/skybox/_legacy/transcriptor/TECH_STACK.md</a:t>
            </a:r>
          </a:p>
          <a:p>
            <a:r>
              <a:t>- /Users/devopsterus/current/summit_code_works/skybox/_legacy/transcriptor/backend/DESIGN.md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comparing the technology, compare how the two systems were produced. On the Mac, I used the BMAD process methodology. Structured specifications and stories were implemented through coordinated BMAD builder-agent clusters, then verified against explicit acceptance criteria. That process naturally produced clearer boundaries, durable state and more tests.</a:t>
            </a:r>
          </a:p>
          <a:p>
            <a:endParaRPr/>
          </a:p>
          <a:p>
            <a:r>
              <a:t>The Node version runs on Delltronic — D-E-L-L-T-R-O-N-I-C. It was developed in a more vibe-coded, corpus-led style. I started with pre-existing Microsoft Teams pull functionality that already acquired videos and transcripts. That let me build a real meeting corpus, explore it immediately, and iteratively discover the Ask, evidence-card, screenshot, replay and timeline experience.</a:t>
            </a:r>
          </a:p>
          <a:p>
            <a:endParaRPr/>
          </a:p>
          <a:p>
            <a:r>
              <a:t>The methodology is part of the explanation: BMAD made the engineering rules explicit; the Delltronic build made the user journey concrete. And, as noted on the slide, some names and terminology were changed to protect the innocent.</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test that both products must pass. First, can I ask a natural question across the corpus? Second, does every important claim point to a real passage with a speaker, meeting and timecode? Third, can I replay the original recording from that moment? The architectures differ, but this is the shared acceptance test.</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BMAD starts with an immutable source drop, then FastAPI validates intake and writes durable state to Postgres. The worker claims database-backed stages, so a crash can resume instead of forgetting the job. Neo4j and Meilisearch are projections: useful for retrieval, but disposable because Postgres remains authoritative. The frontend consumes a generated typed client. The architecture is heavier, but evidence identity and recovery are no longer conventions — they are enforced behavior.</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reuses the detailed BMAD topology from the earlier deck. Teams acquisition is an adapter: the puller emits immutable source drops instead of writing core data directly. FastAPI handles intake, queries and streaming status. Postgres owns identity, evidence, jobs and lifecycle. The durable worker claims checkpointed stages from Postgres and writes derived evidence back to the authoritative record.</a:t>
            </a:r>
          </a:p>
          <a:p>
            <a:endParaRPr/>
          </a:p>
          <a:p>
            <a:r>
              <a:t>Frames and screenshots go to the generated content root. OCR, speech-to-text, language models and embedding engines sit behind swappable ports. Neo4j and Meilisearch are read projections, never sources of truth. The React application consumes typed routes generated from the API contract. Host execution is intentional because Apple Vision and MLX need the Mac runtime.</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comparable BMAD question path from the original sequence diagram. The API first classifies the question into a known traversal template. Retrieval itself is deterministic: parameterized Cypher queries Neo4j and hybrid text-plus-vector search queries Meilisearch. The API receives graph moments and ranked moments, then asks the language model to synthesize only over that retrieved evidence.</a:t>
            </a:r>
          </a:p>
          <a:p>
            <a:endParaRPr/>
          </a:p>
          <a:p>
            <a:r>
              <a:t>The draft contains explicit moment UUID markers. Before anything leaves the API, a citation validator resolves every marker against Postgres. If every marker resolves, the answer and citations stream to the user and the cited moment can replay. If any claim is uncited or any marker is invalid, the response fails closed. The model writes prose; it does not own retrieval or evidence identity.</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architectural verdict is compositional. Keep the Node team's investigation experience and product-shaped read models. Put them on BMAD's authoritative Postgres model, durable jobs, typed contract and test foundation. Keep the acquisition adapter at the edge. Treat graph and search databases as measured projections, not sacred architecture. At this corpus size, I would benchmark Postgres full-text search plus pgvector before accepting three permanent stores.</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SCRIPT</a:t>
            </a:r>
          </a:p>
          <a:p>
            <a:endParaRPr/>
          </a:p>
          <a:p>
            <a:r>
              <a:t>Start on the Node application on Delltronic. Use the prepared question: ‘What did the vendor say about API and SFTP support?’ Submit it and immediately point out that the evidence cards appear before the generated prose. Open the strongest citation. Show the speaker, meeting and timecode. Open the associated screen, then click again to replay the recording from that moment. If stable, trace the topic across the meeting timeline to show that this is corpus exploration, not a one-off chatbot answer.</a:t>
            </a:r>
          </a:p>
          <a:p>
            <a:endParaRPr/>
          </a:p>
          <a:p>
            <a:r>
              <a:t>Switch to the BMAD application on the Mac. Do not trigger a fresh ingest during the presentation. Start with the prepared corpus/status view and show the checkpointed stages on an existing meeting. Run the same words through corpus search, open a result as a moment, and replay it. Emphasize that the BMAD experience is less polished, but the evidence identity, job state and citation resolution are durable.</a:t>
            </a:r>
          </a:p>
          <a:p>
            <a:endParaRPr/>
          </a:p>
          <a:p>
            <a:r>
              <a:t>Fallback: if either environment is slow, use an already-open result and continue from citation to screenshot to replay. The point of the demo is the evidence chain, not waiting for generation.</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QUICK ANSWERS</a:t>
            </a:r>
          </a:p>
          <a:p>
            <a:endParaRPr/>
          </a:p>
          <a:p>
            <a:r>
              <a:t>Which version is better? Node is the stronger product demonstration today. BMAD is the stronger foundation for durable evidence. My recommendation is Node's UX on BMAD's authoritative core.</a:t>
            </a:r>
          </a:p>
          <a:p>
            <a:endParaRPr/>
          </a:p>
          <a:p>
            <a:r>
              <a:t>Why hybrid search? Exact-word questions and paraphrases behave differently. On 303 labelled tasks, plain BM25 beat all nine embedding configurations when wording was reused, while five of nine embeddings won on paraphrases. That is why both lanes run and their ranked results are fused.</a:t>
            </a:r>
          </a:p>
          <a:p>
            <a:endParaRPr/>
          </a:p>
          <a:p>
            <a:r>
              <a:t>Why multiple databases? Postgres is authoritative. Graph and search stores are disposable projections. I would still benchmark Postgres FTS plus pgvector at this scale before keeping the operational cost of three stores.</a:t>
            </a:r>
          </a:p>
          <a:p>
            <a:endParaRPr/>
          </a:p>
          <a:p>
            <a:r>
              <a:t>What happens when a model fails? In Node, evidence cards are retrieved before synthesis, so citations can still appear. In BMAD, deterministic retrieval and the citation validator fail closed; durable stage rows preserve progress.</a:t>
            </a:r>
          </a:p>
          <a:p>
            <a:endParaRPr/>
          </a:p>
          <a:p>
            <a:r>
              <a:t>Are either production-ready? No. Both are local, unauthenticated prototypes. BMAD has the safer default network posture, but production still requires authentication, authorization, encrypted evidence storage, audit logs and explicit model-egress policy.</a:t>
            </a:r>
          </a:p>
          <a:p>
            <a:endParaRPr/>
          </a:p>
          <a:p>
            <a:r>
              <a:t>What did you personally learn? I learned to turn a product promise into architectural invariants, measure retrieval instead of guessing, keep authoritative evidence separate from disposable indexes, and recognize that a disciplined backend does not automatically create a good user journey.</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close if the room gives you the final word. The product promise is already visible: an answer can lead back to a replayable moment. The next engineering step is not to declare one team completely right. It is to preserve the Node team's product insight while moving trustworthy identity, jobs, contracts and tests into the BMAD foundation.</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when a term becomes the question. Keep the answer concrete. BM25 matches words. Embeddings match meaning. Reciprocal-rank fusion combines both lists. Kuzu packages graph, full-text and vectors locally. Postgres is the final authority for identity and evidence. SSE is simply a long-lived HTTP response that pushes updates as work happens.</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metric is recall at five: did the correct passage appear in the first five results? The evaluation had 183 exact-word citation tasks and 120 held-out paraphrase questions. BM25 scored 37.2 percent versus 32.8 for the best embedding model on reused wording. On paraphrases, the best embedding model reached 60 percent versus 42.5 for BM25. That is why hybrid retrieval is an evidence-backed choice, not fashionable architecture.</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asked what comes next, answer in this order. First, preserve the Node team's strongest product work by moving those flows onto a routed, typed frontend. Second, keep BMAD's authoritative identity and durable jobs. Third, simplify only after measurement: benchmark whether Postgres can carry search and shallow graph traversal at this scale. Fourth, harden the security and regression boundary before exposing the system beyond a trusted workstation.</a:t>
            </a:r>
          </a:p>
          <a:p>
            <a:endParaRPr/>
          </a:p>
          <a:p>
            <a:r>
              <a:t>[Sources]</a:t>
            </a:r>
          </a:p>
          <a:p>
            <a:r>
              <a:t>- /Users/devopsterus/Documents/MeetingMiner-capstone.pptx</a:t>
            </a:r>
          </a:p>
          <a:p>
            <a:r>
              <a:t>- /Users/devopsterus/Documents/meetingminer-cohort-demo.pptx</a:t>
            </a:r>
          </a:p>
          <a:p>
            <a:r>
              <a:t>- /Users/devopsterus/Documents/Codex/2026-08-21/i-ve-attached-two-folders-these/outputs/meetingminer-architecture-stack-comparison.md</a:t>
            </a:r>
          </a:p>
          <a:p>
            <a:r>
              <a:t>- /Users/devopsterus/Documents/Codex/2026-08-21/i-ve-attached-two-folders-these/work/deck-15min/source-notes.txt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9A971E1-8BAD-FD3A-BB5B-62A53659FCCD}"/>
              </a:ext>
            </a:extLst>
          </p:cNvPr>
          <p:cNvPicPr>
            <a:picLocks noChangeAspect="1"/>
          </p:cNvPicPr>
          <p:nvPr/>
        </p:nvPicPr>
        <p:blipFill>
          <a:blip r:embed="rId3"/>
          <a:stretch>
            <a:fillRect/>
          </a:stretch>
        </p:blipFill>
        <p:spPr>
          <a:xfrm>
            <a:off x="9093051" y="254736"/>
            <a:ext cx="2827376" cy="2827376"/>
          </a:xfrm>
          <a:prstGeom prst="rect">
            <a:avLst/>
          </a:prstGeom>
        </p:spPr>
      </p:pic>
      <p:sp>
        <p:nvSpPr>
          <p:cNvPr id="14" name="Rectangle 13">
            <a:extLst>
              <a:ext uri="{FF2B5EF4-FFF2-40B4-BE49-F238E27FC236}">
                <a16:creationId xmlns:a16="http://schemas.microsoft.com/office/drawing/2014/main" id="{C5474900-BF03-46A7-BB02-539AB68020E0}"/>
              </a:ext>
            </a:extLst>
          </p:cNvPr>
          <p:cNvSpPr>
            <a:spLocks noGrp="1"/>
          </p:cNvSpPr>
          <p:nvPr/>
        </p:nvSpPr>
        <p:spPr>
          <a:xfrm>
            <a:off x="0" y="0"/>
            <a:ext cx="133350" cy="6858000"/>
          </a:xfrm>
          <a:prstGeom prst="rect">
            <a:avLst/>
          </a:prstGeom>
          <a:solidFill>
            <a:srgbClr val="F2A93B"/>
          </a:solidFill>
          <a:ln w="0">
            <a:noFill/>
            <a:prstDash val="solid"/>
          </a:ln>
        </p:spPr>
        <p:txBody>
          <a:bodyPr/>
          <a:lstStyle/>
          <a:p>
            <a:endParaRPr lang="en-US"/>
          </a:p>
        </p:txBody>
      </p:sp>
      <p:sp>
        <p:nvSpPr>
          <p:cNvPr id="2" name="Rectangle 1">
            <a:extLst>
              <a:ext uri="{FF2B5EF4-FFF2-40B4-BE49-F238E27FC236}">
                <a16:creationId xmlns:a16="http://schemas.microsoft.com/office/drawing/2014/main" id="{BEF47813-D565-42F5-AFA1-160E21D25133}"/>
              </a:ext>
            </a:extLst>
          </p:cNvPr>
          <p:cNvSpPr>
            <a:spLocks noGrp="1"/>
          </p:cNvSpPr>
          <p:nvPr/>
        </p:nvSpPr>
        <p:spPr>
          <a:xfrm>
            <a:off x="133350" y="0"/>
            <a:ext cx="76200" cy="6858000"/>
          </a:xfrm>
          <a:prstGeom prst="rect">
            <a:avLst/>
          </a:prstGeom>
          <a:solidFill>
            <a:srgbClr val="47C6B7"/>
          </a:solidFill>
          <a:ln w="0">
            <a:noFill/>
            <a:prstDash val="solid"/>
          </a:ln>
        </p:spPr>
        <p:txBody>
          <a:bodyPr/>
          <a:lstStyle/>
          <a:p>
            <a:endParaRPr lang="en-US"/>
          </a:p>
        </p:txBody>
      </p:sp>
      <p:sp>
        <p:nvSpPr>
          <p:cNvPr id="3" name="Rectangle 2">
            <a:extLst>
              <a:ext uri="{FF2B5EF4-FFF2-40B4-BE49-F238E27FC236}">
                <a16:creationId xmlns:a16="http://schemas.microsoft.com/office/drawing/2014/main" id="{9DDE9831-5D95-49C3-9C18-A303721841E3}"/>
              </a:ext>
            </a:extLst>
          </p:cNvPr>
          <p:cNvSpPr>
            <a:spLocks noGrp="1"/>
          </p:cNvSpPr>
          <p:nvPr/>
        </p:nvSpPr>
        <p:spPr>
          <a:xfrm>
            <a:off x="723900" y="666750"/>
            <a:ext cx="4762500" cy="266700"/>
          </a:xfrm>
          <a:prstGeom prst="rect">
            <a:avLst/>
          </a:prstGeom>
          <a:noFill/>
          <a:ln w="0">
            <a:noFill/>
            <a:prstDash val="solid"/>
          </a:ln>
        </p:spPr>
        <p:txBody>
          <a:bodyPr wrap="square" lIns="0" tIns="0" rIns="0" bIns="0" anchor="t">
            <a:normAutofit/>
          </a:bodyPr>
          <a:lstStyle/>
          <a:p>
            <a:pPr algn="l">
              <a:defRPr sz="1050" b="1">
                <a:solidFill>
                  <a:srgbClr val="8AA0A4"/>
                </a:solidFill>
                <a:latin typeface="Arial"/>
                <a:ea typeface="Arial"/>
                <a:cs typeface="Arial"/>
              </a:defRPr>
            </a:pPr>
            <a:r>
              <a:rPr sz="1050" b="1">
                <a:solidFill>
                  <a:srgbClr val="8AA0A4"/>
                </a:solidFill>
                <a:latin typeface="Arial"/>
                <a:ea typeface="Arial"/>
                <a:cs typeface="Arial"/>
              </a:rPr>
              <a:t>AI ENGINEERING CAPSTONE</a:t>
            </a:r>
          </a:p>
        </p:txBody>
      </p:sp>
      <p:sp>
        <p:nvSpPr>
          <p:cNvPr id="4" name="deck-title">
            <a:extLst>
              <a:ext uri="{FF2B5EF4-FFF2-40B4-BE49-F238E27FC236}">
                <a16:creationId xmlns:a16="http://schemas.microsoft.com/office/drawing/2014/main" id="{E39B15F8-5708-4A13-A3C5-CEC07A072FAE}"/>
              </a:ext>
            </a:extLst>
          </p:cNvPr>
          <p:cNvSpPr>
            <a:spLocks noGrp="1"/>
          </p:cNvSpPr>
          <p:nvPr/>
        </p:nvSpPr>
        <p:spPr>
          <a:xfrm>
            <a:off x="685800" y="1409700"/>
            <a:ext cx="7620000" cy="1047750"/>
          </a:xfrm>
          <a:prstGeom prst="rect">
            <a:avLst/>
          </a:prstGeom>
          <a:noFill/>
          <a:ln w="0">
            <a:noFill/>
            <a:prstDash val="solid"/>
          </a:ln>
        </p:spPr>
        <p:txBody>
          <a:bodyPr wrap="square" lIns="0" tIns="0" rIns="0" bIns="0" anchor="t">
            <a:normAutofit/>
          </a:bodyPr>
          <a:lstStyle/>
          <a:p>
            <a:pPr algn="l">
              <a:defRPr sz="5700" b="1">
                <a:solidFill>
                  <a:srgbClr val="E8F0EF"/>
                </a:solidFill>
                <a:latin typeface="Arial"/>
                <a:ea typeface="Arial"/>
                <a:cs typeface="Arial"/>
              </a:defRPr>
            </a:pPr>
            <a:r>
              <a:rPr sz="5700" b="1">
                <a:gradFill>
                  <a:gsLst>
                    <a:gs pos="0">
                      <a:srgbClr val="FFFFFF"/>
                    </a:gs>
                    <a:gs pos="56000">
                      <a:srgbClr val="47C6B7"/>
                    </a:gs>
                    <a:gs pos="100000">
                      <a:srgbClr val="F2A93B"/>
                    </a:gs>
                  </a:gsLst>
                  <a:lin ang="0"/>
                </a:gradFill>
                <a:latin typeface="Arial"/>
                <a:ea typeface="Arial"/>
                <a:cs typeface="Arial"/>
              </a:rPr>
              <a:t>MeetingMiner</a:t>
            </a:r>
          </a:p>
        </p:txBody>
      </p:sp>
      <p:sp>
        <p:nvSpPr>
          <p:cNvPr id="5" name="Rectangle 4">
            <a:extLst>
              <a:ext uri="{FF2B5EF4-FFF2-40B4-BE49-F238E27FC236}">
                <a16:creationId xmlns:a16="http://schemas.microsoft.com/office/drawing/2014/main" id="{7D269FED-760D-4C20-9DEB-B80FB53E96C1}"/>
              </a:ext>
            </a:extLst>
          </p:cNvPr>
          <p:cNvSpPr>
            <a:spLocks noGrp="1"/>
          </p:cNvSpPr>
          <p:nvPr/>
        </p:nvSpPr>
        <p:spPr>
          <a:xfrm>
            <a:off x="723900" y="2724150"/>
            <a:ext cx="7239000" cy="1143000"/>
          </a:xfrm>
          <a:prstGeom prst="rect">
            <a:avLst/>
          </a:prstGeom>
          <a:noFill/>
          <a:ln w="0">
            <a:noFill/>
            <a:prstDash val="solid"/>
          </a:ln>
        </p:spPr>
        <p:txBody>
          <a:bodyPr wrap="square" lIns="0" tIns="0" rIns="0" bIns="0" anchor="t">
            <a:normAutofit/>
          </a:bodyPr>
          <a:lstStyle/>
          <a:p>
            <a:pPr algn="l">
              <a:lnSpc>
                <a:spcPct val="106000"/>
              </a:lnSpc>
              <a:buNone/>
              <a:defRPr sz="2625" b="1">
                <a:solidFill>
                  <a:srgbClr val="E8F0EF"/>
                </a:solidFill>
                <a:latin typeface="Arial"/>
                <a:ea typeface="Arial"/>
                <a:cs typeface="Arial"/>
              </a:defRPr>
            </a:pPr>
            <a:r>
              <a:rPr sz="2625" b="1">
                <a:solidFill>
                  <a:srgbClr val="E8F0EF"/>
                </a:solidFill>
                <a:latin typeface="Arial"/>
                <a:ea typeface="Arial"/>
                <a:cs typeface="Arial"/>
              </a:rPr>
              <a:t>One architecture. One promise:</a:t>
            </a:r>
          </a:p>
          <a:p>
            <a:pPr algn="l">
              <a:lnSpc>
                <a:spcPct val="106000"/>
              </a:lnSpc>
              <a:buNone/>
              <a:defRPr sz="2625" b="1">
                <a:solidFill>
                  <a:srgbClr val="E8F0EF"/>
                </a:solidFill>
                <a:latin typeface="Arial"/>
                <a:ea typeface="Arial"/>
                <a:cs typeface="Arial"/>
              </a:defRPr>
            </a:pPr>
            <a:r>
              <a:rPr sz="2625" b="1">
                <a:solidFill>
                  <a:srgbClr val="E8F0EF"/>
                </a:solidFill>
                <a:latin typeface="Arial"/>
                <a:ea typeface="Arial"/>
                <a:cs typeface="Arial"/>
              </a:rPr>
              <a:t>prove every answer.</a:t>
            </a:r>
          </a:p>
        </p:txBody>
      </p:sp>
      <p:sp>
        <p:nvSpPr>
          <p:cNvPr id="6" name="Rectangle 5">
            <a:extLst>
              <a:ext uri="{FF2B5EF4-FFF2-40B4-BE49-F238E27FC236}">
                <a16:creationId xmlns:a16="http://schemas.microsoft.com/office/drawing/2014/main" id="{C839FA53-F14D-4122-817D-06B8B2DA7EE1}"/>
              </a:ext>
            </a:extLst>
          </p:cNvPr>
          <p:cNvSpPr>
            <a:spLocks noGrp="1"/>
          </p:cNvSpPr>
          <p:nvPr/>
        </p:nvSpPr>
        <p:spPr>
          <a:xfrm>
            <a:off x="723900" y="4438650"/>
            <a:ext cx="8667750" cy="28575"/>
          </a:xfrm>
          <a:prstGeom prst="rect">
            <a:avLst/>
          </a:prstGeom>
          <a:solidFill>
            <a:srgbClr val="31444A"/>
          </a:solidFill>
          <a:ln w="0">
            <a:noFill/>
            <a:prstDash val="solid"/>
          </a:ln>
        </p:spPr>
        <p:txBody>
          <a:bodyPr/>
          <a:lstStyle/>
          <a:p>
            <a:endParaRPr lang="en-US"/>
          </a:p>
        </p:txBody>
      </p:sp>
      <p:sp>
        <p:nvSpPr>
          <p:cNvPr id="7" name="Oval 6">
            <a:extLst>
              <a:ext uri="{FF2B5EF4-FFF2-40B4-BE49-F238E27FC236}">
                <a16:creationId xmlns:a16="http://schemas.microsoft.com/office/drawing/2014/main" id="{D6772A19-9FD1-4029-8CDC-E6F52DFD63B0}"/>
              </a:ext>
            </a:extLst>
          </p:cNvPr>
          <p:cNvSpPr>
            <a:spLocks noGrp="1"/>
          </p:cNvSpPr>
          <p:nvPr/>
        </p:nvSpPr>
        <p:spPr>
          <a:xfrm>
            <a:off x="1228725" y="4352925"/>
            <a:ext cx="171450" cy="171450"/>
          </a:xfrm>
          <a:prstGeom prst="ellipse">
            <a:avLst/>
          </a:prstGeom>
          <a:solidFill>
            <a:srgbClr val="F2A93B"/>
          </a:solidFill>
          <a:ln w="9525">
            <a:solidFill>
              <a:srgbClr val="F2A93B"/>
            </a:solidFill>
            <a:prstDash val="solid"/>
          </a:ln>
        </p:spPr>
        <p:txBody>
          <a:bodyPr/>
          <a:lstStyle/>
          <a:p>
            <a:endParaRPr lang="en-US"/>
          </a:p>
        </p:txBody>
      </p:sp>
      <p:sp>
        <p:nvSpPr>
          <p:cNvPr id="8" name="Oval 7">
            <a:extLst>
              <a:ext uri="{FF2B5EF4-FFF2-40B4-BE49-F238E27FC236}">
                <a16:creationId xmlns:a16="http://schemas.microsoft.com/office/drawing/2014/main" id="{FAEFB612-12C5-4F8E-982A-50AE42F0ACCB}"/>
              </a:ext>
            </a:extLst>
          </p:cNvPr>
          <p:cNvSpPr>
            <a:spLocks noGrp="1"/>
          </p:cNvSpPr>
          <p:nvPr/>
        </p:nvSpPr>
        <p:spPr>
          <a:xfrm>
            <a:off x="5057775" y="4352925"/>
            <a:ext cx="171450" cy="171450"/>
          </a:xfrm>
          <a:prstGeom prst="ellipse">
            <a:avLst/>
          </a:prstGeom>
          <a:solidFill>
            <a:srgbClr val="47C6B7"/>
          </a:solidFill>
          <a:ln w="9525">
            <a:solidFill>
              <a:srgbClr val="47C6B7"/>
            </a:solidFill>
            <a:prstDash val="solid"/>
          </a:ln>
        </p:spPr>
        <p:txBody>
          <a:bodyPr/>
          <a:lstStyle/>
          <a:p>
            <a:endParaRPr lang="en-US"/>
          </a:p>
        </p:txBody>
      </p:sp>
      <p:sp>
        <p:nvSpPr>
          <p:cNvPr id="9" name="Oval 8">
            <a:extLst>
              <a:ext uri="{FF2B5EF4-FFF2-40B4-BE49-F238E27FC236}">
                <a16:creationId xmlns:a16="http://schemas.microsoft.com/office/drawing/2014/main" id="{1CCE9FC9-0372-41E0-ACFC-ADD82BFBB2B9}"/>
              </a:ext>
            </a:extLst>
          </p:cNvPr>
          <p:cNvSpPr>
            <a:spLocks noGrp="1"/>
          </p:cNvSpPr>
          <p:nvPr/>
        </p:nvSpPr>
        <p:spPr>
          <a:xfrm>
            <a:off x="9305925" y="4352925"/>
            <a:ext cx="171450" cy="171450"/>
          </a:xfrm>
          <a:prstGeom prst="ellipse">
            <a:avLst/>
          </a:prstGeom>
          <a:solidFill>
            <a:srgbClr val="D8F36A"/>
          </a:solidFill>
          <a:ln w="9525">
            <a:solidFill>
              <a:srgbClr val="D8F36A"/>
            </a:solidFill>
            <a:prstDash val="solid"/>
          </a:ln>
        </p:spPr>
        <p:txBody>
          <a:bodyPr/>
          <a:lstStyle/>
          <a:p>
            <a:endParaRPr lang="en-US"/>
          </a:p>
        </p:txBody>
      </p:sp>
      <p:sp>
        <p:nvSpPr>
          <p:cNvPr id="10" name="Rectangle 9">
            <a:extLst>
              <a:ext uri="{FF2B5EF4-FFF2-40B4-BE49-F238E27FC236}">
                <a16:creationId xmlns:a16="http://schemas.microsoft.com/office/drawing/2014/main" id="{10AF1A81-1912-4B52-92A9-9AC83F14A0F8}"/>
              </a:ext>
            </a:extLst>
          </p:cNvPr>
          <p:cNvSpPr>
            <a:spLocks noGrp="1"/>
          </p:cNvSpPr>
          <p:nvPr/>
        </p:nvSpPr>
        <p:spPr>
          <a:xfrm>
            <a:off x="933450" y="4667250"/>
            <a:ext cx="1143000" cy="266700"/>
          </a:xfrm>
          <a:prstGeom prst="rect">
            <a:avLst/>
          </a:prstGeom>
          <a:noFill/>
          <a:ln w="0">
            <a:noFill/>
            <a:prstDash val="solid"/>
          </a:ln>
        </p:spPr>
        <p:txBody>
          <a:bodyPr wrap="square" lIns="0" tIns="0" rIns="0" bIns="0" anchor="t">
            <a:normAutofit/>
          </a:bodyPr>
          <a:lstStyle/>
          <a:p>
            <a:pPr algn="ctr">
              <a:defRPr sz="1200" b="0">
                <a:solidFill>
                  <a:srgbClr val="8AA0A4"/>
                </a:solidFill>
                <a:latin typeface="Arial"/>
                <a:ea typeface="Arial"/>
                <a:cs typeface="Arial"/>
              </a:defRPr>
            </a:pPr>
            <a:r>
              <a:rPr sz="1200" b="0">
                <a:solidFill>
                  <a:srgbClr val="8AA0A4"/>
                </a:solidFill>
                <a:latin typeface="Arial"/>
                <a:ea typeface="Arial"/>
                <a:cs typeface="Arial"/>
              </a:rPr>
              <a:t>question</a:t>
            </a:r>
          </a:p>
        </p:txBody>
      </p:sp>
      <p:sp>
        <p:nvSpPr>
          <p:cNvPr id="11" name="Rectangle 10">
            <a:extLst>
              <a:ext uri="{FF2B5EF4-FFF2-40B4-BE49-F238E27FC236}">
                <a16:creationId xmlns:a16="http://schemas.microsoft.com/office/drawing/2014/main" id="{37FC5083-F095-4779-9B17-6D757625BF79}"/>
              </a:ext>
            </a:extLst>
          </p:cNvPr>
          <p:cNvSpPr>
            <a:spLocks noGrp="1"/>
          </p:cNvSpPr>
          <p:nvPr/>
        </p:nvSpPr>
        <p:spPr>
          <a:xfrm>
            <a:off x="4667250" y="4667250"/>
            <a:ext cx="1143000" cy="266700"/>
          </a:xfrm>
          <a:prstGeom prst="rect">
            <a:avLst/>
          </a:prstGeom>
          <a:noFill/>
          <a:ln w="0">
            <a:noFill/>
            <a:prstDash val="solid"/>
          </a:ln>
        </p:spPr>
        <p:txBody>
          <a:bodyPr wrap="square" lIns="0" tIns="0" rIns="0" bIns="0" anchor="t">
            <a:normAutofit/>
          </a:bodyPr>
          <a:lstStyle/>
          <a:p>
            <a:pPr algn="ctr">
              <a:defRPr sz="1200" b="0">
                <a:solidFill>
                  <a:srgbClr val="8AA0A4"/>
                </a:solidFill>
                <a:latin typeface="Arial"/>
                <a:ea typeface="Arial"/>
                <a:cs typeface="Arial"/>
              </a:defRPr>
            </a:pPr>
            <a:r>
              <a:rPr sz="1200" b="0">
                <a:solidFill>
                  <a:srgbClr val="8AA0A4"/>
                </a:solidFill>
                <a:latin typeface="Arial"/>
                <a:ea typeface="Arial"/>
                <a:cs typeface="Arial"/>
              </a:rPr>
              <a:t>evidence</a:t>
            </a:r>
          </a:p>
        </p:txBody>
      </p:sp>
      <p:sp>
        <p:nvSpPr>
          <p:cNvPr id="12" name="Rectangle 11">
            <a:extLst>
              <a:ext uri="{FF2B5EF4-FFF2-40B4-BE49-F238E27FC236}">
                <a16:creationId xmlns:a16="http://schemas.microsoft.com/office/drawing/2014/main" id="{5EE0C9F6-83B1-4A91-9063-1F45B1FEECEA}"/>
              </a:ext>
            </a:extLst>
          </p:cNvPr>
          <p:cNvSpPr>
            <a:spLocks noGrp="1"/>
          </p:cNvSpPr>
          <p:nvPr/>
        </p:nvSpPr>
        <p:spPr>
          <a:xfrm>
            <a:off x="8915400" y="4667250"/>
            <a:ext cx="1143000" cy="266700"/>
          </a:xfrm>
          <a:prstGeom prst="rect">
            <a:avLst/>
          </a:prstGeom>
          <a:noFill/>
          <a:ln w="0">
            <a:noFill/>
            <a:prstDash val="solid"/>
          </a:ln>
        </p:spPr>
        <p:txBody>
          <a:bodyPr wrap="square" lIns="0" tIns="0" rIns="0" bIns="0" anchor="t">
            <a:normAutofit/>
          </a:bodyPr>
          <a:lstStyle/>
          <a:p>
            <a:pPr algn="ctr">
              <a:defRPr sz="1200" b="0">
                <a:solidFill>
                  <a:srgbClr val="8AA0A4"/>
                </a:solidFill>
                <a:latin typeface="Arial"/>
                <a:ea typeface="Arial"/>
                <a:cs typeface="Arial"/>
              </a:defRPr>
            </a:pPr>
            <a:r>
              <a:rPr sz="1200" b="0">
                <a:solidFill>
                  <a:srgbClr val="8AA0A4"/>
                </a:solidFill>
                <a:latin typeface="Arial"/>
                <a:ea typeface="Arial"/>
                <a:cs typeface="Arial"/>
              </a:rPr>
              <a:t>replay</a:t>
            </a:r>
          </a:p>
        </p:txBody>
      </p:sp>
      <p:sp>
        <p:nvSpPr>
          <p:cNvPr id="13" name="Rectangle 12">
            <a:extLst>
              <a:ext uri="{FF2B5EF4-FFF2-40B4-BE49-F238E27FC236}">
                <a16:creationId xmlns:a16="http://schemas.microsoft.com/office/drawing/2014/main" id="{E45D7BE0-6AE7-4DB1-A6BE-69F8269E074B}"/>
              </a:ext>
            </a:extLst>
          </p:cNvPr>
          <p:cNvSpPr>
            <a:spLocks noGrp="1"/>
          </p:cNvSpPr>
          <p:nvPr/>
        </p:nvSpPr>
        <p:spPr>
          <a:xfrm>
            <a:off x="723900" y="5981700"/>
            <a:ext cx="5905500" cy="247650"/>
          </a:xfrm>
          <a:prstGeom prst="rect">
            <a:avLst/>
          </a:prstGeom>
          <a:noFill/>
          <a:ln w="0">
            <a:noFill/>
            <a:prstDash val="solid"/>
          </a:ln>
        </p:spPr>
        <p:txBody>
          <a:bodyPr wrap="square" lIns="0" tIns="0" rIns="0" bIns="0" anchor="t">
            <a:normAutofit/>
          </a:bodyPr>
          <a:lstStyle/>
          <a:p>
            <a:pPr algn="l">
              <a:defRPr sz="1200" b="0">
                <a:solidFill>
                  <a:srgbClr val="8AA0A4"/>
                </a:solidFill>
                <a:latin typeface="Arial"/>
                <a:ea typeface="Arial"/>
                <a:cs typeface="Arial"/>
              </a:defRPr>
            </a:pPr>
            <a:r>
              <a:rPr sz="1200" b="0">
                <a:solidFill>
                  <a:srgbClr val="8AA0A4"/>
                </a:solidFill>
                <a:latin typeface="Arial"/>
                <a:ea typeface="Arial"/>
                <a:cs typeface="Arial"/>
              </a:rPr>
              <a:t>Tim Goeke  ·  AI Cohort  ·  August 22, 2026</a:t>
            </a:r>
          </a:p>
        </p:txBody>
      </p:sp>
    </p:spTree>
    <p:extLst>
      <p:ext uri="{BB962C8B-B14F-4D97-AF65-F5344CB8AC3E}">
        <p14:creationId xmlns:p14="http://schemas.microsoft.com/office/powerpoint/2010/main" val="210165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DF7BFB1-643F-497E-9400-F20CC6A992F8}"/>
              </a:ext>
            </a:extLst>
          </p:cNvPr>
          <p:cNvSpPr>
            <a:spLocks noGrp="1"/>
          </p:cNvSpPr>
          <p:nvPr/>
        </p:nvSpPr>
        <p:spPr>
          <a:xfrm>
            <a:off x="0" y="0"/>
            <a:ext cx="12192000" cy="66675"/>
          </a:xfrm>
          <a:prstGeom prst="rect">
            <a:avLst/>
          </a:prstGeom>
          <a:solidFill>
            <a:srgbClr val="3B82A6"/>
          </a:solidFill>
          <a:ln w="0">
            <a:noFill/>
            <a:prstDash val="solid"/>
          </a:ln>
        </p:spPr>
        <p:txBody>
          <a:bodyPr/>
          <a:lstStyle/>
          <a:p>
            <a:endParaRPr lang="en-US"/>
          </a:p>
        </p:txBody>
      </p:sp>
      <p:sp>
        <p:nvSpPr>
          <p:cNvPr id="2" name="section-2">
            <a:extLst>
              <a:ext uri="{FF2B5EF4-FFF2-40B4-BE49-F238E27FC236}">
                <a16:creationId xmlns:a16="http://schemas.microsoft.com/office/drawing/2014/main" id="{F0F16DB1-9455-4C3D-B6E0-F5F9DF585276}"/>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3B82A6"/>
                </a:solidFill>
                <a:latin typeface="Arial"/>
                <a:ea typeface="Arial"/>
                <a:cs typeface="Arial"/>
              </a:defRPr>
            </a:pPr>
            <a:r>
              <a:rPr sz="975" b="1">
                <a:solidFill>
                  <a:srgbClr val="3B82A6"/>
                </a:solidFill>
                <a:latin typeface="Arial"/>
                <a:ea typeface="Arial"/>
                <a:cs typeface="Arial"/>
              </a:rPr>
              <a:t>PRODUCT JOURNEY</a:t>
            </a:r>
          </a:p>
        </p:txBody>
      </p:sp>
      <p:sp>
        <p:nvSpPr>
          <p:cNvPr id="3" name="Rectangle 2">
            <a:extLst>
              <a:ext uri="{FF2B5EF4-FFF2-40B4-BE49-F238E27FC236}">
                <a16:creationId xmlns:a16="http://schemas.microsoft.com/office/drawing/2014/main" id="{C75DAC3C-93F6-423B-B515-E1303E3D6526}"/>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02</a:t>
            </a:r>
          </a:p>
        </p:txBody>
      </p:sp>
      <p:sp>
        <p:nvSpPr>
          <p:cNvPr id="4" name="Rectangle 3">
            <a:extLst>
              <a:ext uri="{FF2B5EF4-FFF2-40B4-BE49-F238E27FC236}">
                <a16:creationId xmlns:a16="http://schemas.microsoft.com/office/drawing/2014/main" id="{3FE46295-B715-4D60-80A0-5F77559C21DE}"/>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2CCAED49-4AE2-4019-A65C-0B6A1C898EAE}"/>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000" b="1">
                <a:solidFill>
                  <a:srgbClr val="E8F0EF"/>
                </a:solidFill>
                <a:latin typeface="Arial"/>
                <a:ea typeface="Arial"/>
                <a:cs typeface="Arial"/>
              </a:defRPr>
            </a:pPr>
            <a:r>
              <a:rPr sz="3000" b="1">
                <a:solidFill>
                  <a:srgbClr val="E8F0EF"/>
                </a:solidFill>
                <a:latin typeface="Arial"/>
                <a:ea typeface="Arial"/>
                <a:cs typeface="Arial"/>
              </a:rPr>
              <a:t>Watchback taught the first lesson: preserve the source.</a:t>
            </a:r>
          </a:p>
        </p:txBody>
      </p:sp>
      <p:sp>
        <p:nvSpPr>
          <p:cNvPr id="6" name="Rectangle 5">
            <a:extLst>
              <a:ext uri="{FF2B5EF4-FFF2-40B4-BE49-F238E27FC236}">
                <a16:creationId xmlns:a16="http://schemas.microsoft.com/office/drawing/2014/main" id="{95B3F773-B446-475F-91D0-3741966D69AC}"/>
              </a:ext>
            </a:extLst>
          </p:cNvPr>
          <p:cNvSpPr>
            <a:spLocks noGrp="1"/>
          </p:cNvSpPr>
          <p:nvPr/>
        </p:nvSpPr>
        <p:spPr>
          <a:xfrm>
            <a:off x="723900" y="1295400"/>
            <a:ext cx="10744200" cy="323850"/>
          </a:xfrm>
          <a:prstGeom prst="rect">
            <a:avLst/>
          </a:prstGeom>
          <a:noFill/>
          <a:ln w="0">
            <a:noFill/>
            <a:prstDash val="solid"/>
          </a:ln>
        </p:spPr>
        <p:txBody>
          <a:bodyPr wrap="square" lIns="0" tIns="0" rIns="0" bIns="0" anchor="t">
            <a:normAutofit/>
          </a:bodyPr>
          <a:lstStyle/>
          <a:p>
            <a:pPr algn="l">
              <a:defRPr sz="1500" b="0">
                <a:solidFill>
                  <a:srgbClr val="8AA0A4"/>
                </a:solidFill>
                <a:latin typeface="Arial"/>
                <a:ea typeface="Arial"/>
                <a:cs typeface="Arial"/>
              </a:defRPr>
            </a:pPr>
            <a:r>
              <a:rPr sz="1500" b="0">
                <a:solidFill>
                  <a:srgbClr val="8AA0A4"/>
                </a:solidFill>
                <a:latin typeface="Arial"/>
                <a:ea typeface="Arial"/>
                <a:cs typeface="Arial"/>
              </a:rPr>
              <a:t>The YouTube downloader became the conceptual starting point for MeetingMiner.</a:t>
            </a:r>
          </a:p>
        </p:txBody>
      </p:sp>
      <p:sp>
        <p:nvSpPr>
          <p:cNvPr id="7" name="Rectangle 6">
            <a:extLst>
              <a:ext uri="{FF2B5EF4-FFF2-40B4-BE49-F238E27FC236}">
                <a16:creationId xmlns:a16="http://schemas.microsoft.com/office/drawing/2014/main" id="{00A5D456-95F8-4077-BF17-CD55984EA5C6}"/>
              </a:ext>
            </a:extLst>
          </p:cNvPr>
          <p:cNvSpPr>
            <a:spLocks noGrp="1"/>
          </p:cNvSpPr>
          <p:nvPr/>
        </p:nvSpPr>
        <p:spPr>
          <a:xfrm>
            <a:off x="1219200" y="3543300"/>
            <a:ext cx="9563100" cy="38100"/>
          </a:xfrm>
          <a:prstGeom prst="rect">
            <a:avLst/>
          </a:prstGeom>
          <a:solidFill>
            <a:srgbClr val="31444A"/>
          </a:solidFill>
          <a:ln w="0">
            <a:noFill/>
            <a:prstDash val="solid"/>
          </a:ln>
        </p:spPr>
        <p:txBody>
          <a:bodyPr/>
          <a:lstStyle/>
          <a:p>
            <a:endParaRPr lang="en-US"/>
          </a:p>
        </p:txBody>
      </p:sp>
      <p:sp>
        <p:nvSpPr>
          <p:cNvPr id="8" name="Right Arrow 7">
            <a:extLst>
              <a:ext uri="{FF2B5EF4-FFF2-40B4-BE49-F238E27FC236}">
                <a16:creationId xmlns:a16="http://schemas.microsoft.com/office/drawing/2014/main" id="{E28D83B1-9D9B-47A8-A241-7E0798FEA097}"/>
              </a:ext>
            </a:extLst>
          </p:cNvPr>
          <p:cNvSpPr>
            <a:spLocks noGrp="1"/>
          </p:cNvSpPr>
          <p:nvPr/>
        </p:nvSpPr>
        <p:spPr>
          <a:xfrm>
            <a:off x="10629900" y="3429000"/>
            <a:ext cx="666750" cy="266700"/>
          </a:xfrm>
          <a:prstGeom prst="rightArrow">
            <a:avLst/>
          </a:prstGeom>
          <a:solidFill>
            <a:srgbClr val="31444A"/>
          </a:solidFill>
          <a:ln w="0">
            <a:noFill/>
            <a:prstDash val="solid"/>
          </a:ln>
        </p:spPr>
        <p:txBody>
          <a:bodyPr/>
          <a:lstStyle/>
          <a:p>
            <a:endParaRPr lang="en-US"/>
          </a:p>
        </p:txBody>
      </p:sp>
      <p:sp>
        <p:nvSpPr>
          <p:cNvPr id="9" name="Rectangle 8">
            <a:extLst>
              <a:ext uri="{FF2B5EF4-FFF2-40B4-BE49-F238E27FC236}">
                <a16:creationId xmlns:a16="http://schemas.microsoft.com/office/drawing/2014/main" id="{547BA961-B92F-47C1-A577-C2FDD038929B}"/>
              </a:ext>
            </a:extLst>
          </p:cNvPr>
          <p:cNvSpPr>
            <a:spLocks noGrp="1"/>
          </p:cNvSpPr>
          <p:nvPr/>
        </p:nvSpPr>
        <p:spPr>
          <a:xfrm>
            <a:off x="476250" y="1847850"/>
            <a:ext cx="3048000" cy="209550"/>
          </a:xfrm>
          <a:prstGeom prst="rect">
            <a:avLst/>
          </a:prstGeom>
          <a:noFill/>
          <a:ln w="0">
            <a:noFill/>
            <a:prstDash val="solid"/>
          </a:ln>
        </p:spPr>
        <p:txBody>
          <a:bodyPr wrap="square" lIns="0" tIns="0" rIns="0" bIns="0" anchor="t">
            <a:normAutofit/>
          </a:bodyPr>
          <a:lstStyle/>
          <a:p>
            <a:pPr algn="ctr">
              <a:defRPr sz="975" b="1">
                <a:solidFill>
                  <a:srgbClr val="F2A93B"/>
                </a:solidFill>
                <a:latin typeface="Arial"/>
                <a:ea typeface="Arial"/>
                <a:cs typeface="Arial"/>
              </a:defRPr>
            </a:pPr>
            <a:r>
              <a:rPr sz="975" b="1">
                <a:solidFill>
                  <a:srgbClr val="F2A93B"/>
                </a:solidFill>
                <a:latin typeface="Arial"/>
                <a:ea typeface="Arial"/>
                <a:cs typeface="Arial"/>
              </a:rPr>
              <a:t>WATCHBACK · YOUTUBE</a:t>
            </a:r>
          </a:p>
        </p:txBody>
      </p:sp>
      <p:sp>
        <p:nvSpPr>
          <p:cNvPr id="10" name="Rectangle 9">
            <a:extLst>
              <a:ext uri="{FF2B5EF4-FFF2-40B4-BE49-F238E27FC236}">
                <a16:creationId xmlns:a16="http://schemas.microsoft.com/office/drawing/2014/main" id="{E4994765-AADF-40B7-BEDC-987C06213DCC}"/>
              </a:ext>
            </a:extLst>
          </p:cNvPr>
          <p:cNvSpPr>
            <a:spLocks noGrp="1"/>
          </p:cNvSpPr>
          <p:nvPr/>
        </p:nvSpPr>
        <p:spPr>
          <a:xfrm>
            <a:off x="476250" y="2133600"/>
            <a:ext cx="3048000" cy="400050"/>
          </a:xfrm>
          <a:prstGeom prst="rect">
            <a:avLst/>
          </a:prstGeom>
          <a:noFill/>
          <a:ln w="0">
            <a:noFill/>
            <a:prstDash val="solid"/>
          </a:ln>
        </p:spPr>
        <p:txBody>
          <a:bodyPr wrap="square" lIns="0" tIns="0" rIns="0" bIns="0" anchor="t">
            <a:normAutofit/>
          </a:bodyPr>
          <a:lstStyle/>
          <a:p>
            <a:pPr algn="ctr">
              <a:defRPr sz="2250" b="1">
                <a:solidFill>
                  <a:srgbClr val="E8F0EF"/>
                </a:solidFill>
                <a:latin typeface="Arial"/>
                <a:ea typeface="Arial"/>
                <a:cs typeface="Arial"/>
              </a:defRPr>
            </a:pPr>
            <a:r>
              <a:rPr sz="2250" b="1">
                <a:solidFill>
                  <a:srgbClr val="E8F0EF"/>
                </a:solidFill>
                <a:latin typeface="Arial"/>
                <a:ea typeface="Arial"/>
                <a:cs typeface="Arial"/>
              </a:rPr>
              <a:t>Capture</a:t>
            </a:r>
          </a:p>
        </p:txBody>
      </p:sp>
      <p:sp>
        <p:nvSpPr>
          <p:cNvPr id="11" name="Rectangle 10">
            <a:extLst>
              <a:ext uri="{FF2B5EF4-FFF2-40B4-BE49-F238E27FC236}">
                <a16:creationId xmlns:a16="http://schemas.microsoft.com/office/drawing/2014/main" id="{A6CAFF24-C78A-469C-B691-F2D0FF2E733E}"/>
              </a:ext>
            </a:extLst>
          </p:cNvPr>
          <p:cNvSpPr>
            <a:spLocks noGrp="1"/>
          </p:cNvSpPr>
          <p:nvPr/>
        </p:nvSpPr>
        <p:spPr>
          <a:xfrm>
            <a:off x="476250" y="2628900"/>
            <a:ext cx="3048000" cy="723900"/>
          </a:xfrm>
          <a:prstGeom prst="rect">
            <a:avLst/>
          </a:prstGeom>
          <a:noFill/>
          <a:ln w="0">
            <a:noFill/>
            <a:prstDash val="solid"/>
          </a:ln>
        </p:spPr>
        <p:txBody>
          <a:bodyPr wrap="square" lIns="0" tIns="0" rIns="0" bIns="0" anchor="t">
            <a:normAutofit/>
          </a:bodyPr>
          <a:lstStyle/>
          <a:p>
            <a:pPr algn="ctr">
              <a:defRPr sz="1350" b="0">
                <a:solidFill>
                  <a:srgbClr val="E8F0EF"/>
                </a:solidFill>
                <a:latin typeface="Arial"/>
                <a:ea typeface="Arial"/>
                <a:cs typeface="Arial"/>
              </a:defRPr>
            </a:pPr>
            <a:r>
              <a:rPr sz="1350" b="0">
                <a:solidFill>
                  <a:srgbClr val="E8F0EF"/>
                </a:solidFill>
                <a:latin typeface="Arial"/>
                <a:ea typeface="Arial"/>
                <a:cs typeface="Arial"/>
              </a:rPr>
              <a:t>A YouTube downloader that packages video, a timed transcript, metadata and a playable source.</a:t>
            </a:r>
          </a:p>
        </p:txBody>
      </p:sp>
      <p:sp>
        <p:nvSpPr>
          <p:cNvPr id="12" name="Oval 11">
            <a:extLst>
              <a:ext uri="{FF2B5EF4-FFF2-40B4-BE49-F238E27FC236}">
                <a16:creationId xmlns:a16="http://schemas.microsoft.com/office/drawing/2014/main" id="{3DBC4B9C-2638-4933-8337-66BDC9C3F4DF}"/>
              </a:ext>
            </a:extLst>
          </p:cNvPr>
          <p:cNvSpPr>
            <a:spLocks noGrp="1"/>
          </p:cNvSpPr>
          <p:nvPr/>
        </p:nvSpPr>
        <p:spPr>
          <a:xfrm>
            <a:off x="1762125" y="3324225"/>
            <a:ext cx="476250" cy="476250"/>
          </a:xfrm>
          <a:prstGeom prst="ellipse">
            <a:avLst/>
          </a:prstGeom>
          <a:solidFill>
            <a:srgbClr val="081115"/>
          </a:solidFill>
          <a:ln w="9525">
            <a:solidFill>
              <a:srgbClr val="F2A93B"/>
            </a:solidFill>
            <a:prstDash val="solid"/>
          </a:ln>
        </p:spPr>
        <p:txBody>
          <a:bodyPr/>
          <a:lstStyle/>
          <a:p>
            <a:endParaRPr lang="en-US"/>
          </a:p>
        </p:txBody>
      </p:sp>
      <p:sp>
        <p:nvSpPr>
          <p:cNvPr id="13" name="Rectangle 12">
            <a:extLst>
              <a:ext uri="{FF2B5EF4-FFF2-40B4-BE49-F238E27FC236}">
                <a16:creationId xmlns:a16="http://schemas.microsoft.com/office/drawing/2014/main" id="{CC2E15DD-A88B-46D2-A669-612EA0E2F507}"/>
              </a:ext>
            </a:extLst>
          </p:cNvPr>
          <p:cNvSpPr>
            <a:spLocks noGrp="1"/>
          </p:cNvSpPr>
          <p:nvPr/>
        </p:nvSpPr>
        <p:spPr>
          <a:xfrm>
            <a:off x="1809750" y="3438525"/>
            <a:ext cx="381000" cy="247650"/>
          </a:xfrm>
          <a:prstGeom prst="rect">
            <a:avLst/>
          </a:prstGeom>
          <a:noFill/>
          <a:ln w="0">
            <a:noFill/>
            <a:prstDash val="solid"/>
          </a:ln>
        </p:spPr>
        <p:txBody>
          <a:bodyPr wrap="square" lIns="0" tIns="0" rIns="0" bIns="0" anchor="ctr">
            <a:normAutofit/>
          </a:bodyPr>
          <a:lstStyle/>
          <a:p>
            <a:pPr algn="ctr">
              <a:defRPr sz="975" b="1">
                <a:solidFill>
                  <a:srgbClr val="F2A93B"/>
                </a:solidFill>
                <a:latin typeface="Arial"/>
                <a:ea typeface="Arial"/>
                <a:cs typeface="Arial"/>
              </a:defRPr>
            </a:pPr>
            <a:r>
              <a:rPr sz="975" b="1">
                <a:solidFill>
                  <a:srgbClr val="F2A93B"/>
                </a:solidFill>
                <a:latin typeface="Arial"/>
                <a:ea typeface="Arial"/>
                <a:cs typeface="Arial"/>
              </a:rPr>
              <a:t>01</a:t>
            </a:r>
          </a:p>
        </p:txBody>
      </p:sp>
      <p:sp>
        <p:nvSpPr>
          <p:cNvPr id="14" name="Rectangle 13">
            <a:extLst>
              <a:ext uri="{FF2B5EF4-FFF2-40B4-BE49-F238E27FC236}">
                <a16:creationId xmlns:a16="http://schemas.microsoft.com/office/drawing/2014/main" id="{4A9030B6-2A7A-4ACD-967E-0563379519F1}"/>
              </a:ext>
            </a:extLst>
          </p:cNvPr>
          <p:cNvSpPr>
            <a:spLocks noGrp="1"/>
          </p:cNvSpPr>
          <p:nvPr/>
        </p:nvSpPr>
        <p:spPr>
          <a:xfrm>
            <a:off x="476250" y="4000500"/>
            <a:ext cx="3048000" cy="266700"/>
          </a:xfrm>
          <a:prstGeom prst="rect">
            <a:avLst/>
          </a:prstGeom>
          <a:noFill/>
          <a:ln w="0">
            <a:noFill/>
            <a:prstDash val="solid"/>
          </a:ln>
        </p:spPr>
        <p:txBody>
          <a:bodyPr wrap="square" lIns="0" tIns="0" rIns="0" bIns="0" anchor="t">
            <a:normAutofit/>
          </a:bodyPr>
          <a:lstStyle/>
          <a:p>
            <a:pPr algn="ctr">
              <a:defRPr sz="1200" b="1">
                <a:solidFill>
                  <a:srgbClr val="F2A93B"/>
                </a:solidFill>
                <a:latin typeface="Arial"/>
                <a:ea typeface="Arial"/>
                <a:cs typeface="Arial"/>
              </a:defRPr>
            </a:pPr>
            <a:r>
              <a:rPr sz="1200" b="1">
                <a:solidFill>
                  <a:srgbClr val="F2A93B"/>
                </a:solidFill>
                <a:latin typeface="Arial"/>
                <a:ea typeface="Arial"/>
                <a:cs typeface="Arial"/>
              </a:rPr>
              <a:t>video · transcript · metadata</a:t>
            </a:r>
          </a:p>
        </p:txBody>
      </p:sp>
      <p:sp>
        <p:nvSpPr>
          <p:cNvPr id="15" name="Rectangle 14">
            <a:extLst>
              <a:ext uri="{FF2B5EF4-FFF2-40B4-BE49-F238E27FC236}">
                <a16:creationId xmlns:a16="http://schemas.microsoft.com/office/drawing/2014/main" id="{928EC3D3-35FC-47E3-88B4-3B663775C579}"/>
              </a:ext>
            </a:extLst>
          </p:cNvPr>
          <p:cNvSpPr>
            <a:spLocks noGrp="1"/>
          </p:cNvSpPr>
          <p:nvPr/>
        </p:nvSpPr>
        <p:spPr>
          <a:xfrm>
            <a:off x="4572000" y="1847850"/>
            <a:ext cx="3048000" cy="209550"/>
          </a:xfrm>
          <a:prstGeom prst="rect">
            <a:avLst/>
          </a:prstGeom>
          <a:noFill/>
          <a:ln w="0">
            <a:noFill/>
            <a:prstDash val="solid"/>
          </a:ln>
        </p:spPr>
        <p:txBody>
          <a:bodyPr wrap="square" lIns="0" tIns="0" rIns="0" bIns="0" anchor="t">
            <a:normAutofit/>
          </a:bodyPr>
          <a:lstStyle/>
          <a:p>
            <a:pPr algn="ctr">
              <a:defRPr sz="975" b="1">
                <a:solidFill>
                  <a:srgbClr val="A88BFF"/>
                </a:solidFill>
                <a:latin typeface="Arial"/>
                <a:ea typeface="Arial"/>
                <a:cs typeface="Arial"/>
              </a:defRPr>
            </a:pPr>
            <a:r>
              <a:rPr sz="975" b="1">
                <a:solidFill>
                  <a:srgbClr val="A88BFF"/>
                </a:solidFill>
                <a:latin typeface="Arial"/>
                <a:ea typeface="Arial"/>
                <a:cs typeface="Arial"/>
              </a:rPr>
              <a:t>THE REUSABLE IDEA</a:t>
            </a:r>
          </a:p>
        </p:txBody>
      </p:sp>
      <p:sp>
        <p:nvSpPr>
          <p:cNvPr id="16" name="Rectangle 15">
            <a:extLst>
              <a:ext uri="{FF2B5EF4-FFF2-40B4-BE49-F238E27FC236}">
                <a16:creationId xmlns:a16="http://schemas.microsoft.com/office/drawing/2014/main" id="{B80CF637-79A7-4A56-B4B1-64F02222CC4C}"/>
              </a:ext>
            </a:extLst>
          </p:cNvPr>
          <p:cNvSpPr>
            <a:spLocks noGrp="1"/>
          </p:cNvSpPr>
          <p:nvPr/>
        </p:nvSpPr>
        <p:spPr>
          <a:xfrm>
            <a:off x="4572000" y="2133600"/>
            <a:ext cx="3048000" cy="400050"/>
          </a:xfrm>
          <a:prstGeom prst="rect">
            <a:avLst/>
          </a:prstGeom>
          <a:noFill/>
          <a:ln w="0">
            <a:noFill/>
            <a:prstDash val="solid"/>
          </a:ln>
        </p:spPr>
        <p:txBody>
          <a:bodyPr wrap="square" lIns="0" tIns="0" rIns="0" bIns="0" anchor="t">
            <a:normAutofit/>
          </a:bodyPr>
          <a:lstStyle/>
          <a:p>
            <a:pPr algn="ctr">
              <a:defRPr sz="2250" b="1">
                <a:solidFill>
                  <a:srgbClr val="E8F0EF"/>
                </a:solidFill>
                <a:latin typeface="Arial"/>
                <a:ea typeface="Arial"/>
                <a:cs typeface="Arial"/>
              </a:defRPr>
            </a:pPr>
            <a:r>
              <a:rPr sz="2250" b="1">
                <a:solidFill>
                  <a:srgbClr val="E8F0EF"/>
                </a:solidFill>
                <a:latin typeface="Arial"/>
                <a:ea typeface="Arial"/>
                <a:cs typeface="Arial"/>
              </a:rPr>
              <a:t>Preserve</a:t>
            </a:r>
          </a:p>
        </p:txBody>
      </p:sp>
      <p:sp>
        <p:nvSpPr>
          <p:cNvPr id="17" name="Rectangle 16">
            <a:extLst>
              <a:ext uri="{FF2B5EF4-FFF2-40B4-BE49-F238E27FC236}">
                <a16:creationId xmlns:a16="http://schemas.microsoft.com/office/drawing/2014/main" id="{29608724-EBF9-468F-A382-CA2AB9C848A9}"/>
              </a:ext>
            </a:extLst>
          </p:cNvPr>
          <p:cNvSpPr>
            <a:spLocks noGrp="1"/>
          </p:cNvSpPr>
          <p:nvPr/>
        </p:nvSpPr>
        <p:spPr>
          <a:xfrm>
            <a:off x="4572000" y="2628900"/>
            <a:ext cx="3048000" cy="723900"/>
          </a:xfrm>
          <a:prstGeom prst="rect">
            <a:avLst/>
          </a:prstGeom>
          <a:noFill/>
          <a:ln w="0">
            <a:noFill/>
            <a:prstDash val="solid"/>
          </a:ln>
        </p:spPr>
        <p:txBody>
          <a:bodyPr wrap="square" lIns="0" tIns="0" rIns="0" bIns="0" anchor="t">
            <a:normAutofit fontScale="99075"/>
          </a:bodyPr>
          <a:lstStyle/>
          <a:p>
            <a:pPr algn="ctr">
              <a:defRPr sz="1350" b="0">
                <a:solidFill>
                  <a:srgbClr val="E8F0EF"/>
                </a:solidFill>
                <a:latin typeface="Arial"/>
                <a:ea typeface="Arial"/>
                <a:cs typeface="Arial"/>
              </a:defRPr>
            </a:pPr>
            <a:r>
              <a:rPr sz="1350" b="0">
                <a:solidFill>
                  <a:srgbClr val="E8F0EF"/>
                </a:solidFill>
                <a:latin typeface="Arial"/>
                <a:ea typeface="Arial"/>
                <a:cs typeface="Arial"/>
              </a:rPr>
              <a:t>A download becomes a corpus when the media, words and timestamps remain linked as one evidence package.</a:t>
            </a:r>
          </a:p>
        </p:txBody>
      </p:sp>
      <p:sp>
        <p:nvSpPr>
          <p:cNvPr id="18" name="Oval 17">
            <a:extLst>
              <a:ext uri="{FF2B5EF4-FFF2-40B4-BE49-F238E27FC236}">
                <a16:creationId xmlns:a16="http://schemas.microsoft.com/office/drawing/2014/main" id="{A152C23A-28EE-402F-890D-CA7689C59409}"/>
              </a:ext>
            </a:extLst>
          </p:cNvPr>
          <p:cNvSpPr>
            <a:spLocks noGrp="1"/>
          </p:cNvSpPr>
          <p:nvPr/>
        </p:nvSpPr>
        <p:spPr>
          <a:xfrm>
            <a:off x="5857875" y="3324225"/>
            <a:ext cx="476250" cy="476250"/>
          </a:xfrm>
          <a:prstGeom prst="ellipse">
            <a:avLst/>
          </a:prstGeom>
          <a:solidFill>
            <a:srgbClr val="081115"/>
          </a:solidFill>
          <a:ln w="9525">
            <a:solidFill>
              <a:srgbClr val="A88BFF"/>
            </a:solidFill>
            <a:prstDash val="solid"/>
          </a:ln>
        </p:spPr>
        <p:txBody>
          <a:bodyPr/>
          <a:lstStyle/>
          <a:p>
            <a:endParaRPr lang="en-US"/>
          </a:p>
        </p:txBody>
      </p:sp>
      <p:sp>
        <p:nvSpPr>
          <p:cNvPr id="19" name="Rectangle 18">
            <a:extLst>
              <a:ext uri="{FF2B5EF4-FFF2-40B4-BE49-F238E27FC236}">
                <a16:creationId xmlns:a16="http://schemas.microsoft.com/office/drawing/2014/main" id="{692ECFF3-6484-40A1-AA6F-39AC3FB82CB3}"/>
              </a:ext>
            </a:extLst>
          </p:cNvPr>
          <p:cNvSpPr>
            <a:spLocks noGrp="1"/>
          </p:cNvSpPr>
          <p:nvPr/>
        </p:nvSpPr>
        <p:spPr>
          <a:xfrm>
            <a:off x="5905500" y="3438525"/>
            <a:ext cx="381000" cy="247650"/>
          </a:xfrm>
          <a:prstGeom prst="rect">
            <a:avLst/>
          </a:prstGeom>
          <a:noFill/>
          <a:ln w="0">
            <a:noFill/>
            <a:prstDash val="solid"/>
          </a:ln>
        </p:spPr>
        <p:txBody>
          <a:bodyPr wrap="square" lIns="0" tIns="0" rIns="0" bIns="0" anchor="ctr">
            <a:normAutofit/>
          </a:bodyPr>
          <a:lstStyle/>
          <a:p>
            <a:pPr algn="ctr">
              <a:defRPr sz="975" b="1">
                <a:solidFill>
                  <a:srgbClr val="A88BFF"/>
                </a:solidFill>
                <a:latin typeface="Arial"/>
                <a:ea typeface="Arial"/>
                <a:cs typeface="Arial"/>
              </a:defRPr>
            </a:pPr>
            <a:r>
              <a:rPr sz="975" b="1">
                <a:solidFill>
                  <a:srgbClr val="A88BFF"/>
                </a:solidFill>
                <a:latin typeface="Arial"/>
                <a:ea typeface="Arial"/>
                <a:cs typeface="Arial"/>
              </a:rPr>
              <a:t>02</a:t>
            </a:r>
          </a:p>
        </p:txBody>
      </p:sp>
      <p:sp>
        <p:nvSpPr>
          <p:cNvPr id="20" name="Rectangle 19">
            <a:extLst>
              <a:ext uri="{FF2B5EF4-FFF2-40B4-BE49-F238E27FC236}">
                <a16:creationId xmlns:a16="http://schemas.microsoft.com/office/drawing/2014/main" id="{98E070A9-5DC7-4710-A444-7985431FFAE4}"/>
              </a:ext>
            </a:extLst>
          </p:cNvPr>
          <p:cNvSpPr>
            <a:spLocks noGrp="1"/>
          </p:cNvSpPr>
          <p:nvPr/>
        </p:nvSpPr>
        <p:spPr>
          <a:xfrm>
            <a:off x="4572000" y="4000500"/>
            <a:ext cx="3048000" cy="266700"/>
          </a:xfrm>
          <a:prstGeom prst="rect">
            <a:avLst/>
          </a:prstGeom>
          <a:noFill/>
          <a:ln w="0">
            <a:noFill/>
            <a:prstDash val="solid"/>
          </a:ln>
        </p:spPr>
        <p:txBody>
          <a:bodyPr wrap="square" lIns="0" tIns="0" rIns="0" bIns="0" anchor="t">
            <a:normAutofit/>
          </a:bodyPr>
          <a:lstStyle/>
          <a:p>
            <a:pPr algn="ctr">
              <a:defRPr sz="1200" b="1">
                <a:solidFill>
                  <a:srgbClr val="A88BFF"/>
                </a:solidFill>
                <a:latin typeface="Arial"/>
                <a:ea typeface="Arial"/>
                <a:cs typeface="Arial"/>
              </a:defRPr>
            </a:pPr>
            <a:r>
              <a:rPr sz="1200" b="1">
                <a:solidFill>
                  <a:srgbClr val="A88BFF"/>
                </a:solidFill>
                <a:latin typeface="Arial"/>
                <a:ea typeface="Arial"/>
                <a:cs typeface="Arial"/>
              </a:rPr>
              <a:t>media ↔ words ↔ time</a:t>
            </a:r>
          </a:p>
        </p:txBody>
      </p:sp>
      <p:sp>
        <p:nvSpPr>
          <p:cNvPr id="21" name="Rectangle 20">
            <a:extLst>
              <a:ext uri="{FF2B5EF4-FFF2-40B4-BE49-F238E27FC236}">
                <a16:creationId xmlns:a16="http://schemas.microsoft.com/office/drawing/2014/main" id="{1A4F69BA-4913-4F34-A06F-93A9D0F12B0B}"/>
              </a:ext>
            </a:extLst>
          </p:cNvPr>
          <p:cNvSpPr>
            <a:spLocks noGrp="1"/>
          </p:cNvSpPr>
          <p:nvPr/>
        </p:nvSpPr>
        <p:spPr>
          <a:xfrm>
            <a:off x="8667750" y="1847850"/>
            <a:ext cx="3048000" cy="209550"/>
          </a:xfrm>
          <a:prstGeom prst="rect">
            <a:avLst/>
          </a:prstGeom>
          <a:noFill/>
          <a:ln w="0">
            <a:noFill/>
            <a:prstDash val="solid"/>
          </a:ln>
        </p:spPr>
        <p:txBody>
          <a:bodyPr wrap="square" lIns="0" tIns="0" rIns="0" bIns="0" anchor="t">
            <a:normAutofit/>
          </a:bodyPr>
          <a:lstStyle/>
          <a:p>
            <a:pPr algn="ctr">
              <a:defRPr sz="975" b="1">
                <a:solidFill>
                  <a:srgbClr val="47C6B7"/>
                </a:solidFill>
                <a:latin typeface="Arial"/>
                <a:ea typeface="Arial"/>
                <a:cs typeface="Arial"/>
              </a:defRPr>
            </a:pPr>
            <a:r>
              <a:rPr sz="975" b="1">
                <a:solidFill>
                  <a:srgbClr val="47C6B7"/>
                </a:solidFill>
                <a:latin typeface="Arial"/>
                <a:ea typeface="Arial"/>
                <a:cs typeface="Arial"/>
              </a:rPr>
              <a:t>MEETINGMINER · MEETINGS</a:t>
            </a:r>
          </a:p>
        </p:txBody>
      </p:sp>
      <p:sp>
        <p:nvSpPr>
          <p:cNvPr id="22" name="Rectangle 21">
            <a:extLst>
              <a:ext uri="{FF2B5EF4-FFF2-40B4-BE49-F238E27FC236}">
                <a16:creationId xmlns:a16="http://schemas.microsoft.com/office/drawing/2014/main" id="{62E38D70-8D07-4A10-B66C-2A718F5D06AB}"/>
              </a:ext>
            </a:extLst>
          </p:cNvPr>
          <p:cNvSpPr>
            <a:spLocks noGrp="1"/>
          </p:cNvSpPr>
          <p:nvPr/>
        </p:nvSpPr>
        <p:spPr>
          <a:xfrm>
            <a:off x="8667750" y="2133600"/>
            <a:ext cx="3048000" cy="400050"/>
          </a:xfrm>
          <a:prstGeom prst="rect">
            <a:avLst/>
          </a:prstGeom>
          <a:noFill/>
          <a:ln w="0">
            <a:noFill/>
            <a:prstDash val="solid"/>
          </a:ln>
        </p:spPr>
        <p:txBody>
          <a:bodyPr wrap="square" lIns="0" tIns="0" rIns="0" bIns="0" anchor="t">
            <a:normAutofit/>
          </a:bodyPr>
          <a:lstStyle/>
          <a:p>
            <a:pPr algn="ctr">
              <a:defRPr sz="2250" b="1">
                <a:solidFill>
                  <a:srgbClr val="E8F0EF"/>
                </a:solidFill>
                <a:latin typeface="Arial"/>
                <a:ea typeface="Arial"/>
                <a:cs typeface="Arial"/>
              </a:defRPr>
            </a:pPr>
            <a:r>
              <a:rPr sz="2250" b="1">
                <a:solidFill>
                  <a:srgbClr val="E8F0EF"/>
                </a:solidFill>
                <a:latin typeface="Arial"/>
                <a:ea typeface="Arial"/>
                <a:cs typeface="Arial"/>
              </a:rPr>
              <a:t>Investigate</a:t>
            </a:r>
          </a:p>
        </p:txBody>
      </p:sp>
      <p:sp>
        <p:nvSpPr>
          <p:cNvPr id="23" name="Rectangle 22">
            <a:extLst>
              <a:ext uri="{FF2B5EF4-FFF2-40B4-BE49-F238E27FC236}">
                <a16:creationId xmlns:a16="http://schemas.microsoft.com/office/drawing/2014/main" id="{98889A1E-9279-4691-AC0B-5580645CC243}"/>
              </a:ext>
            </a:extLst>
          </p:cNvPr>
          <p:cNvSpPr>
            <a:spLocks noGrp="1"/>
          </p:cNvSpPr>
          <p:nvPr/>
        </p:nvSpPr>
        <p:spPr>
          <a:xfrm>
            <a:off x="8667750" y="2628900"/>
            <a:ext cx="3048000" cy="723900"/>
          </a:xfrm>
          <a:prstGeom prst="rect">
            <a:avLst/>
          </a:prstGeom>
          <a:noFill/>
          <a:ln w="0">
            <a:noFill/>
            <a:prstDash val="solid"/>
          </a:ln>
        </p:spPr>
        <p:txBody>
          <a:bodyPr wrap="square" lIns="0" tIns="0" rIns="0" bIns="0" anchor="t">
            <a:normAutofit/>
          </a:bodyPr>
          <a:lstStyle/>
          <a:p>
            <a:pPr algn="ctr">
              <a:defRPr sz="1350" b="0">
                <a:solidFill>
                  <a:srgbClr val="E8F0EF"/>
                </a:solidFill>
                <a:latin typeface="Arial"/>
                <a:ea typeface="Arial"/>
                <a:cs typeface="Arial"/>
              </a:defRPr>
            </a:pPr>
            <a:r>
              <a:rPr sz="1350" b="0">
                <a:solidFill>
                  <a:srgbClr val="E8F0EF"/>
                </a:solidFill>
                <a:latin typeface="Arial"/>
                <a:ea typeface="Arial"/>
                <a:cs typeface="Arial"/>
              </a:rPr>
              <a:t>Extend the contract to meetings: ask across the corpus, cite the moment, then replay the source.</a:t>
            </a:r>
          </a:p>
        </p:txBody>
      </p:sp>
      <p:sp>
        <p:nvSpPr>
          <p:cNvPr id="24" name="Oval 23">
            <a:extLst>
              <a:ext uri="{FF2B5EF4-FFF2-40B4-BE49-F238E27FC236}">
                <a16:creationId xmlns:a16="http://schemas.microsoft.com/office/drawing/2014/main" id="{89017C60-BF31-48DE-9051-8755960F212E}"/>
              </a:ext>
            </a:extLst>
          </p:cNvPr>
          <p:cNvSpPr>
            <a:spLocks noGrp="1"/>
          </p:cNvSpPr>
          <p:nvPr/>
        </p:nvSpPr>
        <p:spPr>
          <a:xfrm>
            <a:off x="9953625" y="3324225"/>
            <a:ext cx="476250" cy="476250"/>
          </a:xfrm>
          <a:prstGeom prst="ellipse">
            <a:avLst/>
          </a:prstGeom>
          <a:solidFill>
            <a:srgbClr val="081115"/>
          </a:solidFill>
          <a:ln w="9525">
            <a:solidFill>
              <a:srgbClr val="47C6B7"/>
            </a:solidFill>
            <a:prstDash val="solid"/>
          </a:ln>
        </p:spPr>
        <p:txBody>
          <a:bodyPr/>
          <a:lstStyle/>
          <a:p>
            <a:endParaRPr lang="en-US"/>
          </a:p>
        </p:txBody>
      </p:sp>
      <p:sp>
        <p:nvSpPr>
          <p:cNvPr id="25" name="Rectangle 24">
            <a:extLst>
              <a:ext uri="{FF2B5EF4-FFF2-40B4-BE49-F238E27FC236}">
                <a16:creationId xmlns:a16="http://schemas.microsoft.com/office/drawing/2014/main" id="{E2B29751-04DD-4ED0-BACC-6935B78625E0}"/>
              </a:ext>
            </a:extLst>
          </p:cNvPr>
          <p:cNvSpPr>
            <a:spLocks noGrp="1"/>
          </p:cNvSpPr>
          <p:nvPr/>
        </p:nvSpPr>
        <p:spPr>
          <a:xfrm>
            <a:off x="10001250" y="3438525"/>
            <a:ext cx="381000" cy="247650"/>
          </a:xfrm>
          <a:prstGeom prst="rect">
            <a:avLst/>
          </a:prstGeom>
          <a:noFill/>
          <a:ln w="0">
            <a:noFill/>
            <a:prstDash val="solid"/>
          </a:ln>
        </p:spPr>
        <p:txBody>
          <a:bodyPr wrap="square" lIns="0" tIns="0" rIns="0" bIns="0" anchor="ctr">
            <a:normAutofit/>
          </a:bodyPr>
          <a:lstStyle/>
          <a:p>
            <a:pPr algn="ctr">
              <a:defRPr sz="975" b="1">
                <a:solidFill>
                  <a:srgbClr val="47C6B7"/>
                </a:solidFill>
                <a:latin typeface="Arial"/>
                <a:ea typeface="Arial"/>
                <a:cs typeface="Arial"/>
              </a:defRPr>
            </a:pPr>
            <a:r>
              <a:rPr sz="975" b="1">
                <a:solidFill>
                  <a:srgbClr val="47C6B7"/>
                </a:solidFill>
                <a:latin typeface="Arial"/>
                <a:ea typeface="Arial"/>
                <a:cs typeface="Arial"/>
              </a:rPr>
              <a:t>03</a:t>
            </a:r>
          </a:p>
        </p:txBody>
      </p:sp>
      <p:sp>
        <p:nvSpPr>
          <p:cNvPr id="26" name="Rectangle 25">
            <a:extLst>
              <a:ext uri="{FF2B5EF4-FFF2-40B4-BE49-F238E27FC236}">
                <a16:creationId xmlns:a16="http://schemas.microsoft.com/office/drawing/2014/main" id="{117EE0B9-C9D8-43B9-A113-3B006ED1F042}"/>
              </a:ext>
            </a:extLst>
          </p:cNvPr>
          <p:cNvSpPr>
            <a:spLocks noGrp="1"/>
          </p:cNvSpPr>
          <p:nvPr/>
        </p:nvSpPr>
        <p:spPr>
          <a:xfrm>
            <a:off x="8667750" y="4000500"/>
            <a:ext cx="3048000" cy="266700"/>
          </a:xfrm>
          <a:prstGeom prst="rect">
            <a:avLst/>
          </a:prstGeom>
          <a:noFill/>
          <a:ln w="0">
            <a:noFill/>
            <a:prstDash val="solid"/>
          </a:ln>
        </p:spPr>
        <p:txBody>
          <a:bodyPr wrap="square" lIns="0" tIns="0" rIns="0" bIns="0" anchor="t">
            <a:normAutofit/>
          </a:bodyPr>
          <a:lstStyle/>
          <a:p>
            <a:pPr algn="ctr">
              <a:defRPr sz="1200" b="1">
                <a:solidFill>
                  <a:srgbClr val="47C6B7"/>
                </a:solidFill>
                <a:latin typeface="Arial"/>
                <a:ea typeface="Arial"/>
                <a:cs typeface="Arial"/>
              </a:defRPr>
            </a:pPr>
            <a:r>
              <a:rPr sz="1200" b="1">
                <a:solidFill>
                  <a:srgbClr val="47C6B7"/>
                </a:solidFill>
                <a:latin typeface="Arial"/>
                <a:ea typeface="Arial"/>
                <a:cs typeface="Arial"/>
              </a:rPr>
              <a:t>question · citation · replay</a:t>
            </a:r>
          </a:p>
        </p:txBody>
      </p:sp>
      <p:sp>
        <p:nvSpPr>
          <p:cNvPr id="27" name="Rectangle 26">
            <a:extLst>
              <a:ext uri="{FF2B5EF4-FFF2-40B4-BE49-F238E27FC236}">
                <a16:creationId xmlns:a16="http://schemas.microsoft.com/office/drawing/2014/main" id="{C24699C7-4EF6-4D62-BB71-1E3C347A73A7}"/>
              </a:ext>
            </a:extLst>
          </p:cNvPr>
          <p:cNvSpPr>
            <a:spLocks noGrp="1"/>
          </p:cNvSpPr>
          <p:nvPr/>
        </p:nvSpPr>
        <p:spPr>
          <a:xfrm>
            <a:off x="1695450" y="4933950"/>
            <a:ext cx="8801100" cy="457200"/>
          </a:xfrm>
          <a:prstGeom prst="rect">
            <a:avLst/>
          </a:prstGeom>
          <a:noFill/>
          <a:ln w="0">
            <a:noFill/>
            <a:prstDash val="solid"/>
          </a:ln>
        </p:spPr>
        <p:txBody>
          <a:bodyPr wrap="square" lIns="0" tIns="0" rIns="0" bIns="0" anchor="t">
            <a:normAutofit/>
          </a:bodyPr>
          <a:lstStyle/>
          <a:p>
            <a:pPr algn="ctr">
              <a:defRPr sz="2250" b="1">
                <a:solidFill>
                  <a:srgbClr val="E8F0EF"/>
                </a:solidFill>
                <a:latin typeface="Arial"/>
                <a:ea typeface="Arial"/>
                <a:cs typeface="Arial"/>
              </a:defRPr>
            </a:pPr>
            <a:r>
              <a:rPr sz="2250" b="1">
                <a:solidFill>
                  <a:srgbClr val="E8F0EF"/>
                </a:solidFill>
                <a:latin typeface="Arial"/>
                <a:ea typeface="Arial"/>
                <a:cs typeface="Arial"/>
              </a:rPr>
              <a:t>The source changed. The evidence contract survived.</a:t>
            </a:r>
          </a:p>
        </p:txBody>
      </p:sp>
      <p:sp>
        <p:nvSpPr>
          <p:cNvPr id="28" name="Rectangle 27">
            <a:extLst>
              <a:ext uri="{FF2B5EF4-FFF2-40B4-BE49-F238E27FC236}">
                <a16:creationId xmlns:a16="http://schemas.microsoft.com/office/drawing/2014/main" id="{79DDDF0D-FC72-494F-B58E-77EEAF9B30CC}"/>
              </a:ext>
            </a:extLst>
          </p:cNvPr>
          <p:cNvSpPr>
            <a:spLocks noGrp="1"/>
          </p:cNvSpPr>
          <p:nvPr/>
        </p:nvSpPr>
        <p:spPr>
          <a:xfrm>
            <a:off x="2076450" y="5505450"/>
            <a:ext cx="8039100" cy="323850"/>
          </a:xfrm>
          <a:prstGeom prst="rect">
            <a:avLst/>
          </a:prstGeom>
          <a:noFill/>
          <a:ln w="0">
            <a:noFill/>
            <a:prstDash val="solid"/>
          </a:ln>
        </p:spPr>
        <p:txBody>
          <a:bodyPr wrap="square" lIns="0" tIns="0" rIns="0" bIns="0" anchor="t">
            <a:normAutofit/>
          </a:bodyPr>
          <a:lstStyle/>
          <a:p>
            <a:pPr algn="ctr">
              <a:defRPr sz="1500" b="0">
                <a:solidFill>
                  <a:srgbClr val="47C6B7"/>
                </a:solidFill>
                <a:latin typeface="Arial"/>
                <a:ea typeface="Arial"/>
                <a:cs typeface="Arial"/>
              </a:defRPr>
            </a:pPr>
            <a:r>
              <a:rPr sz="1500" b="0">
                <a:solidFill>
                  <a:srgbClr val="47C6B7"/>
                </a:solidFill>
                <a:latin typeface="Arial"/>
                <a:ea typeface="Arial"/>
                <a:cs typeface="Arial"/>
              </a:rPr>
              <a:t>MeetingMiner changes the questions—not the need to prove the answer.</a:t>
            </a:r>
          </a:p>
        </p:txBody>
      </p:sp>
    </p:spTree>
    <p:extLst>
      <p:ext uri="{BB962C8B-B14F-4D97-AF65-F5344CB8AC3E}">
        <p14:creationId xmlns:p14="http://schemas.microsoft.com/office/powerpoint/2010/main" val="11440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9682DDF8-C835-41E4-8AA9-133B1C717C0A}"/>
              </a:ext>
            </a:extLst>
          </p:cNvPr>
          <p:cNvSpPr>
            <a:spLocks noGrp="1"/>
          </p:cNvSpPr>
          <p:nvPr/>
        </p:nvSpPr>
        <p:spPr>
          <a:xfrm>
            <a:off x="0" y="0"/>
            <a:ext cx="12192000" cy="66675"/>
          </a:xfrm>
          <a:prstGeom prst="rect">
            <a:avLst/>
          </a:prstGeom>
          <a:solidFill>
            <a:srgbClr val="A88BFF"/>
          </a:solidFill>
          <a:ln w="0">
            <a:noFill/>
            <a:prstDash val="solid"/>
          </a:ln>
        </p:spPr>
        <p:txBody>
          <a:bodyPr/>
          <a:lstStyle/>
          <a:p>
            <a:endParaRPr lang="en-US"/>
          </a:p>
        </p:txBody>
      </p:sp>
      <p:sp>
        <p:nvSpPr>
          <p:cNvPr id="2" name="section-3">
            <a:extLst>
              <a:ext uri="{FF2B5EF4-FFF2-40B4-BE49-F238E27FC236}">
                <a16:creationId xmlns:a16="http://schemas.microsoft.com/office/drawing/2014/main" id="{ADDE8407-596A-44C4-A2FA-E9F97073468A}"/>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A88BFF"/>
                </a:solidFill>
                <a:latin typeface="Arial"/>
                <a:ea typeface="Arial"/>
                <a:cs typeface="Arial"/>
              </a:defRPr>
            </a:pPr>
            <a:r>
              <a:rPr sz="975" b="1">
                <a:solidFill>
                  <a:srgbClr val="A88BFF"/>
                </a:solidFill>
                <a:latin typeface="Arial"/>
                <a:ea typeface="Arial"/>
                <a:cs typeface="Arial"/>
              </a:rPr>
              <a:t>DEVELOPMENT METHODOLOGY</a:t>
            </a:r>
          </a:p>
        </p:txBody>
      </p:sp>
      <p:sp>
        <p:nvSpPr>
          <p:cNvPr id="3" name="Rectangle 2">
            <a:extLst>
              <a:ext uri="{FF2B5EF4-FFF2-40B4-BE49-F238E27FC236}">
                <a16:creationId xmlns:a16="http://schemas.microsoft.com/office/drawing/2014/main" id="{288368DF-1EA0-4365-9575-48A25E76DBEC}"/>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03</a:t>
            </a:r>
          </a:p>
        </p:txBody>
      </p:sp>
      <p:sp>
        <p:nvSpPr>
          <p:cNvPr id="4" name="Rectangle 3">
            <a:extLst>
              <a:ext uri="{FF2B5EF4-FFF2-40B4-BE49-F238E27FC236}">
                <a16:creationId xmlns:a16="http://schemas.microsoft.com/office/drawing/2014/main" id="{022C1E94-FCBD-4D14-B3FA-85603EC2A7D7}"/>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A36F4E00-B747-4361-B82C-CCDEA6264A5A}"/>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The build method shaped the architecture.</a:t>
            </a:r>
          </a:p>
        </p:txBody>
      </p:sp>
      <p:sp>
        <p:nvSpPr>
          <p:cNvPr id="6" name="Rounded Rectangle 5">
            <a:extLst>
              <a:ext uri="{FF2B5EF4-FFF2-40B4-BE49-F238E27FC236}">
                <a16:creationId xmlns:a16="http://schemas.microsoft.com/office/drawing/2014/main" id="{270BC0A7-CA14-4ED4-9398-8B1976D881D9}"/>
              </a:ext>
            </a:extLst>
          </p:cNvPr>
          <p:cNvSpPr>
            <a:spLocks noGrp="1"/>
          </p:cNvSpPr>
          <p:nvPr/>
        </p:nvSpPr>
        <p:spPr>
          <a:xfrm>
            <a:off x="685800" y="1562100"/>
            <a:ext cx="5029200" cy="3429000"/>
          </a:xfrm>
          <a:prstGeom prst="roundRect">
            <a:avLst>
              <a:gd name="adj" fmla="val 2222"/>
            </a:avLst>
          </a:prstGeom>
          <a:solidFill>
            <a:srgbClr val="111D22"/>
          </a:solidFill>
          <a:ln w="19050">
            <a:solidFill>
              <a:srgbClr val="47C6B7"/>
            </a:solidFill>
            <a:prstDash val="solid"/>
          </a:ln>
        </p:spPr>
        <p:txBody>
          <a:bodyPr/>
          <a:lstStyle/>
          <a:p>
            <a:endParaRPr lang="en-US"/>
          </a:p>
        </p:txBody>
      </p:sp>
      <p:sp>
        <p:nvSpPr>
          <p:cNvPr id="7" name="Rectangle 6">
            <a:extLst>
              <a:ext uri="{FF2B5EF4-FFF2-40B4-BE49-F238E27FC236}">
                <a16:creationId xmlns:a16="http://schemas.microsoft.com/office/drawing/2014/main" id="{08ABAC8F-CC69-47DE-A5AD-3DCD3E553B6D}"/>
              </a:ext>
            </a:extLst>
          </p:cNvPr>
          <p:cNvSpPr>
            <a:spLocks noGrp="1"/>
          </p:cNvSpPr>
          <p:nvPr/>
        </p:nvSpPr>
        <p:spPr>
          <a:xfrm>
            <a:off x="990600" y="1828800"/>
            <a:ext cx="2476500" cy="20955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SPECIFIED BUILD</a:t>
            </a:r>
          </a:p>
        </p:txBody>
      </p:sp>
      <p:sp>
        <p:nvSpPr>
          <p:cNvPr id="8" name="Rectangle 7">
            <a:extLst>
              <a:ext uri="{FF2B5EF4-FFF2-40B4-BE49-F238E27FC236}">
                <a16:creationId xmlns:a16="http://schemas.microsoft.com/office/drawing/2014/main" id="{D8968080-6872-405E-8FA9-61A6839D31EE}"/>
              </a:ext>
            </a:extLst>
          </p:cNvPr>
          <p:cNvSpPr>
            <a:spLocks noGrp="1"/>
          </p:cNvSpPr>
          <p:nvPr/>
        </p:nvSpPr>
        <p:spPr>
          <a:xfrm>
            <a:off x="990600" y="2152650"/>
            <a:ext cx="4000500" cy="419100"/>
          </a:xfrm>
          <a:prstGeom prst="rect">
            <a:avLst/>
          </a:prstGeom>
          <a:noFill/>
          <a:ln w="0">
            <a:noFill/>
            <a:prstDash val="solid"/>
          </a:ln>
        </p:spPr>
        <p:txBody>
          <a:bodyPr wrap="square" lIns="0" tIns="0" rIns="0" bIns="0" anchor="t">
            <a:normAutofit/>
          </a:bodyPr>
          <a:lstStyle/>
          <a:p>
            <a:pPr algn="l">
              <a:defRPr sz="2325" b="1">
                <a:solidFill>
                  <a:srgbClr val="E8F0EF"/>
                </a:solidFill>
                <a:latin typeface="Arial"/>
                <a:ea typeface="Arial"/>
                <a:cs typeface="Arial"/>
              </a:defRPr>
            </a:pPr>
            <a:r>
              <a:rPr sz="2325" b="1">
                <a:solidFill>
                  <a:srgbClr val="E8F0EF"/>
                </a:solidFill>
                <a:latin typeface="Arial"/>
                <a:ea typeface="Arial"/>
                <a:cs typeface="Arial"/>
              </a:rPr>
              <a:t>Specification-led</a:t>
            </a:r>
          </a:p>
        </p:txBody>
      </p:sp>
      <p:sp>
        <p:nvSpPr>
          <p:cNvPr id="9" name="Rectangle 8">
            <a:extLst>
              <a:ext uri="{FF2B5EF4-FFF2-40B4-BE49-F238E27FC236}">
                <a16:creationId xmlns:a16="http://schemas.microsoft.com/office/drawing/2014/main" id="{EA41B1DF-E1FE-4A74-B201-D8D397E54E52}"/>
              </a:ext>
            </a:extLst>
          </p:cNvPr>
          <p:cNvSpPr>
            <a:spLocks noGrp="1"/>
          </p:cNvSpPr>
          <p:nvPr/>
        </p:nvSpPr>
        <p:spPr>
          <a:xfrm>
            <a:off x="990600" y="2724150"/>
            <a:ext cx="4210050" cy="99060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dirty="0">
                <a:solidFill>
                  <a:srgbClr val="E8F0EF"/>
                </a:solidFill>
                <a:latin typeface="Arial"/>
                <a:ea typeface="Arial"/>
                <a:cs typeface="Arial"/>
              </a:rPr>
              <a:t>I used the BMAD process methodology. Structured specifications and stories guided coordinated builder-agent clusters.</a:t>
            </a:r>
          </a:p>
        </p:txBody>
      </p:sp>
      <p:sp>
        <p:nvSpPr>
          <p:cNvPr id="10" name="Rectangle 9">
            <a:extLst>
              <a:ext uri="{FF2B5EF4-FFF2-40B4-BE49-F238E27FC236}">
                <a16:creationId xmlns:a16="http://schemas.microsoft.com/office/drawing/2014/main" id="{8F96FDCE-4B09-4CD5-8CCE-7324E0BC6CAF}"/>
              </a:ext>
            </a:extLst>
          </p:cNvPr>
          <p:cNvSpPr>
            <a:spLocks noGrp="1"/>
          </p:cNvSpPr>
          <p:nvPr/>
        </p:nvSpPr>
        <p:spPr>
          <a:xfrm>
            <a:off x="1162050" y="4019550"/>
            <a:ext cx="3848100" cy="28575"/>
          </a:xfrm>
          <a:prstGeom prst="rect">
            <a:avLst/>
          </a:prstGeom>
          <a:solidFill>
            <a:srgbClr val="31444A"/>
          </a:solidFill>
          <a:ln w="0">
            <a:noFill/>
            <a:prstDash val="solid"/>
          </a:ln>
        </p:spPr>
        <p:txBody>
          <a:bodyPr/>
          <a:lstStyle/>
          <a:p>
            <a:endParaRPr lang="en-US"/>
          </a:p>
        </p:txBody>
      </p:sp>
      <p:sp>
        <p:nvSpPr>
          <p:cNvPr id="11" name="Oval 10">
            <a:extLst>
              <a:ext uri="{FF2B5EF4-FFF2-40B4-BE49-F238E27FC236}">
                <a16:creationId xmlns:a16="http://schemas.microsoft.com/office/drawing/2014/main" id="{727F2F02-B7D4-4D9B-83D2-F2EB5E205792}"/>
              </a:ext>
            </a:extLst>
          </p:cNvPr>
          <p:cNvSpPr>
            <a:spLocks noGrp="1"/>
          </p:cNvSpPr>
          <p:nvPr/>
        </p:nvSpPr>
        <p:spPr>
          <a:xfrm>
            <a:off x="1085850" y="3952875"/>
            <a:ext cx="152400" cy="152400"/>
          </a:xfrm>
          <a:prstGeom prst="ellipse">
            <a:avLst/>
          </a:prstGeom>
          <a:solidFill>
            <a:srgbClr val="47C6B7"/>
          </a:solidFill>
          <a:ln w="9525">
            <a:solidFill>
              <a:srgbClr val="47C6B7"/>
            </a:solidFill>
            <a:prstDash val="solid"/>
          </a:ln>
        </p:spPr>
        <p:txBody>
          <a:bodyPr/>
          <a:lstStyle/>
          <a:p>
            <a:endParaRPr lang="en-US"/>
          </a:p>
        </p:txBody>
      </p:sp>
      <p:sp>
        <p:nvSpPr>
          <p:cNvPr id="12" name="Rectangle 11">
            <a:extLst>
              <a:ext uri="{FF2B5EF4-FFF2-40B4-BE49-F238E27FC236}">
                <a16:creationId xmlns:a16="http://schemas.microsoft.com/office/drawing/2014/main" id="{85D78E26-711C-4539-994E-5D05561D2526}"/>
              </a:ext>
            </a:extLst>
          </p:cNvPr>
          <p:cNvSpPr>
            <a:spLocks noGrp="1"/>
          </p:cNvSpPr>
          <p:nvPr/>
        </p:nvSpPr>
        <p:spPr>
          <a:xfrm>
            <a:off x="704850" y="4305300"/>
            <a:ext cx="914400" cy="247650"/>
          </a:xfrm>
          <a:prstGeom prst="rect">
            <a:avLst/>
          </a:prstGeom>
          <a:noFill/>
          <a:ln w="0">
            <a:noFill/>
            <a:prstDash val="solid"/>
          </a:ln>
        </p:spPr>
        <p:txBody>
          <a:bodyPr wrap="square" lIns="0" tIns="0" rIns="0" bIns="0" anchor="t">
            <a:normAutofit/>
          </a:bodyPr>
          <a:lstStyle/>
          <a:p>
            <a:pPr algn="ctr">
              <a:defRPr sz="1200" b="0">
                <a:solidFill>
                  <a:srgbClr val="47C6B7"/>
                </a:solidFill>
                <a:latin typeface="Arial"/>
                <a:ea typeface="Arial"/>
                <a:cs typeface="Arial"/>
              </a:defRPr>
            </a:pPr>
            <a:r>
              <a:rPr sz="1200" b="0">
                <a:solidFill>
                  <a:srgbClr val="47C6B7"/>
                </a:solidFill>
                <a:latin typeface="Arial"/>
                <a:ea typeface="Arial"/>
                <a:cs typeface="Arial"/>
              </a:rPr>
              <a:t>define</a:t>
            </a:r>
          </a:p>
        </p:txBody>
      </p:sp>
      <p:sp>
        <p:nvSpPr>
          <p:cNvPr id="13" name="Oval 12">
            <a:extLst>
              <a:ext uri="{FF2B5EF4-FFF2-40B4-BE49-F238E27FC236}">
                <a16:creationId xmlns:a16="http://schemas.microsoft.com/office/drawing/2014/main" id="{B7E4C26A-C580-4DC0-BD4F-9116AC982BE2}"/>
              </a:ext>
            </a:extLst>
          </p:cNvPr>
          <p:cNvSpPr>
            <a:spLocks noGrp="1"/>
          </p:cNvSpPr>
          <p:nvPr/>
        </p:nvSpPr>
        <p:spPr>
          <a:xfrm>
            <a:off x="2362200" y="3952875"/>
            <a:ext cx="152400" cy="152400"/>
          </a:xfrm>
          <a:prstGeom prst="ellipse">
            <a:avLst/>
          </a:prstGeom>
          <a:solidFill>
            <a:srgbClr val="47C6B7"/>
          </a:solidFill>
          <a:ln w="9525">
            <a:solidFill>
              <a:srgbClr val="47C6B7"/>
            </a:solidFill>
            <a:prstDash val="solid"/>
          </a:ln>
        </p:spPr>
        <p:txBody>
          <a:bodyPr/>
          <a:lstStyle/>
          <a:p>
            <a:endParaRPr lang="en-US"/>
          </a:p>
        </p:txBody>
      </p:sp>
      <p:sp>
        <p:nvSpPr>
          <p:cNvPr id="14" name="Rectangle 13">
            <a:extLst>
              <a:ext uri="{FF2B5EF4-FFF2-40B4-BE49-F238E27FC236}">
                <a16:creationId xmlns:a16="http://schemas.microsoft.com/office/drawing/2014/main" id="{EA274AA5-BEC6-4AFF-B9EC-AD88046EE599}"/>
              </a:ext>
            </a:extLst>
          </p:cNvPr>
          <p:cNvSpPr>
            <a:spLocks noGrp="1"/>
          </p:cNvSpPr>
          <p:nvPr/>
        </p:nvSpPr>
        <p:spPr>
          <a:xfrm>
            <a:off x="1981200" y="4305300"/>
            <a:ext cx="914400" cy="247650"/>
          </a:xfrm>
          <a:prstGeom prst="rect">
            <a:avLst/>
          </a:prstGeom>
          <a:noFill/>
          <a:ln w="0">
            <a:noFill/>
            <a:prstDash val="solid"/>
          </a:ln>
        </p:spPr>
        <p:txBody>
          <a:bodyPr wrap="square" lIns="0" tIns="0" rIns="0" bIns="0" anchor="t">
            <a:normAutofit/>
          </a:bodyPr>
          <a:lstStyle/>
          <a:p>
            <a:pPr algn="ctr">
              <a:defRPr sz="1200" b="0">
                <a:solidFill>
                  <a:srgbClr val="47C6B7"/>
                </a:solidFill>
                <a:latin typeface="Arial"/>
                <a:ea typeface="Arial"/>
                <a:cs typeface="Arial"/>
              </a:defRPr>
            </a:pPr>
            <a:r>
              <a:rPr sz="1200" b="0">
                <a:solidFill>
                  <a:srgbClr val="47C6B7"/>
                </a:solidFill>
                <a:latin typeface="Arial"/>
                <a:ea typeface="Arial"/>
                <a:cs typeface="Arial"/>
              </a:rPr>
              <a:t>specify</a:t>
            </a:r>
          </a:p>
        </p:txBody>
      </p:sp>
      <p:sp>
        <p:nvSpPr>
          <p:cNvPr id="15" name="Oval 14">
            <a:extLst>
              <a:ext uri="{FF2B5EF4-FFF2-40B4-BE49-F238E27FC236}">
                <a16:creationId xmlns:a16="http://schemas.microsoft.com/office/drawing/2014/main" id="{D9605BA0-5746-4BB0-AD45-DF82A7AA7A49}"/>
              </a:ext>
            </a:extLst>
          </p:cNvPr>
          <p:cNvSpPr>
            <a:spLocks noGrp="1"/>
          </p:cNvSpPr>
          <p:nvPr/>
        </p:nvSpPr>
        <p:spPr>
          <a:xfrm>
            <a:off x="3638550" y="3952875"/>
            <a:ext cx="152400" cy="152400"/>
          </a:xfrm>
          <a:prstGeom prst="ellipse">
            <a:avLst/>
          </a:prstGeom>
          <a:solidFill>
            <a:srgbClr val="47C6B7"/>
          </a:solidFill>
          <a:ln w="9525">
            <a:solidFill>
              <a:srgbClr val="47C6B7"/>
            </a:solidFill>
            <a:prstDash val="solid"/>
          </a:ln>
        </p:spPr>
        <p:txBody>
          <a:bodyPr/>
          <a:lstStyle/>
          <a:p>
            <a:endParaRPr lang="en-US"/>
          </a:p>
        </p:txBody>
      </p:sp>
      <p:sp>
        <p:nvSpPr>
          <p:cNvPr id="16" name="Rectangle 15">
            <a:extLst>
              <a:ext uri="{FF2B5EF4-FFF2-40B4-BE49-F238E27FC236}">
                <a16:creationId xmlns:a16="http://schemas.microsoft.com/office/drawing/2014/main" id="{1C6A7089-2A28-4294-A694-4B5EDD8F1B62}"/>
              </a:ext>
            </a:extLst>
          </p:cNvPr>
          <p:cNvSpPr>
            <a:spLocks noGrp="1"/>
          </p:cNvSpPr>
          <p:nvPr/>
        </p:nvSpPr>
        <p:spPr>
          <a:xfrm>
            <a:off x="3257550" y="4305300"/>
            <a:ext cx="914400" cy="247650"/>
          </a:xfrm>
          <a:prstGeom prst="rect">
            <a:avLst/>
          </a:prstGeom>
          <a:noFill/>
          <a:ln w="0">
            <a:noFill/>
            <a:prstDash val="solid"/>
          </a:ln>
        </p:spPr>
        <p:txBody>
          <a:bodyPr wrap="square" lIns="0" tIns="0" rIns="0" bIns="0" anchor="t">
            <a:normAutofit/>
          </a:bodyPr>
          <a:lstStyle/>
          <a:p>
            <a:pPr algn="ctr">
              <a:defRPr sz="1200" b="0">
                <a:solidFill>
                  <a:srgbClr val="47C6B7"/>
                </a:solidFill>
                <a:latin typeface="Arial"/>
                <a:ea typeface="Arial"/>
                <a:cs typeface="Arial"/>
              </a:defRPr>
            </a:pPr>
            <a:r>
              <a:rPr sz="1200" b="0">
                <a:solidFill>
                  <a:srgbClr val="47C6B7"/>
                </a:solidFill>
                <a:latin typeface="Arial"/>
                <a:ea typeface="Arial"/>
                <a:cs typeface="Arial"/>
              </a:rPr>
              <a:t>build</a:t>
            </a:r>
          </a:p>
        </p:txBody>
      </p:sp>
      <p:sp>
        <p:nvSpPr>
          <p:cNvPr id="17" name="Oval 16">
            <a:extLst>
              <a:ext uri="{FF2B5EF4-FFF2-40B4-BE49-F238E27FC236}">
                <a16:creationId xmlns:a16="http://schemas.microsoft.com/office/drawing/2014/main" id="{6D9C9662-3C88-4786-8628-C8CDB30F7C95}"/>
              </a:ext>
            </a:extLst>
          </p:cNvPr>
          <p:cNvSpPr>
            <a:spLocks noGrp="1"/>
          </p:cNvSpPr>
          <p:nvPr/>
        </p:nvSpPr>
        <p:spPr>
          <a:xfrm>
            <a:off x="4914900" y="3952875"/>
            <a:ext cx="152400" cy="152400"/>
          </a:xfrm>
          <a:prstGeom prst="ellipse">
            <a:avLst/>
          </a:prstGeom>
          <a:solidFill>
            <a:srgbClr val="47C6B7"/>
          </a:solidFill>
          <a:ln w="9525">
            <a:solidFill>
              <a:srgbClr val="47C6B7"/>
            </a:solidFill>
            <a:prstDash val="solid"/>
          </a:ln>
        </p:spPr>
        <p:txBody>
          <a:bodyPr/>
          <a:lstStyle/>
          <a:p>
            <a:endParaRPr lang="en-US"/>
          </a:p>
        </p:txBody>
      </p:sp>
      <p:sp>
        <p:nvSpPr>
          <p:cNvPr id="18" name="Rectangle 17">
            <a:extLst>
              <a:ext uri="{FF2B5EF4-FFF2-40B4-BE49-F238E27FC236}">
                <a16:creationId xmlns:a16="http://schemas.microsoft.com/office/drawing/2014/main" id="{72853986-2E8C-450E-81CE-03AF3B03958C}"/>
              </a:ext>
            </a:extLst>
          </p:cNvPr>
          <p:cNvSpPr>
            <a:spLocks noGrp="1"/>
          </p:cNvSpPr>
          <p:nvPr/>
        </p:nvSpPr>
        <p:spPr>
          <a:xfrm>
            <a:off x="4533900" y="4305300"/>
            <a:ext cx="914400" cy="247650"/>
          </a:xfrm>
          <a:prstGeom prst="rect">
            <a:avLst/>
          </a:prstGeom>
          <a:noFill/>
          <a:ln w="0">
            <a:noFill/>
            <a:prstDash val="solid"/>
          </a:ln>
        </p:spPr>
        <p:txBody>
          <a:bodyPr wrap="square" lIns="0" tIns="0" rIns="0" bIns="0" anchor="t">
            <a:normAutofit/>
          </a:bodyPr>
          <a:lstStyle/>
          <a:p>
            <a:pPr algn="ctr">
              <a:defRPr sz="1200" b="0">
                <a:solidFill>
                  <a:srgbClr val="47C6B7"/>
                </a:solidFill>
                <a:latin typeface="Arial"/>
                <a:ea typeface="Arial"/>
                <a:cs typeface="Arial"/>
              </a:defRPr>
            </a:pPr>
            <a:r>
              <a:rPr sz="1200" b="0">
                <a:solidFill>
                  <a:srgbClr val="47C6B7"/>
                </a:solidFill>
                <a:latin typeface="Arial"/>
                <a:ea typeface="Arial"/>
                <a:cs typeface="Arial"/>
              </a:rPr>
              <a:t>verify</a:t>
            </a:r>
          </a:p>
        </p:txBody>
      </p:sp>
      <p:sp>
        <p:nvSpPr>
          <p:cNvPr id="19" name="Rounded Rectangle 18">
            <a:extLst>
              <a:ext uri="{FF2B5EF4-FFF2-40B4-BE49-F238E27FC236}">
                <a16:creationId xmlns:a16="http://schemas.microsoft.com/office/drawing/2014/main" id="{8162505F-DD88-4084-9998-A8A10D93177D}"/>
              </a:ext>
            </a:extLst>
          </p:cNvPr>
          <p:cNvSpPr>
            <a:spLocks noGrp="1"/>
          </p:cNvSpPr>
          <p:nvPr/>
        </p:nvSpPr>
        <p:spPr>
          <a:xfrm>
            <a:off x="6477000" y="1562100"/>
            <a:ext cx="5029200" cy="3429000"/>
          </a:xfrm>
          <a:prstGeom prst="roundRect">
            <a:avLst>
              <a:gd name="adj" fmla="val 2222"/>
            </a:avLst>
          </a:prstGeom>
          <a:solidFill>
            <a:srgbClr val="111D22"/>
          </a:solidFill>
          <a:ln w="19050">
            <a:solidFill>
              <a:srgbClr val="F2A93B"/>
            </a:solidFill>
            <a:prstDash val="solid"/>
          </a:ln>
        </p:spPr>
        <p:txBody>
          <a:bodyPr/>
          <a:lstStyle/>
          <a:p>
            <a:endParaRPr lang="en-US"/>
          </a:p>
        </p:txBody>
      </p:sp>
      <p:sp>
        <p:nvSpPr>
          <p:cNvPr id="20" name="Rectangle 19">
            <a:extLst>
              <a:ext uri="{FF2B5EF4-FFF2-40B4-BE49-F238E27FC236}">
                <a16:creationId xmlns:a16="http://schemas.microsoft.com/office/drawing/2014/main" id="{5F378D86-7D14-46A2-8ED1-A1A86E49363D}"/>
              </a:ext>
            </a:extLst>
          </p:cNvPr>
          <p:cNvSpPr>
            <a:spLocks noGrp="1"/>
          </p:cNvSpPr>
          <p:nvPr/>
        </p:nvSpPr>
        <p:spPr>
          <a:xfrm>
            <a:off x="6781800" y="1828800"/>
            <a:ext cx="3333750" cy="209550"/>
          </a:xfrm>
          <a:prstGeom prst="rect">
            <a:avLst/>
          </a:prstGeom>
          <a:noFill/>
          <a:ln w="0">
            <a:noFill/>
            <a:prstDash val="solid"/>
          </a:ln>
        </p:spPr>
        <p:txBody>
          <a:bodyPr wrap="square" lIns="0" tIns="0" rIns="0" bIns="0" anchor="t">
            <a:normAutofit/>
          </a:bodyPr>
          <a:lstStyle/>
          <a:p>
            <a:pPr algn="l">
              <a:defRPr sz="975" b="1">
                <a:solidFill>
                  <a:srgbClr val="F2A93B"/>
                </a:solidFill>
                <a:latin typeface="Arial"/>
                <a:ea typeface="Arial"/>
                <a:cs typeface="Arial"/>
              </a:defRPr>
            </a:pPr>
            <a:r>
              <a:rPr sz="975" b="1">
                <a:solidFill>
                  <a:srgbClr val="F2A93B"/>
                </a:solidFill>
                <a:latin typeface="Arial"/>
                <a:ea typeface="Arial"/>
                <a:cs typeface="Arial"/>
              </a:rPr>
              <a:t>VIBE PROTOTYPE</a:t>
            </a:r>
          </a:p>
        </p:txBody>
      </p:sp>
      <p:sp>
        <p:nvSpPr>
          <p:cNvPr id="21" name="Rectangle 20">
            <a:extLst>
              <a:ext uri="{FF2B5EF4-FFF2-40B4-BE49-F238E27FC236}">
                <a16:creationId xmlns:a16="http://schemas.microsoft.com/office/drawing/2014/main" id="{F355ABA7-EBAB-4C50-91C0-CD2E09221E37}"/>
              </a:ext>
            </a:extLst>
          </p:cNvPr>
          <p:cNvSpPr>
            <a:spLocks noGrp="1"/>
          </p:cNvSpPr>
          <p:nvPr/>
        </p:nvSpPr>
        <p:spPr>
          <a:xfrm>
            <a:off x="6781800" y="2152650"/>
            <a:ext cx="4000500" cy="419100"/>
          </a:xfrm>
          <a:prstGeom prst="rect">
            <a:avLst/>
          </a:prstGeom>
          <a:noFill/>
          <a:ln w="0">
            <a:noFill/>
            <a:prstDash val="solid"/>
          </a:ln>
        </p:spPr>
        <p:txBody>
          <a:bodyPr wrap="square" lIns="0" tIns="0" rIns="0" bIns="0" anchor="t">
            <a:normAutofit/>
          </a:bodyPr>
          <a:lstStyle/>
          <a:p>
            <a:pPr algn="l">
              <a:defRPr sz="2325" b="1">
                <a:solidFill>
                  <a:srgbClr val="E8F0EF"/>
                </a:solidFill>
                <a:latin typeface="Arial"/>
                <a:ea typeface="Arial"/>
                <a:cs typeface="Arial"/>
              </a:defRPr>
            </a:pPr>
            <a:r>
              <a:rPr sz="2325" b="1">
                <a:solidFill>
                  <a:srgbClr val="E8F0EF"/>
                </a:solidFill>
                <a:latin typeface="Arial"/>
                <a:ea typeface="Arial"/>
                <a:cs typeface="Arial"/>
              </a:rPr>
              <a:t>Corpus-led</a:t>
            </a:r>
          </a:p>
        </p:txBody>
      </p:sp>
      <p:sp>
        <p:nvSpPr>
          <p:cNvPr id="22" name="Rectangle 21">
            <a:extLst>
              <a:ext uri="{FF2B5EF4-FFF2-40B4-BE49-F238E27FC236}">
                <a16:creationId xmlns:a16="http://schemas.microsoft.com/office/drawing/2014/main" id="{22161223-0179-45E5-93C3-D24E34E9A891}"/>
              </a:ext>
            </a:extLst>
          </p:cNvPr>
          <p:cNvSpPr>
            <a:spLocks noGrp="1"/>
          </p:cNvSpPr>
          <p:nvPr/>
        </p:nvSpPr>
        <p:spPr>
          <a:xfrm>
            <a:off x="6781800" y="2724150"/>
            <a:ext cx="4210050" cy="99060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dirty="0">
                <a:solidFill>
                  <a:srgbClr val="E8F0EF"/>
                </a:solidFill>
                <a:latin typeface="Arial"/>
                <a:ea typeface="Arial"/>
                <a:cs typeface="Arial"/>
              </a:rPr>
              <a:t>I reused an existing Microsoft Teams puller for videos and transcripts, then shaped the product through rapid code-first iteration on the growing corpus.</a:t>
            </a:r>
          </a:p>
        </p:txBody>
      </p:sp>
      <p:sp>
        <p:nvSpPr>
          <p:cNvPr id="23" name="Rectangle 22">
            <a:extLst>
              <a:ext uri="{FF2B5EF4-FFF2-40B4-BE49-F238E27FC236}">
                <a16:creationId xmlns:a16="http://schemas.microsoft.com/office/drawing/2014/main" id="{DAF0BE4F-6930-4860-8661-1F4A70AE95F5}"/>
              </a:ext>
            </a:extLst>
          </p:cNvPr>
          <p:cNvSpPr>
            <a:spLocks noGrp="1"/>
          </p:cNvSpPr>
          <p:nvPr/>
        </p:nvSpPr>
        <p:spPr>
          <a:xfrm>
            <a:off x="6953250" y="4019550"/>
            <a:ext cx="3848100" cy="28575"/>
          </a:xfrm>
          <a:prstGeom prst="rect">
            <a:avLst/>
          </a:prstGeom>
          <a:solidFill>
            <a:srgbClr val="31444A"/>
          </a:solidFill>
          <a:ln w="0">
            <a:noFill/>
            <a:prstDash val="solid"/>
          </a:ln>
        </p:spPr>
        <p:txBody>
          <a:bodyPr/>
          <a:lstStyle/>
          <a:p>
            <a:endParaRPr lang="en-US"/>
          </a:p>
        </p:txBody>
      </p:sp>
      <p:sp>
        <p:nvSpPr>
          <p:cNvPr id="24" name="Oval 23">
            <a:extLst>
              <a:ext uri="{FF2B5EF4-FFF2-40B4-BE49-F238E27FC236}">
                <a16:creationId xmlns:a16="http://schemas.microsoft.com/office/drawing/2014/main" id="{EDC7F4AF-52D1-4587-A1E6-9448923DB8A9}"/>
              </a:ext>
            </a:extLst>
          </p:cNvPr>
          <p:cNvSpPr>
            <a:spLocks noGrp="1"/>
          </p:cNvSpPr>
          <p:nvPr/>
        </p:nvSpPr>
        <p:spPr>
          <a:xfrm>
            <a:off x="6877050" y="3952875"/>
            <a:ext cx="152400" cy="152400"/>
          </a:xfrm>
          <a:prstGeom prst="ellipse">
            <a:avLst/>
          </a:prstGeom>
          <a:solidFill>
            <a:srgbClr val="F2A93B"/>
          </a:solidFill>
          <a:ln w="9525">
            <a:solidFill>
              <a:srgbClr val="F2A93B"/>
            </a:solidFill>
            <a:prstDash val="solid"/>
          </a:ln>
        </p:spPr>
        <p:txBody>
          <a:bodyPr/>
          <a:lstStyle/>
          <a:p>
            <a:endParaRPr lang="en-US"/>
          </a:p>
        </p:txBody>
      </p:sp>
      <p:sp>
        <p:nvSpPr>
          <p:cNvPr id="25" name="Rectangle 24">
            <a:extLst>
              <a:ext uri="{FF2B5EF4-FFF2-40B4-BE49-F238E27FC236}">
                <a16:creationId xmlns:a16="http://schemas.microsoft.com/office/drawing/2014/main" id="{5DFA53C4-BDBC-47A8-B60B-66B7B7DB16BC}"/>
              </a:ext>
            </a:extLst>
          </p:cNvPr>
          <p:cNvSpPr>
            <a:spLocks noGrp="1"/>
          </p:cNvSpPr>
          <p:nvPr/>
        </p:nvSpPr>
        <p:spPr>
          <a:xfrm>
            <a:off x="6496050" y="4305300"/>
            <a:ext cx="914400" cy="247650"/>
          </a:xfrm>
          <a:prstGeom prst="rect">
            <a:avLst/>
          </a:prstGeom>
          <a:noFill/>
          <a:ln w="0">
            <a:noFill/>
            <a:prstDash val="solid"/>
          </a:ln>
        </p:spPr>
        <p:txBody>
          <a:bodyPr wrap="square" lIns="0" tIns="0" rIns="0" bIns="0" anchor="t">
            <a:normAutofit/>
          </a:bodyPr>
          <a:lstStyle/>
          <a:p>
            <a:pPr algn="ctr">
              <a:defRPr sz="1200" b="0">
                <a:solidFill>
                  <a:srgbClr val="F2A93B"/>
                </a:solidFill>
                <a:latin typeface="Arial"/>
                <a:ea typeface="Arial"/>
                <a:cs typeface="Arial"/>
              </a:defRPr>
            </a:pPr>
            <a:r>
              <a:rPr sz="1200" b="0">
                <a:solidFill>
                  <a:srgbClr val="F2A93B"/>
                </a:solidFill>
                <a:latin typeface="Arial"/>
                <a:ea typeface="Arial"/>
                <a:cs typeface="Arial"/>
              </a:rPr>
              <a:t>pull</a:t>
            </a:r>
          </a:p>
        </p:txBody>
      </p:sp>
      <p:sp>
        <p:nvSpPr>
          <p:cNvPr id="26" name="Oval 25">
            <a:extLst>
              <a:ext uri="{FF2B5EF4-FFF2-40B4-BE49-F238E27FC236}">
                <a16:creationId xmlns:a16="http://schemas.microsoft.com/office/drawing/2014/main" id="{D6347B4B-83B0-43D6-A978-66E98EB0C431}"/>
              </a:ext>
            </a:extLst>
          </p:cNvPr>
          <p:cNvSpPr>
            <a:spLocks noGrp="1"/>
          </p:cNvSpPr>
          <p:nvPr/>
        </p:nvSpPr>
        <p:spPr>
          <a:xfrm>
            <a:off x="8153400" y="3952875"/>
            <a:ext cx="152400" cy="152400"/>
          </a:xfrm>
          <a:prstGeom prst="ellipse">
            <a:avLst/>
          </a:prstGeom>
          <a:solidFill>
            <a:srgbClr val="F2A93B"/>
          </a:solidFill>
          <a:ln w="9525">
            <a:solidFill>
              <a:srgbClr val="F2A93B"/>
            </a:solidFill>
            <a:prstDash val="solid"/>
          </a:ln>
        </p:spPr>
        <p:txBody>
          <a:bodyPr/>
          <a:lstStyle/>
          <a:p>
            <a:endParaRPr lang="en-US"/>
          </a:p>
        </p:txBody>
      </p:sp>
      <p:sp>
        <p:nvSpPr>
          <p:cNvPr id="27" name="Rectangle 26">
            <a:extLst>
              <a:ext uri="{FF2B5EF4-FFF2-40B4-BE49-F238E27FC236}">
                <a16:creationId xmlns:a16="http://schemas.microsoft.com/office/drawing/2014/main" id="{10D87874-271E-4430-B119-E5C6285F5FDD}"/>
              </a:ext>
            </a:extLst>
          </p:cNvPr>
          <p:cNvSpPr>
            <a:spLocks noGrp="1"/>
          </p:cNvSpPr>
          <p:nvPr/>
        </p:nvSpPr>
        <p:spPr>
          <a:xfrm>
            <a:off x="7772400" y="4305300"/>
            <a:ext cx="914400" cy="247650"/>
          </a:xfrm>
          <a:prstGeom prst="rect">
            <a:avLst/>
          </a:prstGeom>
          <a:noFill/>
          <a:ln w="0">
            <a:noFill/>
            <a:prstDash val="solid"/>
          </a:ln>
        </p:spPr>
        <p:txBody>
          <a:bodyPr wrap="square" lIns="0" tIns="0" rIns="0" bIns="0" anchor="t">
            <a:normAutofit/>
          </a:bodyPr>
          <a:lstStyle/>
          <a:p>
            <a:pPr algn="ctr">
              <a:defRPr sz="1200" b="0">
                <a:solidFill>
                  <a:srgbClr val="F2A93B"/>
                </a:solidFill>
                <a:latin typeface="Arial"/>
                <a:ea typeface="Arial"/>
                <a:cs typeface="Arial"/>
              </a:defRPr>
            </a:pPr>
            <a:r>
              <a:rPr sz="1200" b="0">
                <a:solidFill>
                  <a:srgbClr val="F2A93B"/>
                </a:solidFill>
                <a:latin typeface="Arial"/>
                <a:ea typeface="Arial"/>
                <a:cs typeface="Arial"/>
              </a:rPr>
              <a:t>explore</a:t>
            </a:r>
          </a:p>
        </p:txBody>
      </p:sp>
      <p:sp>
        <p:nvSpPr>
          <p:cNvPr id="28" name="Oval 27">
            <a:extLst>
              <a:ext uri="{FF2B5EF4-FFF2-40B4-BE49-F238E27FC236}">
                <a16:creationId xmlns:a16="http://schemas.microsoft.com/office/drawing/2014/main" id="{4064F28E-0A25-45F0-B460-13A56FEC07B5}"/>
              </a:ext>
            </a:extLst>
          </p:cNvPr>
          <p:cNvSpPr>
            <a:spLocks noGrp="1"/>
          </p:cNvSpPr>
          <p:nvPr/>
        </p:nvSpPr>
        <p:spPr>
          <a:xfrm>
            <a:off x="9429750" y="3952875"/>
            <a:ext cx="152400" cy="152400"/>
          </a:xfrm>
          <a:prstGeom prst="ellipse">
            <a:avLst/>
          </a:prstGeom>
          <a:solidFill>
            <a:srgbClr val="F2A93B"/>
          </a:solidFill>
          <a:ln w="9525">
            <a:solidFill>
              <a:srgbClr val="F2A93B"/>
            </a:solidFill>
            <a:prstDash val="solid"/>
          </a:ln>
        </p:spPr>
        <p:txBody>
          <a:bodyPr/>
          <a:lstStyle/>
          <a:p>
            <a:endParaRPr lang="en-US"/>
          </a:p>
        </p:txBody>
      </p:sp>
      <p:sp>
        <p:nvSpPr>
          <p:cNvPr id="29" name="Rectangle 28">
            <a:extLst>
              <a:ext uri="{FF2B5EF4-FFF2-40B4-BE49-F238E27FC236}">
                <a16:creationId xmlns:a16="http://schemas.microsoft.com/office/drawing/2014/main" id="{B4839C8B-793D-48C3-95FD-80CB378E4419}"/>
              </a:ext>
            </a:extLst>
          </p:cNvPr>
          <p:cNvSpPr>
            <a:spLocks noGrp="1"/>
          </p:cNvSpPr>
          <p:nvPr/>
        </p:nvSpPr>
        <p:spPr>
          <a:xfrm>
            <a:off x="9048750" y="4305300"/>
            <a:ext cx="914400" cy="247650"/>
          </a:xfrm>
          <a:prstGeom prst="rect">
            <a:avLst/>
          </a:prstGeom>
          <a:noFill/>
          <a:ln w="0">
            <a:noFill/>
            <a:prstDash val="solid"/>
          </a:ln>
        </p:spPr>
        <p:txBody>
          <a:bodyPr wrap="square" lIns="0" tIns="0" rIns="0" bIns="0" anchor="t">
            <a:normAutofit/>
          </a:bodyPr>
          <a:lstStyle/>
          <a:p>
            <a:pPr algn="ctr">
              <a:defRPr sz="1200" b="0">
                <a:solidFill>
                  <a:srgbClr val="F2A93B"/>
                </a:solidFill>
                <a:latin typeface="Arial"/>
                <a:ea typeface="Arial"/>
                <a:cs typeface="Arial"/>
              </a:defRPr>
            </a:pPr>
            <a:r>
              <a:rPr sz="1200" b="0">
                <a:solidFill>
                  <a:srgbClr val="F2A93B"/>
                </a:solidFill>
                <a:latin typeface="Arial"/>
                <a:ea typeface="Arial"/>
                <a:cs typeface="Arial"/>
              </a:rPr>
              <a:t>code</a:t>
            </a:r>
          </a:p>
        </p:txBody>
      </p:sp>
      <p:sp>
        <p:nvSpPr>
          <p:cNvPr id="30" name="Oval 29">
            <a:extLst>
              <a:ext uri="{FF2B5EF4-FFF2-40B4-BE49-F238E27FC236}">
                <a16:creationId xmlns:a16="http://schemas.microsoft.com/office/drawing/2014/main" id="{EA5B4D42-0D10-4BE0-B689-D67F8D16A016}"/>
              </a:ext>
            </a:extLst>
          </p:cNvPr>
          <p:cNvSpPr>
            <a:spLocks noGrp="1"/>
          </p:cNvSpPr>
          <p:nvPr/>
        </p:nvSpPr>
        <p:spPr>
          <a:xfrm>
            <a:off x="10706100" y="3952875"/>
            <a:ext cx="152400" cy="152400"/>
          </a:xfrm>
          <a:prstGeom prst="ellipse">
            <a:avLst/>
          </a:prstGeom>
          <a:solidFill>
            <a:srgbClr val="F2A93B"/>
          </a:solidFill>
          <a:ln w="9525">
            <a:solidFill>
              <a:srgbClr val="F2A93B"/>
            </a:solidFill>
            <a:prstDash val="solid"/>
          </a:ln>
        </p:spPr>
        <p:txBody>
          <a:bodyPr/>
          <a:lstStyle/>
          <a:p>
            <a:endParaRPr lang="en-US"/>
          </a:p>
        </p:txBody>
      </p:sp>
      <p:sp>
        <p:nvSpPr>
          <p:cNvPr id="31" name="Rectangle 30">
            <a:extLst>
              <a:ext uri="{FF2B5EF4-FFF2-40B4-BE49-F238E27FC236}">
                <a16:creationId xmlns:a16="http://schemas.microsoft.com/office/drawing/2014/main" id="{77EDDD36-DBE4-41B9-903F-7F2B88DEAC81}"/>
              </a:ext>
            </a:extLst>
          </p:cNvPr>
          <p:cNvSpPr>
            <a:spLocks noGrp="1"/>
          </p:cNvSpPr>
          <p:nvPr/>
        </p:nvSpPr>
        <p:spPr>
          <a:xfrm>
            <a:off x="10325100" y="4305300"/>
            <a:ext cx="914400" cy="247650"/>
          </a:xfrm>
          <a:prstGeom prst="rect">
            <a:avLst/>
          </a:prstGeom>
          <a:noFill/>
          <a:ln w="0">
            <a:noFill/>
            <a:prstDash val="solid"/>
          </a:ln>
        </p:spPr>
        <p:txBody>
          <a:bodyPr wrap="square" lIns="0" tIns="0" rIns="0" bIns="0" anchor="t">
            <a:normAutofit/>
          </a:bodyPr>
          <a:lstStyle/>
          <a:p>
            <a:pPr algn="ctr">
              <a:defRPr sz="1200" b="0">
                <a:solidFill>
                  <a:srgbClr val="F2A93B"/>
                </a:solidFill>
                <a:latin typeface="Arial"/>
                <a:ea typeface="Arial"/>
                <a:cs typeface="Arial"/>
              </a:defRPr>
            </a:pPr>
            <a:r>
              <a:rPr sz="1200" b="0">
                <a:solidFill>
                  <a:srgbClr val="F2A93B"/>
                </a:solidFill>
                <a:latin typeface="Arial"/>
                <a:ea typeface="Arial"/>
                <a:cs typeface="Arial"/>
              </a:rPr>
              <a:t>refine</a:t>
            </a:r>
          </a:p>
        </p:txBody>
      </p:sp>
      <p:sp>
        <p:nvSpPr>
          <p:cNvPr id="32" name="Rectangle 31">
            <a:extLst>
              <a:ext uri="{FF2B5EF4-FFF2-40B4-BE49-F238E27FC236}">
                <a16:creationId xmlns:a16="http://schemas.microsoft.com/office/drawing/2014/main" id="{9B8C61C6-84B1-4D59-92EA-FE9E2D1EA7F6}"/>
              </a:ext>
            </a:extLst>
          </p:cNvPr>
          <p:cNvSpPr>
            <a:spLocks noGrp="1"/>
          </p:cNvSpPr>
          <p:nvPr/>
        </p:nvSpPr>
        <p:spPr>
          <a:xfrm>
            <a:off x="1771650" y="5334000"/>
            <a:ext cx="8648700" cy="381000"/>
          </a:xfrm>
          <a:prstGeom prst="rect">
            <a:avLst/>
          </a:prstGeom>
          <a:noFill/>
          <a:ln w="0">
            <a:noFill/>
            <a:prstDash val="solid"/>
          </a:ln>
        </p:spPr>
        <p:txBody>
          <a:bodyPr wrap="square" lIns="0" tIns="0" rIns="0" bIns="0" anchor="t">
            <a:normAutofit/>
          </a:bodyPr>
          <a:lstStyle/>
          <a:p>
            <a:pPr algn="ctr">
              <a:defRPr sz="1725" b="1">
                <a:solidFill>
                  <a:srgbClr val="E8F0EF"/>
                </a:solidFill>
                <a:latin typeface="Arial"/>
                <a:ea typeface="Arial"/>
                <a:cs typeface="Arial"/>
              </a:defRPr>
            </a:pPr>
            <a:r>
              <a:rPr sz="1725" b="1">
                <a:solidFill>
                  <a:srgbClr val="E8F0EF"/>
                </a:solidFill>
                <a:latin typeface="Arial"/>
                <a:ea typeface="Arial"/>
                <a:cs typeface="Arial"/>
              </a:rPr>
              <a:t>The prototype found the user journey. The specified build made it durable.</a:t>
            </a:r>
          </a:p>
        </p:txBody>
      </p:sp>
      <p:sp>
        <p:nvSpPr>
          <p:cNvPr id="33" name="Rectangle 32">
            <a:extLst>
              <a:ext uri="{FF2B5EF4-FFF2-40B4-BE49-F238E27FC236}">
                <a16:creationId xmlns:a16="http://schemas.microsoft.com/office/drawing/2014/main" id="{3FAE9B6F-4185-4230-9E92-12788DC88A4D}"/>
              </a:ext>
            </a:extLst>
          </p:cNvPr>
          <p:cNvSpPr>
            <a:spLocks noGrp="1"/>
          </p:cNvSpPr>
          <p:nvPr/>
        </p:nvSpPr>
        <p:spPr>
          <a:xfrm>
            <a:off x="2381250" y="5867400"/>
            <a:ext cx="7429500" cy="247650"/>
          </a:xfrm>
          <a:prstGeom prst="rect">
            <a:avLst/>
          </a:prstGeom>
          <a:noFill/>
          <a:ln w="0">
            <a:noFill/>
            <a:prstDash val="solid"/>
          </a:ln>
        </p:spPr>
        <p:txBody>
          <a:bodyPr wrap="square" lIns="0" tIns="0" rIns="0" bIns="0" anchor="t">
            <a:normAutofit/>
          </a:bodyPr>
          <a:lstStyle/>
          <a:p>
            <a:pPr algn="ctr">
              <a:defRPr sz="1200" b="0">
                <a:solidFill>
                  <a:srgbClr val="8AA0A4"/>
                </a:solidFill>
                <a:latin typeface="Arial"/>
                <a:ea typeface="Arial"/>
                <a:cs typeface="Arial"/>
              </a:defRPr>
            </a:pPr>
            <a:r>
              <a:rPr sz="1200" b="0">
                <a:solidFill>
                  <a:srgbClr val="8AA0A4"/>
                </a:solidFill>
                <a:latin typeface="Arial"/>
                <a:ea typeface="Arial"/>
                <a:cs typeface="Arial"/>
              </a:rPr>
              <a:t>Some names and terminology were changed to protect the innocent. :-)</a:t>
            </a:r>
          </a:p>
        </p:txBody>
      </p:sp>
    </p:spTree>
    <p:extLst>
      <p:ext uri="{BB962C8B-B14F-4D97-AF65-F5344CB8AC3E}">
        <p14:creationId xmlns:p14="http://schemas.microsoft.com/office/powerpoint/2010/main" val="187797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C415B35-8B7F-4DA6-90CE-D15ED604CDF3}"/>
              </a:ext>
            </a:extLst>
          </p:cNvPr>
          <p:cNvSpPr>
            <a:spLocks noGrp="1"/>
          </p:cNvSpPr>
          <p:nvPr/>
        </p:nvSpPr>
        <p:spPr>
          <a:xfrm>
            <a:off x="0" y="0"/>
            <a:ext cx="12192000" cy="66675"/>
          </a:xfrm>
          <a:prstGeom prst="rect">
            <a:avLst/>
          </a:prstGeom>
          <a:solidFill>
            <a:srgbClr val="F2A93B"/>
          </a:solidFill>
          <a:ln w="0">
            <a:noFill/>
            <a:prstDash val="solid"/>
          </a:ln>
        </p:spPr>
        <p:txBody>
          <a:bodyPr/>
          <a:lstStyle/>
          <a:p>
            <a:endParaRPr lang="en-US"/>
          </a:p>
        </p:txBody>
      </p:sp>
      <p:sp>
        <p:nvSpPr>
          <p:cNvPr id="2" name="section-4">
            <a:extLst>
              <a:ext uri="{FF2B5EF4-FFF2-40B4-BE49-F238E27FC236}">
                <a16:creationId xmlns:a16="http://schemas.microsoft.com/office/drawing/2014/main" id="{4238CCAF-B663-4EB8-9B20-E714F361FF50}"/>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F2A93B"/>
                </a:solidFill>
                <a:latin typeface="Arial"/>
                <a:ea typeface="Arial"/>
                <a:cs typeface="Arial"/>
              </a:defRPr>
            </a:pPr>
            <a:r>
              <a:rPr sz="975" b="1">
                <a:solidFill>
                  <a:srgbClr val="F2A93B"/>
                </a:solidFill>
                <a:latin typeface="Arial"/>
                <a:ea typeface="Arial"/>
                <a:cs typeface="Arial"/>
              </a:rPr>
              <a:t>THE PROMISE</a:t>
            </a:r>
          </a:p>
        </p:txBody>
      </p:sp>
      <p:sp>
        <p:nvSpPr>
          <p:cNvPr id="3" name="Rectangle 2">
            <a:extLst>
              <a:ext uri="{FF2B5EF4-FFF2-40B4-BE49-F238E27FC236}">
                <a16:creationId xmlns:a16="http://schemas.microsoft.com/office/drawing/2014/main" id="{A41E9F54-1884-4C84-B49E-98C9E8A3AAA2}"/>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04</a:t>
            </a:r>
          </a:p>
        </p:txBody>
      </p:sp>
      <p:sp>
        <p:nvSpPr>
          <p:cNvPr id="4" name="Rectangle 3">
            <a:extLst>
              <a:ext uri="{FF2B5EF4-FFF2-40B4-BE49-F238E27FC236}">
                <a16:creationId xmlns:a16="http://schemas.microsoft.com/office/drawing/2014/main" id="{FD1369BF-070D-4106-81C9-A33761DB1A36}"/>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C0C6D0C9-21F3-44E8-BFB8-3D3DACD5501F}"/>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000" b="1">
                <a:solidFill>
                  <a:srgbClr val="E8F0EF"/>
                </a:solidFill>
                <a:latin typeface="Arial"/>
                <a:ea typeface="Arial"/>
                <a:cs typeface="Arial"/>
              </a:defRPr>
            </a:pPr>
            <a:r>
              <a:rPr sz="3000" b="1">
                <a:solidFill>
                  <a:srgbClr val="E8F0EF"/>
                </a:solidFill>
                <a:latin typeface="Arial"/>
                <a:ea typeface="Arial"/>
                <a:cs typeface="Arial"/>
              </a:rPr>
              <a:t>A useful answer points to the moment that proves it.</a:t>
            </a:r>
          </a:p>
        </p:txBody>
      </p:sp>
      <p:sp>
        <p:nvSpPr>
          <p:cNvPr id="6" name="Rectangle 5">
            <a:extLst>
              <a:ext uri="{FF2B5EF4-FFF2-40B4-BE49-F238E27FC236}">
                <a16:creationId xmlns:a16="http://schemas.microsoft.com/office/drawing/2014/main" id="{B7303986-04DF-4603-9925-EA5810D6D7DD}"/>
              </a:ext>
            </a:extLst>
          </p:cNvPr>
          <p:cNvSpPr>
            <a:spLocks noGrp="1"/>
          </p:cNvSpPr>
          <p:nvPr/>
        </p:nvSpPr>
        <p:spPr>
          <a:xfrm>
            <a:off x="1238250" y="3133725"/>
            <a:ext cx="9144000" cy="38100"/>
          </a:xfrm>
          <a:prstGeom prst="rect">
            <a:avLst/>
          </a:prstGeom>
          <a:solidFill>
            <a:srgbClr val="31444A"/>
          </a:solidFill>
          <a:ln w="0">
            <a:noFill/>
            <a:prstDash val="solid"/>
          </a:ln>
        </p:spPr>
        <p:txBody>
          <a:bodyPr/>
          <a:lstStyle/>
          <a:p>
            <a:endParaRPr lang="en-US"/>
          </a:p>
        </p:txBody>
      </p:sp>
      <p:sp>
        <p:nvSpPr>
          <p:cNvPr id="7" name="Right Arrow 6">
            <a:extLst>
              <a:ext uri="{FF2B5EF4-FFF2-40B4-BE49-F238E27FC236}">
                <a16:creationId xmlns:a16="http://schemas.microsoft.com/office/drawing/2014/main" id="{5113F689-C2DA-42FF-8FE3-8A3BB4C2AE57}"/>
              </a:ext>
            </a:extLst>
          </p:cNvPr>
          <p:cNvSpPr>
            <a:spLocks noGrp="1"/>
          </p:cNvSpPr>
          <p:nvPr/>
        </p:nvSpPr>
        <p:spPr>
          <a:xfrm>
            <a:off x="10001250" y="3019425"/>
            <a:ext cx="742950" cy="266700"/>
          </a:xfrm>
          <a:prstGeom prst="rightArrow">
            <a:avLst/>
          </a:prstGeom>
          <a:solidFill>
            <a:srgbClr val="31444A"/>
          </a:solidFill>
          <a:ln w="0">
            <a:noFill/>
            <a:prstDash val="solid"/>
          </a:ln>
        </p:spPr>
        <p:txBody>
          <a:bodyPr/>
          <a:lstStyle/>
          <a:p>
            <a:endParaRPr lang="en-US"/>
          </a:p>
        </p:txBody>
      </p:sp>
      <p:sp>
        <p:nvSpPr>
          <p:cNvPr id="8" name="Oval 7">
            <a:extLst>
              <a:ext uri="{FF2B5EF4-FFF2-40B4-BE49-F238E27FC236}">
                <a16:creationId xmlns:a16="http://schemas.microsoft.com/office/drawing/2014/main" id="{F0613E11-8545-4F77-B2D4-56A0A864ECFC}"/>
              </a:ext>
            </a:extLst>
          </p:cNvPr>
          <p:cNvSpPr>
            <a:spLocks noGrp="1"/>
          </p:cNvSpPr>
          <p:nvPr/>
        </p:nvSpPr>
        <p:spPr>
          <a:xfrm>
            <a:off x="1409700" y="2943225"/>
            <a:ext cx="419100" cy="419100"/>
          </a:xfrm>
          <a:prstGeom prst="ellipse">
            <a:avLst/>
          </a:prstGeom>
          <a:solidFill>
            <a:srgbClr val="081115"/>
          </a:solidFill>
          <a:ln w="9525">
            <a:solidFill>
              <a:srgbClr val="F2A93B"/>
            </a:solidFill>
            <a:prstDash val="solid"/>
          </a:ln>
        </p:spPr>
        <p:txBody>
          <a:bodyPr/>
          <a:lstStyle/>
          <a:p>
            <a:endParaRPr lang="en-US"/>
          </a:p>
        </p:txBody>
      </p:sp>
      <p:sp>
        <p:nvSpPr>
          <p:cNvPr id="9" name="Rectangle 8">
            <a:extLst>
              <a:ext uri="{FF2B5EF4-FFF2-40B4-BE49-F238E27FC236}">
                <a16:creationId xmlns:a16="http://schemas.microsoft.com/office/drawing/2014/main" id="{36655EDE-15E0-440C-B0CB-09832549398A}"/>
              </a:ext>
            </a:extLst>
          </p:cNvPr>
          <p:cNvSpPr>
            <a:spLocks noGrp="1"/>
          </p:cNvSpPr>
          <p:nvPr/>
        </p:nvSpPr>
        <p:spPr>
          <a:xfrm>
            <a:off x="1447800" y="3028950"/>
            <a:ext cx="342900" cy="247650"/>
          </a:xfrm>
          <a:prstGeom prst="rect">
            <a:avLst/>
          </a:prstGeom>
          <a:noFill/>
          <a:ln w="0">
            <a:noFill/>
            <a:prstDash val="solid"/>
          </a:ln>
        </p:spPr>
        <p:txBody>
          <a:bodyPr wrap="square" lIns="0" tIns="0" rIns="0" bIns="0" anchor="ctr">
            <a:normAutofit/>
          </a:bodyPr>
          <a:lstStyle/>
          <a:p>
            <a:pPr algn="ctr">
              <a:defRPr sz="975" b="1">
                <a:solidFill>
                  <a:srgbClr val="F2A93B"/>
                </a:solidFill>
                <a:latin typeface="Arial"/>
                <a:ea typeface="Arial"/>
                <a:cs typeface="Arial"/>
              </a:defRPr>
            </a:pPr>
            <a:r>
              <a:rPr sz="975" b="1">
                <a:solidFill>
                  <a:srgbClr val="F2A93B"/>
                </a:solidFill>
                <a:latin typeface="Arial"/>
                <a:ea typeface="Arial"/>
                <a:cs typeface="Arial"/>
              </a:rPr>
              <a:t>01</a:t>
            </a:r>
          </a:p>
        </p:txBody>
      </p:sp>
      <p:sp>
        <p:nvSpPr>
          <p:cNvPr id="10" name="Rectangle 9">
            <a:extLst>
              <a:ext uri="{FF2B5EF4-FFF2-40B4-BE49-F238E27FC236}">
                <a16:creationId xmlns:a16="http://schemas.microsoft.com/office/drawing/2014/main" id="{F087A241-10DC-488E-AE4B-C032385E85D0}"/>
              </a:ext>
            </a:extLst>
          </p:cNvPr>
          <p:cNvSpPr>
            <a:spLocks noGrp="1"/>
          </p:cNvSpPr>
          <p:nvPr/>
        </p:nvSpPr>
        <p:spPr>
          <a:xfrm>
            <a:off x="762000" y="3638550"/>
            <a:ext cx="1714500" cy="342900"/>
          </a:xfrm>
          <a:prstGeom prst="rect">
            <a:avLst/>
          </a:prstGeom>
          <a:noFill/>
          <a:ln w="0">
            <a:noFill/>
            <a:prstDash val="solid"/>
          </a:ln>
        </p:spPr>
        <p:txBody>
          <a:bodyPr wrap="square" lIns="0" tIns="0" rIns="0" bIns="0" anchor="t">
            <a:normAutofit/>
          </a:bodyPr>
          <a:lstStyle/>
          <a:p>
            <a:pPr algn="ctr">
              <a:defRPr sz="1800" b="1">
                <a:solidFill>
                  <a:srgbClr val="F2A93B"/>
                </a:solidFill>
                <a:latin typeface="Arial"/>
                <a:ea typeface="Arial"/>
                <a:cs typeface="Arial"/>
              </a:defRPr>
            </a:pPr>
            <a:r>
              <a:rPr sz="1800" b="1">
                <a:solidFill>
                  <a:srgbClr val="F2A93B"/>
                </a:solidFill>
                <a:latin typeface="Arial"/>
                <a:ea typeface="Arial"/>
                <a:cs typeface="Arial"/>
              </a:rPr>
              <a:t>ASK</a:t>
            </a:r>
          </a:p>
        </p:txBody>
      </p:sp>
      <p:sp>
        <p:nvSpPr>
          <p:cNvPr id="11" name="Rectangle 10">
            <a:extLst>
              <a:ext uri="{FF2B5EF4-FFF2-40B4-BE49-F238E27FC236}">
                <a16:creationId xmlns:a16="http://schemas.microsoft.com/office/drawing/2014/main" id="{A471CD11-F8B6-4C55-BF82-4934FB7660E1}"/>
              </a:ext>
            </a:extLst>
          </p:cNvPr>
          <p:cNvSpPr>
            <a:spLocks noGrp="1"/>
          </p:cNvSpPr>
          <p:nvPr/>
        </p:nvSpPr>
        <p:spPr>
          <a:xfrm>
            <a:off x="476250" y="4171950"/>
            <a:ext cx="2286000" cy="819150"/>
          </a:xfrm>
          <a:prstGeom prst="rect">
            <a:avLst/>
          </a:prstGeom>
          <a:noFill/>
          <a:ln w="0">
            <a:noFill/>
            <a:prstDash val="solid"/>
          </a:ln>
        </p:spPr>
        <p:txBody>
          <a:bodyPr wrap="square" lIns="0" tIns="0" rIns="0" bIns="0" anchor="t">
            <a:normAutofit/>
          </a:bodyPr>
          <a:lstStyle/>
          <a:p>
            <a:pPr algn="ctr">
              <a:defRPr sz="1425" b="0">
                <a:solidFill>
                  <a:srgbClr val="E8F0EF"/>
                </a:solidFill>
                <a:latin typeface="Arial"/>
                <a:ea typeface="Arial"/>
                <a:cs typeface="Arial"/>
              </a:defRPr>
            </a:pPr>
            <a:r>
              <a:rPr sz="1425" b="0">
                <a:solidFill>
                  <a:srgbClr val="E8F0EF"/>
                </a:solidFill>
                <a:latin typeface="Arial"/>
                <a:ea typeface="Arial"/>
                <a:cs typeface="Arial"/>
              </a:rPr>
              <a:t>A real question across every meeting.</a:t>
            </a:r>
          </a:p>
        </p:txBody>
      </p:sp>
      <p:sp>
        <p:nvSpPr>
          <p:cNvPr id="12" name="Oval 11">
            <a:extLst>
              <a:ext uri="{FF2B5EF4-FFF2-40B4-BE49-F238E27FC236}">
                <a16:creationId xmlns:a16="http://schemas.microsoft.com/office/drawing/2014/main" id="{E0A30DF8-FCCF-47E8-A5E3-552E5D823C06}"/>
              </a:ext>
            </a:extLst>
          </p:cNvPr>
          <p:cNvSpPr>
            <a:spLocks noGrp="1"/>
          </p:cNvSpPr>
          <p:nvPr/>
        </p:nvSpPr>
        <p:spPr>
          <a:xfrm>
            <a:off x="4648200" y="2943225"/>
            <a:ext cx="419100" cy="419100"/>
          </a:xfrm>
          <a:prstGeom prst="ellipse">
            <a:avLst/>
          </a:prstGeom>
          <a:solidFill>
            <a:srgbClr val="081115"/>
          </a:solidFill>
          <a:ln w="9525">
            <a:solidFill>
              <a:srgbClr val="47C6B7"/>
            </a:solidFill>
            <a:prstDash val="solid"/>
          </a:ln>
        </p:spPr>
        <p:txBody>
          <a:bodyPr/>
          <a:lstStyle/>
          <a:p>
            <a:endParaRPr lang="en-US"/>
          </a:p>
        </p:txBody>
      </p:sp>
      <p:sp>
        <p:nvSpPr>
          <p:cNvPr id="13" name="Rectangle 12">
            <a:extLst>
              <a:ext uri="{FF2B5EF4-FFF2-40B4-BE49-F238E27FC236}">
                <a16:creationId xmlns:a16="http://schemas.microsoft.com/office/drawing/2014/main" id="{E4F13DEF-8525-41E0-B2C1-CC012CF15B59}"/>
              </a:ext>
            </a:extLst>
          </p:cNvPr>
          <p:cNvSpPr>
            <a:spLocks noGrp="1"/>
          </p:cNvSpPr>
          <p:nvPr/>
        </p:nvSpPr>
        <p:spPr>
          <a:xfrm>
            <a:off x="4686300" y="3028950"/>
            <a:ext cx="342900" cy="247650"/>
          </a:xfrm>
          <a:prstGeom prst="rect">
            <a:avLst/>
          </a:prstGeom>
          <a:noFill/>
          <a:ln w="0">
            <a:noFill/>
            <a:prstDash val="solid"/>
          </a:ln>
        </p:spPr>
        <p:txBody>
          <a:bodyPr wrap="square" lIns="0" tIns="0" rIns="0" bIns="0" anchor="ctr">
            <a:normAutofit/>
          </a:bodyPr>
          <a:lstStyle/>
          <a:p>
            <a:pPr algn="ctr">
              <a:defRPr sz="975" b="1">
                <a:solidFill>
                  <a:srgbClr val="47C6B7"/>
                </a:solidFill>
                <a:latin typeface="Arial"/>
                <a:ea typeface="Arial"/>
                <a:cs typeface="Arial"/>
              </a:defRPr>
            </a:pPr>
            <a:r>
              <a:rPr sz="975" b="1">
                <a:solidFill>
                  <a:srgbClr val="47C6B7"/>
                </a:solidFill>
                <a:latin typeface="Arial"/>
                <a:ea typeface="Arial"/>
                <a:cs typeface="Arial"/>
              </a:rPr>
              <a:t>02</a:t>
            </a:r>
          </a:p>
        </p:txBody>
      </p:sp>
      <p:sp>
        <p:nvSpPr>
          <p:cNvPr id="14" name="Rectangle 13">
            <a:extLst>
              <a:ext uri="{FF2B5EF4-FFF2-40B4-BE49-F238E27FC236}">
                <a16:creationId xmlns:a16="http://schemas.microsoft.com/office/drawing/2014/main" id="{6BE81EED-9FF3-4E60-8322-AB102102A42F}"/>
              </a:ext>
            </a:extLst>
          </p:cNvPr>
          <p:cNvSpPr>
            <a:spLocks noGrp="1"/>
          </p:cNvSpPr>
          <p:nvPr/>
        </p:nvSpPr>
        <p:spPr>
          <a:xfrm>
            <a:off x="4000500" y="3638550"/>
            <a:ext cx="1714500" cy="342900"/>
          </a:xfrm>
          <a:prstGeom prst="rect">
            <a:avLst/>
          </a:prstGeom>
          <a:noFill/>
          <a:ln w="0">
            <a:noFill/>
            <a:prstDash val="solid"/>
          </a:ln>
        </p:spPr>
        <p:txBody>
          <a:bodyPr wrap="square" lIns="0" tIns="0" rIns="0" bIns="0" anchor="t">
            <a:normAutofit/>
          </a:bodyPr>
          <a:lstStyle/>
          <a:p>
            <a:pPr algn="ctr">
              <a:defRPr sz="1800" b="1">
                <a:solidFill>
                  <a:srgbClr val="47C6B7"/>
                </a:solidFill>
                <a:latin typeface="Arial"/>
                <a:ea typeface="Arial"/>
                <a:cs typeface="Arial"/>
              </a:defRPr>
            </a:pPr>
            <a:r>
              <a:rPr sz="1800" b="1">
                <a:solidFill>
                  <a:srgbClr val="47C6B7"/>
                </a:solidFill>
                <a:latin typeface="Arial"/>
                <a:ea typeface="Arial"/>
                <a:cs typeface="Arial"/>
              </a:rPr>
              <a:t>CITE</a:t>
            </a:r>
          </a:p>
        </p:txBody>
      </p:sp>
      <p:sp>
        <p:nvSpPr>
          <p:cNvPr id="15" name="Rectangle 14">
            <a:extLst>
              <a:ext uri="{FF2B5EF4-FFF2-40B4-BE49-F238E27FC236}">
                <a16:creationId xmlns:a16="http://schemas.microsoft.com/office/drawing/2014/main" id="{F8A60571-5E95-48A5-B985-8EA91ACBA86A}"/>
              </a:ext>
            </a:extLst>
          </p:cNvPr>
          <p:cNvSpPr>
            <a:spLocks noGrp="1"/>
          </p:cNvSpPr>
          <p:nvPr/>
        </p:nvSpPr>
        <p:spPr>
          <a:xfrm>
            <a:off x="3714750" y="4171950"/>
            <a:ext cx="2286000" cy="819150"/>
          </a:xfrm>
          <a:prstGeom prst="rect">
            <a:avLst/>
          </a:prstGeom>
          <a:noFill/>
          <a:ln w="0">
            <a:noFill/>
            <a:prstDash val="solid"/>
          </a:ln>
        </p:spPr>
        <p:txBody>
          <a:bodyPr wrap="square" lIns="0" tIns="0" rIns="0" bIns="0" anchor="t">
            <a:normAutofit/>
          </a:bodyPr>
          <a:lstStyle/>
          <a:p>
            <a:pPr algn="ctr">
              <a:defRPr sz="1425" b="0">
                <a:solidFill>
                  <a:srgbClr val="E8F0EF"/>
                </a:solidFill>
                <a:latin typeface="Arial"/>
                <a:ea typeface="Arial"/>
                <a:cs typeface="Arial"/>
              </a:defRPr>
            </a:pPr>
            <a:r>
              <a:rPr sz="1425" b="0">
                <a:solidFill>
                  <a:srgbClr val="E8F0EF"/>
                </a:solidFill>
                <a:latin typeface="Arial"/>
                <a:ea typeface="Arial"/>
                <a:cs typeface="Arial"/>
              </a:rPr>
              <a:t>Speaker, meeting, passage, and timecode.</a:t>
            </a:r>
          </a:p>
        </p:txBody>
      </p:sp>
      <p:sp>
        <p:nvSpPr>
          <p:cNvPr id="16" name="Oval 15">
            <a:extLst>
              <a:ext uri="{FF2B5EF4-FFF2-40B4-BE49-F238E27FC236}">
                <a16:creationId xmlns:a16="http://schemas.microsoft.com/office/drawing/2014/main" id="{7D470EBF-045E-483C-A895-00E53C723A0D}"/>
              </a:ext>
            </a:extLst>
          </p:cNvPr>
          <p:cNvSpPr>
            <a:spLocks noGrp="1"/>
          </p:cNvSpPr>
          <p:nvPr/>
        </p:nvSpPr>
        <p:spPr>
          <a:xfrm>
            <a:off x="7886700" y="2943225"/>
            <a:ext cx="419100" cy="419100"/>
          </a:xfrm>
          <a:prstGeom prst="ellipse">
            <a:avLst/>
          </a:prstGeom>
          <a:solidFill>
            <a:srgbClr val="081115"/>
          </a:solidFill>
          <a:ln w="9525">
            <a:solidFill>
              <a:srgbClr val="D8F36A"/>
            </a:solidFill>
            <a:prstDash val="solid"/>
          </a:ln>
        </p:spPr>
        <p:txBody>
          <a:bodyPr/>
          <a:lstStyle/>
          <a:p>
            <a:endParaRPr lang="en-US"/>
          </a:p>
        </p:txBody>
      </p:sp>
      <p:sp>
        <p:nvSpPr>
          <p:cNvPr id="17" name="Rectangle 16">
            <a:extLst>
              <a:ext uri="{FF2B5EF4-FFF2-40B4-BE49-F238E27FC236}">
                <a16:creationId xmlns:a16="http://schemas.microsoft.com/office/drawing/2014/main" id="{4FEEA86C-1134-4CB3-A96F-B1882271A7A4}"/>
              </a:ext>
            </a:extLst>
          </p:cNvPr>
          <p:cNvSpPr>
            <a:spLocks noGrp="1"/>
          </p:cNvSpPr>
          <p:nvPr/>
        </p:nvSpPr>
        <p:spPr>
          <a:xfrm>
            <a:off x="7924800" y="3028950"/>
            <a:ext cx="342900" cy="247650"/>
          </a:xfrm>
          <a:prstGeom prst="rect">
            <a:avLst/>
          </a:prstGeom>
          <a:noFill/>
          <a:ln w="0">
            <a:noFill/>
            <a:prstDash val="solid"/>
          </a:ln>
        </p:spPr>
        <p:txBody>
          <a:bodyPr wrap="square" lIns="0" tIns="0" rIns="0" bIns="0" anchor="ctr">
            <a:normAutofit/>
          </a:bodyPr>
          <a:lstStyle/>
          <a:p>
            <a:pPr algn="ctr">
              <a:defRPr sz="975" b="1">
                <a:solidFill>
                  <a:srgbClr val="D8F36A"/>
                </a:solidFill>
                <a:latin typeface="Arial"/>
                <a:ea typeface="Arial"/>
                <a:cs typeface="Arial"/>
              </a:defRPr>
            </a:pPr>
            <a:r>
              <a:rPr sz="975" b="1">
                <a:solidFill>
                  <a:srgbClr val="D8F36A"/>
                </a:solidFill>
                <a:latin typeface="Arial"/>
                <a:ea typeface="Arial"/>
                <a:cs typeface="Arial"/>
              </a:rPr>
              <a:t>03</a:t>
            </a:r>
          </a:p>
        </p:txBody>
      </p:sp>
      <p:sp>
        <p:nvSpPr>
          <p:cNvPr id="18" name="Rectangle 17">
            <a:extLst>
              <a:ext uri="{FF2B5EF4-FFF2-40B4-BE49-F238E27FC236}">
                <a16:creationId xmlns:a16="http://schemas.microsoft.com/office/drawing/2014/main" id="{607E4B14-A52A-43EA-8966-55C8A6C17B05}"/>
              </a:ext>
            </a:extLst>
          </p:cNvPr>
          <p:cNvSpPr>
            <a:spLocks noGrp="1"/>
          </p:cNvSpPr>
          <p:nvPr/>
        </p:nvSpPr>
        <p:spPr>
          <a:xfrm>
            <a:off x="7239000" y="3638550"/>
            <a:ext cx="1714500" cy="342900"/>
          </a:xfrm>
          <a:prstGeom prst="rect">
            <a:avLst/>
          </a:prstGeom>
          <a:noFill/>
          <a:ln w="0">
            <a:noFill/>
            <a:prstDash val="solid"/>
          </a:ln>
        </p:spPr>
        <p:txBody>
          <a:bodyPr wrap="square" lIns="0" tIns="0" rIns="0" bIns="0" anchor="t">
            <a:normAutofit/>
          </a:bodyPr>
          <a:lstStyle/>
          <a:p>
            <a:pPr algn="ctr">
              <a:defRPr sz="1800" b="1">
                <a:solidFill>
                  <a:srgbClr val="D8F36A"/>
                </a:solidFill>
                <a:latin typeface="Arial"/>
                <a:ea typeface="Arial"/>
                <a:cs typeface="Arial"/>
              </a:defRPr>
            </a:pPr>
            <a:r>
              <a:rPr sz="1800" b="1">
                <a:solidFill>
                  <a:srgbClr val="D8F36A"/>
                </a:solidFill>
                <a:latin typeface="Arial"/>
                <a:ea typeface="Arial"/>
                <a:cs typeface="Arial"/>
              </a:rPr>
              <a:t>REPLAY</a:t>
            </a:r>
          </a:p>
        </p:txBody>
      </p:sp>
      <p:sp>
        <p:nvSpPr>
          <p:cNvPr id="19" name="Rectangle 18">
            <a:extLst>
              <a:ext uri="{FF2B5EF4-FFF2-40B4-BE49-F238E27FC236}">
                <a16:creationId xmlns:a16="http://schemas.microsoft.com/office/drawing/2014/main" id="{39242354-06CF-4EBA-8527-B1135BD3E7CA}"/>
              </a:ext>
            </a:extLst>
          </p:cNvPr>
          <p:cNvSpPr>
            <a:spLocks noGrp="1"/>
          </p:cNvSpPr>
          <p:nvPr/>
        </p:nvSpPr>
        <p:spPr>
          <a:xfrm>
            <a:off x="6953250" y="4171950"/>
            <a:ext cx="2286000" cy="819150"/>
          </a:xfrm>
          <a:prstGeom prst="rect">
            <a:avLst/>
          </a:prstGeom>
          <a:noFill/>
          <a:ln w="0">
            <a:noFill/>
            <a:prstDash val="solid"/>
          </a:ln>
        </p:spPr>
        <p:txBody>
          <a:bodyPr wrap="square" lIns="0" tIns="0" rIns="0" bIns="0" anchor="t">
            <a:normAutofit/>
          </a:bodyPr>
          <a:lstStyle/>
          <a:p>
            <a:pPr algn="ctr">
              <a:defRPr sz="1425" b="0">
                <a:solidFill>
                  <a:srgbClr val="E8F0EF"/>
                </a:solidFill>
                <a:latin typeface="Arial"/>
                <a:ea typeface="Arial"/>
                <a:cs typeface="Arial"/>
              </a:defRPr>
            </a:pPr>
            <a:r>
              <a:rPr sz="1425" b="0">
                <a:solidFill>
                  <a:srgbClr val="E8F0EF"/>
                </a:solidFill>
                <a:latin typeface="Arial"/>
                <a:ea typeface="Arial"/>
                <a:cs typeface="Arial"/>
              </a:rPr>
              <a:t>Recording opens at the exact second.</a:t>
            </a:r>
          </a:p>
        </p:txBody>
      </p:sp>
      <p:sp>
        <p:nvSpPr>
          <p:cNvPr id="20" name="Rectangle 19">
            <a:extLst>
              <a:ext uri="{FF2B5EF4-FFF2-40B4-BE49-F238E27FC236}">
                <a16:creationId xmlns:a16="http://schemas.microsoft.com/office/drawing/2014/main" id="{9EB840A4-D8EC-48A2-A02F-086E6FD01EC7}"/>
              </a:ext>
            </a:extLst>
          </p:cNvPr>
          <p:cNvSpPr>
            <a:spLocks noGrp="1"/>
          </p:cNvSpPr>
          <p:nvPr/>
        </p:nvSpPr>
        <p:spPr>
          <a:xfrm>
            <a:off x="2095500" y="5429250"/>
            <a:ext cx="8001000" cy="400050"/>
          </a:xfrm>
          <a:prstGeom prst="rect">
            <a:avLst/>
          </a:prstGeom>
          <a:noFill/>
          <a:ln w="0">
            <a:noFill/>
            <a:prstDash val="solid"/>
          </a:ln>
        </p:spPr>
        <p:txBody>
          <a:bodyPr wrap="square" lIns="0" tIns="0" rIns="0" bIns="0" anchor="t">
            <a:normAutofit/>
          </a:bodyPr>
          <a:lstStyle/>
          <a:p>
            <a:pPr algn="ctr">
              <a:defRPr sz="1725" b="1">
                <a:solidFill>
                  <a:srgbClr val="E8F0EF"/>
                </a:solidFill>
                <a:latin typeface="Arial"/>
                <a:ea typeface="Arial"/>
                <a:cs typeface="Arial"/>
              </a:defRPr>
            </a:pPr>
            <a:r>
              <a:rPr sz="1725" b="1">
                <a:solidFill>
                  <a:srgbClr val="E8F0EF"/>
                </a:solidFill>
                <a:latin typeface="Arial"/>
                <a:ea typeface="Arial"/>
                <a:cs typeface="Arial"/>
              </a:rPr>
              <a:t>That citation boundary is the product — everything else supports it.</a:t>
            </a:r>
          </a:p>
        </p:txBody>
      </p:sp>
    </p:spTree>
    <p:extLst>
      <p:ext uri="{BB962C8B-B14F-4D97-AF65-F5344CB8AC3E}">
        <p14:creationId xmlns:p14="http://schemas.microsoft.com/office/powerpoint/2010/main" val="1573441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D9ECE7C-5518-4B4C-8963-B3B9AAEB15E6}"/>
              </a:ext>
            </a:extLst>
          </p:cNvPr>
          <p:cNvSpPr>
            <a:spLocks noGrp="1"/>
          </p:cNvSpPr>
          <p:nvPr/>
        </p:nvSpPr>
        <p:spPr>
          <a:xfrm>
            <a:off x="0" y="0"/>
            <a:ext cx="12192000" cy="66675"/>
          </a:xfrm>
          <a:prstGeom prst="rect">
            <a:avLst/>
          </a:prstGeom>
          <a:solidFill>
            <a:srgbClr val="47C6B7"/>
          </a:solidFill>
          <a:ln w="0">
            <a:noFill/>
            <a:prstDash val="solid"/>
          </a:ln>
        </p:spPr>
        <p:txBody>
          <a:bodyPr/>
          <a:lstStyle/>
          <a:p>
            <a:endParaRPr lang="en-US"/>
          </a:p>
        </p:txBody>
      </p:sp>
      <p:sp>
        <p:nvSpPr>
          <p:cNvPr id="2" name="section-9">
            <a:extLst>
              <a:ext uri="{FF2B5EF4-FFF2-40B4-BE49-F238E27FC236}">
                <a16:creationId xmlns:a16="http://schemas.microsoft.com/office/drawing/2014/main" id="{3714D8E3-8A22-4E4C-A9B4-5F6DDCD733EF}"/>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THE ARCHITECTURE</a:t>
            </a:r>
          </a:p>
        </p:txBody>
      </p:sp>
      <p:sp>
        <p:nvSpPr>
          <p:cNvPr id="3" name="Rectangle 2">
            <a:extLst>
              <a:ext uri="{FF2B5EF4-FFF2-40B4-BE49-F238E27FC236}">
                <a16:creationId xmlns:a16="http://schemas.microsoft.com/office/drawing/2014/main" id="{22D40089-40C2-4790-9300-8D99833D1E53}"/>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05</a:t>
            </a:r>
          </a:p>
        </p:txBody>
      </p:sp>
      <p:sp>
        <p:nvSpPr>
          <p:cNvPr id="4" name="Rectangle 3">
            <a:extLst>
              <a:ext uri="{FF2B5EF4-FFF2-40B4-BE49-F238E27FC236}">
                <a16:creationId xmlns:a16="http://schemas.microsoft.com/office/drawing/2014/main" id="{6DDF9B8C-E54F-4DD7-BDC3-D08413990E5C}"/>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C8DB9B39-1DAE-4E77-B062-15AA00B82363}"/>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The architecture makes every piece of evidence recoverable.</a:t>
            </a:r>
          </a:p>
        </p:txBody>
      </p:sp>
      <p:sp>
        <p:nvSpPr>
          <p:cNvPr id="6" name="Right Arrow 5">
            <a:extLst>
              <a:ext uri="{FF2B5EF4-FFF2-40B4-BE49-F238E27FC236}">
                <a16:creationId xmlns:a16="http://schemas.microsoft.com/office/drawing/2014/main" id="{B9DBF5CA-AB03-4E31-BFE5-A37B7FF99B40}"/>
              </a:ext>
            </a:extLst>
          </p:cNvPr>
          <p:cNvSpPr>
            <a:spLocks noGrp="1"/>
          </p:cNvSpPr>
          <p:nvPr/>
        </p:nvSpPr>
        <p:spPr>
          <a:xfrm>
            <a:off x="2419350" y="2628900"/>
            <a:ext cx="590550" cy="209550"/>
          </a:xfrm>
          <a:prstGeom prst="rightArrow">
            <a:avLst/>
          </a:prstGeom>
          <a:solidFill>
            <a:srgbClr val="31444A"/>
          </a:solidFill>
          <a:ln w="0">
            <a:noFill/>
            <a:prstDash val="solid"/>
          </a:ln>
        </p:spPr>
        <p:txBody>
          <a:bodyPr/>
          <a:lstStyle/>
          <a:p>
            <a:endParaRPr lang="en-US"/>
          </a:p>
        </p:txBody>
      </p:sp>
      <p:sp>
        <p:nvSpPr>
          <p:cNvPr id="7" name="Right Arrow 6">
            <a:extLst>
              <a:ext uri="{FF2B5EF4-FFF2-40B4-BE49-F238E27FC236}">
                <a16:creationId xmlns:a16="http://schemas.microsoft.com/office/drawing/2014/main" id="{7B754078-9562-43D9-A550-591A5600E221}"/>
              </a:ext>
            </a:extLst>
          </p:cNvPr>
          <p:cNvSpPr>
            <a:spLocks noGrp="1"/>
          </p:cNvSpPr>
          <p:nvPr/>
        </p:nvSpPr>
        <p:spPr>
          <a:xfrm>
            <a:off x="4953000" y="2628900"/>
            <a:ext cx="590550" cy="209550"/>
          </a:xfrm>
          <a:prstGeom prst="rightArrow">
            <a:avLst/>
          </a:prstGeom>
          <a:solidFill>
            <a:srgbClr val="31444A"/>
          </a:solidFill>
          <a:ln w="0">
            <a:noFill/>
            <a:prstDash val="solid"/>
          </a:ln>
        </p:spPr>
        <p:txBody>
          <a:bodyPr/>
          <a:lstStyle/>
          <a:p>
            <a:endParaRPr lang="en-US"/>
          </a:p>
        </p:txBody>
      </p:sp>
      <p:sp>
        <p:nvSpPr>
          <p:cNvPr id="8" name="Right Arrow 7">
            <a:extLst>
              <a:ext uri="{FF2B5EF4-FFF2-40B4-BE49-F238E27FC236}">
                <a16:creationId xmlns:a16="http://schemas.microsoft.com/office/drawing/2014/main" id="{5DC4A0F0-809D-43C0-904C-4A8656C4A676}"/>
              </a:ext>
            </a:extLst>
          </p:cNvPr>
          <p:cNvSpPr>
            <a:spLocks noGrp="1"/>
          </p:cNvSpPr>
          <p:nvPr/>
        </p:nvSpPr>
        <p:spPr>
          <a:xfrm>
            <a:off x="7524750" y="2628900"/>
            <a:ext cx="590550" cy="209550"/>
          </a:xfrm>
          <a:prstGeom prst="rightArrow">
            <a:avLst/>
          </a:prstGeom>
          <a:solidFill>
            <a:srgbClr val="31444A"/>
          </a:solidFill>
          <a:ln w="0">
            <a:noFill/>
            <a:prstDash val="solid"/>
          </a:ln>
        </p:spPr>
        <p:txBody>
          <a:bodyPr/>
          <a:lstStyle/>
          <a:p>
            <a:endParaRPr lang="en-US"/>
          </a:p>
        </p:txBody>
      </p:sp>
      <p:sp>
        <p:nvSpPr>
          <p:cNvPr id="9" name="Rectangle 8">
            <a:extLst>
              <a:ext uri="{FF2B5EF4-FFF2-40B4-BE49-F238E27FC236}">
                <a16:creationId xmlns:a16="http://schemas.microsoft.com/office/drawing/2014/main" id="{5DE41BF8-8FF9-4863-9732-513477F6F172}"/>
              </a:ext>
            </a:extLst>
          </p:cNvPr>
          <p:cNvSpPr>
            <a:spLocks noGrp="1"/>
          </p:cNvSpPr>
          <p:nvPr/>
        </p:nvSpPr>
        <p:spPr>
          <a:xfrm>
            <a:off x="3981450" y="3219450"/>
            <a:ext cx="28575" cy="914400"/>
          </a:xfrm>
          <a:prstGeom prst="rect">
            <a:avLst/>
          </a:prstGeom>
          <a:solidFill>
            <a:srgbClr val="31444A"/>
          </a:solidFill>
          <a:ln w="0">
            <a:noFill/>
            <a:prstDash val="solid"/>
          </a:ln>
        </p:spPr>
        <p:txBody>
          <a:bodyPr/>
          <a:lstStyle/>
          <a:p>
            <a:endParaRPr lang="en-US"/>
          </a:p>
        </p:txBody>
      </p:sp>
      <p:sp>
        <p:nvSpPr>
          <p:cNvPr id="10" name="Down Arrow 9">
            <a:extLst>
              <a:ext uri="{FF2B5EF4-FFF2-40B4-BE49-F238E27FC236}">
                <a16:creationId xmlns:a16="http://schemas.microsoft.com/office/drawing/2014/main" id="{D4EE22F0-5E60-4B8E-BE44-333FEC6DBAB2}"/>
              </a:ext>
            </a:extLst>
          </p:cNvPr>
          <p:cNvSpPr>
            <a:spLocks noGrp="1"/>
          </p:cNvSpPr>
          <p:nvPr/>
        </p:nvSpPr>
        <p:spPr>
          <a:xfrm>
            <a:off x="3848100" y="4000500"/>
            <a:ext cx="285750" cy="514350"/>
          </a:xfrm>
          <a:prstGeom prst="downArrow">
            <a:avLst/>
          </a:prstGeom>
          <a:solidFill>
            <a:srgbClr val="31444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D3A6CE2B-6F14-4D5E-A737-2F88777604EC}"/>
              </a:ext>
            </a:extLst>
          </p:cNvPr>
          <p:cNvSpPr>
            <a:spLocks noGrp="1"/>
          </p:cNvSpPr>
          <p:nvPr/>
        </p:nvSpPr>
        <p:spPr>
          <a:xfrm>
            <a:off x="9229725" y="3219450"/>
            <a:ext cx="28575" cy="971550"/>
          </a:xfrm>
          <a:prstGeom prst="rect">
            <a:avLst/>
          </a:prstGeom>
          <a:solidFill>
            <a:srgbClr val="31444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36D26703-F002-4198-9912-1FC29B8A7A45}"/>
              </a:ext>
            </a:extLst>
          </p:cNvPr>
          <p:cNvSpPr>
            <a:spLocks noGrp="1"/>
          </p:cNvSpPr>
          <p:nvPr/>
        </p:nvSpPr>
        <p:spPr>
          <a:xfrm>
            <a:off x="6743700" y="4171950"/>
            <a:ext cx="2486025" cy="28575"/>
          </a:xfrm>
          <a:prstGeom prst="rect">
            <a:avLst/>
          </a:prstGeom>
          <a:solidFill>
            <a:srgbClr val="31444A"/>
          </a:solidFill>
          <a:ln w="0">
            <a:noFill/>
            <a:prstDash val="solid"/>
          </a:ln>
        </p:spPr>
        <p:txBody>
          <a:bodyPr/>
          <a:lstStyle/>
          <a:p>
            <a:endParaRPr lang="en-US"/>
          </a:p>
        </p:txBody>
      </p:sp>
      <p:sp>
        <p:nvSpPr>
          <p:cNvPr id="13" name="Down Arrow 12">
            <a:extLst>
              <a:ext uri="{FF2B5EF4-FFF2-40B4-BE49-F238E27FC236}">
                <a16:creationId xmlns:a16="http://schemas.microsoft.com/office/drawing/2014/main" id="{1CAE47C7-8199-44C4-9B3B-A47896E81A39}"/>
              </a:ext>
            </a:extLst>
          </p:cNvPr>
          <p:cNvSpPr>
            <a:spLocks noGrp="1"/>
          </p:cNvSpPr>
          <p:nvPr/>
        </p:nvSpPr>
        <p:spPr>
          <a:xfrm>
            <a:off x="6610350" y="4076700"/>
            <a:ext cx="285750" cy="438150"/>
          </a:xfrm>
          <a:prstGeom prst="downArrow">
            <a:avLst/>
          </a:prstGeom>
          <a:solidFill>
            <a:srgbClr val="31444A"/>
          </a:solidFill>
          <a:ln w="0">
            <a:noFill/>
            <a:prstDash val="solid"/>
          </a:ln>
        </p:spPr>
        <p:txBody>
          <a:bodyPr/>
          <a:lstStyle/>
          <a:p>
            <a:endParaRPr lang="en-US"/>
          </a:p>
        </p:txBody>
      </p:sp>
      <p:sp>
        <p:nvSpPr>
          <p:cNvPr id="14" name="Down Arrow 13">
            <a:extLst>
              <a:ext uri="{FF2B5EF4-FFF2-40B4-BE49-F238E27FC236}">
                <a16:creationId xmlns:a16="http://schemas.microsoft.com/office/drawing/2014/main" id="{4BD7F08D-B3C2-408B-B675-2EF8E52ABDBF}"/>
              </a:ext>
            </a:extLst>
          </p:cNvPr>
          <p:cNvSpPr>
            <a:spLocks noGrp="1"/>
          </p:cNvSpPr>
          <p:nvPr/>
        </p:nvSpPr>
        <p:spPr>
          <a:xfrm>
            <a:off x="9096375" y="4076700"/>
            <a:ext cx="285750" cy="438150"/>
          </a:xfrm>
          <a:prstGeom prst="downArrow">
            <a:avLst/>
          </a:prstGeom>
          <a:solidFill>
            <a:srgbClr val="31444A"/>
          </a:solidFill>
          <a:ln w="0">
            <a:noFill/>
            <a:prstDash val="solid"/>
          </a:ln>
        </p:spPr>
        <p:txBody>
          <a:bodyPr/>
          <a:lstStyle/>
          <a:p>
            <a:endParaRPr lang="en-US"/>
          </a:p>
        </p:txBody>
      </p:sp>
      <p:sp>
        <p:nvSpPr>
          <p:cNvPr id="15" name="Rounded Rectangle 14">
            <a:extLst>
              <a:ext uri="{FF2B5EF4-FFF2-40B4-BE49-F238E27FC236}">
                <a16:creationId xmlns:a16="http://schemas.microsoft.com/office/drawing/2014/main" id="{A329040C-F271-4C23-A5FF-A665A3844ED5}"/>
              </a:ext>
            </a:extLst>
          </p:cNvPr>
          <p:cNvSpPr>
            <a:spLocks noGrp="1"/>
          </p:cNvSpPr>
          <p:nvPr/>
        </p:nvSpPr>
        <p:spPr>
          <a:xfrm>
            <a:off x="685800" y="2209800"/>
            <a:ext cx="1733550" cy="1028700"/>
          </a:xfrm>
          <a:prstGeom prst="roundRect">
            <a:avLst>
              <a:gd name="adj" fmla="val 7407"/>
            </a:avLst>
          </a:prstGeom>
          <a:solidFill>
            <a:srgbClr val="111D22"/>
          </a:solidFill>
          <a:ln w="14288">
            <a:solidFill>
              <a:srgbClr val="47C6B7"/>
            </a:solidFill>
            <a:prstDash val="solid"/>
          </a:ln>
        </p:spPr>
        <p:txBody>
          <a:bodyPr/>
          <a:lstStyle/>
          <a:p>
            <a:endParaRPr lang="en-US"/>
          </a:p>
        </p:txBody>
      </p:sp>
      <p:sp>
        <p:nvSpPr>
          <p:cNvPr id="16" name="Rectangle 15">
            <a:extLst>
              <a:ext uri="{FF2B5EF4-FFF2-40B4-BE49-F238E27FC236}">
                <a16:creationId xmlns:a16="http://schemas.microsoft.com/office/drawing/2014/main" id="{05C8B526-4935-4103-AD6F-D6DA2DAD364A}"/>
              </a:ext>
            </a:extLst>
          </p:cNvPr>
          <p:cNvSpPr>
            <a:spLocks noGrp="1"/>
          </p:cNvSpPr>
          <p:nvPr/>
        </p:nvSpPr>
        <p:spPr>
          <a:xfrm>
            <a:off x="781050" y="2276475"/>
            <a:ext cx="1543050" cy="895350"/>
          </a:xfrm>
          <a:prstGeom prst="rect">
            <a:avLst/>
          </a:prstGeom>
          <a:noFill/>
          <a:ln w="0">
            <a:noFill/>
            <a:prstDash val="solid"/>
          </a:ln>
        </p:spPr>
        <p:txBody>
          <a:bodyPr wrap="square" lIns="0" tIns="0" rIns="0" bIns="0" anchor="ctr">
            <a:normAutofit/>
          </a:bodyPr>
          <a:lstStyle/>
          <a:p>
            <a:pPr algn="ctr">
              <a:defRPr sz="1650" b="1">
                <a:solidFill>
                  <a:srgbClr val="E8F0EF"/>
                </a:solidFill>
                <a:latin typeface="Arial"/>
                <a:ea typeface="Arial"/>
                <a:cs typeface="Arial"/>
              </a:defRPr>
            </a:pPr>
            <a:r>
              <a:rPr sz="1650" b="1">
                <a:solidFill>
                  <a:srgbClr val="E8F0EF"/>
                </a:solidFill>
                <a:latin typeface="Arial"/>
                <a:ea typeface="Arial"/>
                <a:cs typeface="Arial"/>
              </a:rPr>
              <a:t>Immutable</a:t>
            </a:r>
          </a:p>
          <a:p>
            <a:pPr algn="ctr">
              <a:defRPr sz="1650" b="1">
                <a:solidFill>
                  <a:srgbClr val="E8F0EF"/>
                </a:solidFill>
                <a:latin typeface="Arial"/>
                <a:ea typeface="Arial"/>
                <a:cs typeface="Arial"/>
              </a:defRPr>
            </a:pPr>
            <a:r>
              <a:rPr sz="1650" b="1">
                <a:solidFill>
                  <a:srgbClr val="E8F0EF"/>
                </a:solidFill>
                <a:latin typeface="Arial"/>
                <a:ea typeface="Arial"/>
                <a:cs typeface="Arial"/>
              </a:rPr>
              <a:t>source drop</a:t>
            </a:r>
          </a:p>
        </p:txBody>
      </p:sp>
      <p:sp>
        <p:nvSpPr>
          <p:cNvPr id="17" name="Rounded Rectangle 16">
            <a:extLst>
              <a:ext uri="{FF2B5EF4-FFF2-40B4-BE49-F238E27FC236}">
                <a16:creationId xmlns:a16="http://schemas.microsoft.com/office/drawing/2014/main" id="{A759FB7F-217D-4893-9F62-5E667E3AC1B0}"/>
              </a:ext>
            </a:extLst>
          </p:cNvPr>
          <p:cNvSpPr>
            <a:spLocks noGrp="1"/>
          </p:cNvSpPr>
          <p:nvPr/>
        </p:nvSpPr>
        <p:spPr>
          <a:xfrm>
            <a:off x="3009900" y="2209800"/>
            <a:ext cx="1943100" cy="1028700"/>
          </a:xfrm>
          <a:prstGeom prst="roundRect">
            <a:avLst>
              <a:gd name="adj" fmla="val 7407"/>
            </a:avLst>
          </a:prstGeom>
          <a:solidFill>
            <a:srgbClr val="111D22"/>
          </a:solidFill>
          <a:ln w="14288">
            <a:solidFill>
              <a:srgbClr val="47C6B7"/>
            </a:solidFill>
            <a:prstDash val="solid"/>
          </a:ln>
        </p:spPr>
        <p:txBody>
          <a:bodyPr/>
          <a:lstStyle/>
          <a:p>
            <a:endParaRPr lang="en-US"/>
          </a:p>
        </p:txBody>
      </p:sp>
      <p:sp>
        <p:nvSpPr>
          <p:cNvPr id="18" name="Rectangle 17">
            <a:extLst>
              <a:ext uri="{FF2B5EF4-FFF2-40B4-BE49-F238E27FC236}">
                <a16:creationId xmlns:a16="http://schemas.microsoft.com/office/drawing/2014/main" id="{6BFFE9BB-55B3-4527-B3C4-43647A985517}"/>
              </a:ext>
            </a:extLst>
          </p:cNvPr>
          <p:cNvSpPr>
            <a:spLocks noGrp="1"/>
          </p:cNvSpPr>
          <p:nvPr/>
        </p:nvSpPr>
        <p:spPr>
          <a:xfrm>
            <a:off x="3105150" y="2276475"/>
            <a:ext cx="1752600" cy="895350"/>
          </a:xfrm>
          <a:prstGeom prst="rect">
            <a:avLst/>
          </a:prstGeom>
          <a:noFill/>
          <a:ln w="0">
            <a:noFill/>
            <a:prstDash val="solid"/>
          </a:ln>
        </p:spPr>
        <p:txBody>
          <a:bodyPr wrap="square" lIns="0" tIns="0" rIns="0" bIns="0" anchor="ctr">
            <a:normAutofit/>
          </a:bodyPr>
          <a:lstStyle/>
          <a:p>
            <a:pPr algn="ctr">
              <a:defRPr sz="1650" b="1">
                <a:solidFill>
                  <a:srgbClr val="E8F0EF"/>
                </a:solidFill>
                <a:latin typeface="Arial"/>
                <a:ea typeface="Arial"/>
                <a:cs typeface="Arial"/>
              </a:defRPr>
            </a:pPr>
            <a:r>
              <a:rPr sz="1650" b="1">
                <a:solidFill>
                  <a:srgbClr val="E8F0EF"/>
                </a:solidFill>
                <a:latin typeface="Arial"/>
                <a:ea typeface="Arial"/>
                <a:cs typeface="Arial"/>
              </a:rPr>
              <a:t>FastAPI</a:t>
            </a:r>
          </a:p>
          <a:p>
            <a:pPr algn="ctr">
              <a:defRPr sz="1650" b="1">
                <a:solidFill>
                  <a:srgbClr val="E8F0EF"/>
                </a:solidFill>
                <a:latin typeface="Arial"/>
                <a:ea typeface="Arial"/>
                <a:cs typeface="Arial"/>
              </a:defRPr>
            </a:pPr>
            <a:r>
              <a:rPr sz="1650" b="1">
                <a:solidFill>
                  <a:srgbClr val="E8F0EF"/>
                </a:solidFill>
                <a:latin typeface="Arial"/>
                <a:ea typeface="Arial"/>
                <a:cs typeface="Arial"/>
              </a:rPr>
              <a:t>intake + query</a:t>
            </a:r>
          </a:p>
        </p:txBody>
      </p:sp>
      <p:sp>
        <p:nvSpPr>
          <p:cNvPr id="19" name="Rounded Rectangle 18">
            <a:extLst>
              <a:ext uri="{FF2B5EF4-FFF2-40B4-BE49-F238E27FC236}">
                <a16:creationId xmlns:a16="http://schemas.microsoft.com/office/drawing/2014/main" id="{81371230-6FC0-495D-8A26-C0799BA3B571}"/>
              </a:ext>
            </a:extLst>
          </p:cNvPr>
          <p:cNvSpPr>
            <a:spLocks noGrp="1"/>
          </p:cNvSpPr>
          <p:nvPr/>
        </p:nvSpPr>
        <p:spPr>
          <a:xfrm>
            <a:off x="5543550" y="2095500"/>
            <a:ext cx="1981200" cy="1257300"/>
          </a:xfrm>
          <a:prstGeom prst="roundRect">
            <a:avLst>
              <a:gd name="adj" fmla="val 6061"/>
            </a:avLst>
          </a:prstGeom>
          <a:solidFill>
            <a:srgbClr val="152624"/>
          </a:solidFill>
          <a:ln w="14288">
            <a:solidFill>
              <a:srgbClr val="47C6B7"/>
            </a:solidFill>
            <a:prstDash val="solid"/>
          </a:ln>
        </p:spPr>
        <p:txBody>
          <a:bodyPr/>
          <a:lstStyle/>
          <a:p>
            <a:endParaRPr lang="en-US"/>
          </a:p>
        </p:txBody>
      </p:sp>
      <p:sp>
        <p:nvSpPr>
          <p:cNvPr id="20" name="Rectangle 19">
            <a:extLst>
              <a:ext uri="{FF2B5EF4-FFF2-40B4-BE49-F238E27FC236}">
                <a16:creationId xmlns:a16="http://schemas.microsoft.com/office/drawing/2014/main" id="{44DA8EF2-A2AF-4BDD-94A6-C43E5EC6511A}"/>
              </a:ext>
            </a:extLst>
          </p:cNvPr>
          <p:cNvSpPr>
            <a:spLocks noGrp="1"/>
          </p:cNvSpPr>
          <p:nvPr/>
        </p:nvSpPr>
        <p:spPr>
          <a:xfrm>
            <a:off x="5638800" y="2162175"/>
            <a:ext cx="1790700" cy="1123950"/>
          </a:xfrm>
          <a:prstGeom prst="rect">
            <a:avLst/>
          </a:prstGeom>
          <a:noFill/>
          <a:ln w="0">
            <a:noFill/>
            <a:prstDash val="solid"/>
          </a:ln>
        </p:spPr>
        <p:txBody>
          <a:bodyPr wrap="square" lIns="0" tIns="0" rIns="0" bIns="0" anchor="ctr">
            <a:normAutofit/>
          </a:bodyPr>
          <a:lstStyle/>
          <a:p>
            <a:pPr algn="ctr">
              <a:defRPr sz="1650" b="1">
                <a:solidFill>
                  <a:srgbClr val="E8F0EF"/>
                </a:solidFill>
                <a:latin typeface="Arial"/>
                <a:ea typeface="Arial"/>
                <a:cs typeface="Arial"/>
              </a:defRPr>
            </a:pPr>
            <a:r>
              <a:rPr sz="1650" b="1">
                <a:solidFill>
                  <a:srgbClr val="E8F0EF"/>
                </a:solidFill>
                <a:latin typeface="Arial"/>
                <a:ea typeface="Arial"/>
                <a:cs typeface="Arial"/>
              </a:rPr>
              <a:t>Postgres</a:t>
            </a:r>
          </a:p>
          <a:p>
            <a:pPr algn="ctr">
              <a:defRPr sz="1650" b="1">
                <a:solidFill>
                  <a:srgbClr val="E8F0EF"/>
                </a:solidFill>
                <a:latin typeface="Arial"/>
                <a:ea typeface="Arial"/>
                <a:cs typeface="Arial"/>
              </a:defRPr>
            </a:pPr>
            <a:r>
              <a:rPr sz="1650" b="1">
                <a:solidFill>
                  <a:srgbClr val="E8F0EF"/>
                </a:solidFill>
                <a:latin typeface="Arial"/>
                <a:ea typeface="Arial"/>
                <a:cs typeface="Arial"/>
              </a:rPr>
              <a:t>system of record</a:t>
            </a:r>
          </a:p>
        </p:txBody>
      </p:sp>
      <p:sp>
        <p:nvSpPr>
          <p:cNvPr id="21" name="Rounded Rectangle 20">
            <a:extLst>
              <a:ext uri="{FF2B5EF4-FFF2-40B4-BE49-F238E27FC236}">
                <a16:creationId xmlns:a16="http://schemas.microsoft.com/office/drawing/2014/main" id="{01D52575-4AEA-4D30-B994-52C8A4BD0A70}"/>
              </a:ext>
            </a:extLst>
          </p:cNvPr>
          <p:cNvSpPr>
            <a:spLocks noGrp="1"/>
          </p:cNvSpPr>
          <p:nvPr/>
        </p:nvSpPr>
        <p:spPr>
          <a:xfrm>
            <a:off x="8115300" y="2209800"/>
            <a:ext cx="2228850" cy="1028700"/>
          </a:xfrm>
          <a:prstGeom prst="roundRect">
            <a:avLst>
              <a:gd name="adj" fmla="val 7407"/>
            </a:avLst>
          </a:prstGeom>
          <a:solidFill>
            <a:srgbClr val="111D22"/>
          </a:solidFill>
          <a:ln w="14288">
            <a:solidFill>
              <a:srgbClr val="47C6B7"/>
            </a:solidFill>
            <a:prstDash val="solid"/>
          </a:ln>
        </p:spPr>
        <p:txBody>
          <a:bodyPr/>
          <a:lstStyle/>
          <a:p>
            <a:endParaRPr lang="en-US"/>
          </a:p>
        </p:txBody>
      </p:sp>
      <p:sp>
        <p:nvSpPr>
          <p:cNvPr id="22" name="Rectangle 21">
            <a:extLst>
              <a:ext uri="{FF2B5EF4-FFF2-40B4-BE49-F238E27FC236}">
                <a16:creationId xmlns:a16="http://schemas.microsoft.com/office/drawing/2014/main" id="{5E4CC155-668A-4C23-AFA3-9CB422A63C3B}"/>
              </a:ext>
            </a:extLst>
          </p:cNvPr>
          <p:cNvSpPr>
            <a:spLocks noGrp="1"/>
          </p:cNvSpPr>
          <p:nvPr/>
        </p:nvSpPr>
        <p:spPr>
          <a:xfrm>
            <a:off x="8210550" y="2276475"/>
            <a:ext cx="2038350" cy="895350"/>
          </a:xfrm>
          <a:prstGeom prst="rect">
            <a:avLst/>
          </a:prstGeom>
          <a:noFill/>
          <a:ln w="0">
            <a:noFill/>
            <a:prstDash val="solid"/>
          </a:ln>
        </p:spPr>
        <p:txBody>
          <a:bodyPr wrap="square" lIns="0" tIns="0" rIns="0" bIns="0" anchor="ctr">
            <a:normAutofit/>
          </a:bodyPr>
          <a:lstStyle/>
          <a:p>
            <a:pPr algn="ctr">
              <a:defRPr sz="1575" b="1">
                <a:solidFill>
                  <a:srgbClr val="E8F0EF"/>
                </a:solidFill>
                <a:latin typeface="Arial"/>
                <a:ea typeface="Arial"/>
                <a:cs typeface="Arial"/>
              </a:defRPr>
            </a:pPr>
            <a:r>
              <a:rPr sz="1575" b="1">
                <a:solidFill>
                  <a:srgbClr val="E8F0EF"/>
                </a:solidFill>
                <a:latin typeface="Arial"/>
                <a:ea typeface="Arial"/>
                <a:cs typeface="Arial"/>
              </a:rPr>
              <a:t>Durable worker</a:t>
            </a:r>
          </a:p>
          <a:p>
            <a:pPr algn="ctr">
              <a:defRPr sz="1575" b="1">
                <a:solidFill>
                  <a:srgbClr val="E8F0EF"/>
                </a:solidFill>
                <a:latin typeface="Arial"/>
                <a:ea typeface="Arial"/>
                <a:cs typeface="Arial"/>
              </a:defRPr>
            </a:pPr>
            <a:r>
              <a:rPr sz="1575" b="1">
                <a:solidFill>
                  <a:srgbClr val="E8F0EF"/>
                </a:solidFill>
                <a:latin typeface="Arial"/>
                <a:ea typeface="Arial"/>
                <a:cs typeface="Arial"/>
              </a:rPr>
              <a:t>checkpointed stages</a:t>
            </a:r>
          </a:p>
        </p:txBody>
      </p:sp>
      <p:sp>
        <p:nvSpPr>
          <p:cNvPr id="23" name="Rounded Rectangle 22">
            <a:extLst>
              <a:ext uri="{FF2B5EF4-FFF2-40B4-BE49-F238E27FC236}">
                <a16:creationId xmlns:a16="http://schemas.microsoft.com/office/drawing/2014/main" id="{B518A16E-D5CB-41C7-B4B7-355392504DC6}"/>
              </a:ext>
            </a:extLst>
          </p:cNvPr>
          <p:cNvSpPr>
            <a:spLocks noGrp="1"/>
          </p:cNvSpPr>
          <p:nvPr/>
        </p:nvSpPr>
        <p:spPr>
          <a:xfrm>
            <a:off x="3143250" y="4514850"/>
            <a:ext cx="1676400" cy="819150"/>
          </a:xfrm>
          <a:prstGeom prst="roundRect">
            <a:avLst>
              <a:gd name="adj" fmla="val 9302"/>
            </a:avLst>
          </a:prstGeom>
          <a:solidFill>
            <a:srgbClr val="111D22"/>
          </a:solidFill>
          <a:ln w="14288">
            <a:solidFill>
              <a:srgbClr val="47C6B7"/>
            </a:solidFill>
            <a:prstDash val="solid"/>
          </a:ln>
        </p:spPr>
        <p:txBody>
          <a:bodyPr/>
          <a:lstStyle/>
          <a:p>
            <a:endParaRPr lang="en-US"/>
          </a:p>
        </p:txBody>
      </p:sp>
      <p:sp>
        <p:nvSpPr>
          <p:cNvPr id="24" name="Rectangle 23">
            <a:extLst>
              <a:ext uri="{FF2B5EF4-FFF2-40B4-BE49-F238E27FC236}">
                <a16:creationId xmlns:a16="http://schemas.microsoft.com/office/drawing/2014/main" id="{2A176792-8748-432F-AF02-15DF462BE91E}"/>
              </a:ext>
            </a:extLst>
          </p:cNvPr>
          <p:cNvSpPr>
            <a:spLocks noGrp="1"/>
          </p:cNvSpPr>
          <p:nvPr/>
        </p:nvSpPr>
        <p:spPr>
          <a:xfrm>
            <a:off x="3238500" y="4581525"/>
            <a:ext cx="1485900" cy="6858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React</a:t>
            </a:r>
          </a:p>
          <a:p>
            <a:pPr algn="ctr">
              <a:defRPr sz="1350" b="1">
                <a:solidFill>
                  <a:srgbClr val="E8F0EF"/>
                </a:solidFill>
                <a:latin typeface="Arial"/>
                <a:ea typeface="Arial"/>
                <a:cs typeface="Arial"/>
              </a:defRPr>
            </a:pPr>
            <a:r>
              <a:rPr sz="1350" b="1">
                <a:solidFill>
                  <a:srgbClr val="E8F0EF"/>
                </a:solidFill>
                <a:latin typeface="Arial"/>
                <a:ea typeface="Arial"/>
                <a:cs typeface="Arial"/>
              </a:rPr>
              <a:t>typed client</a:t>
            </a:r>
          </a:p>
        </p:txBody>
      </p:sp>
      <p:sp>
        <p:nvSpPr>
          <p:cNvPr id="25" name="Rounded Rectangle 24">
            <a:extLst>
              <a:ext uri="{FF2B5EF4-FFF2-40B4-BE49-F238E27FC236}">
                <a16:creationId xmlns:a16="http://schemas.microsoft.com/office/drawing/2014/main" id="{4559B71E-A3BD-40FD-86F3-AFD870DBAF86}"/>
              </a:ext>
            </a:extLst>
          </p:cNvPr>
          <p:cNvSpPr>
            <a:spLocks noGrp="1"/>
          </p:cNvSpPr>
          <p:nvPr/>
        </p:nvSpPr>
        <p:spPr>
          <a:xfrm>
            <a:off x="5810250" y="4514850"/>
            <a:ext cx="1866900" cy="819150"/>
          </a:xfrm>
          <a:prstGeom prst="roundRect">
            <a:avLst>
              <a:gd name="adj" fmla="val 9302"/>
            </a:avLst>
          </a:prstGeom>
          <a:solidFill>
            <a:srgbClr val="111D22"/>
          </a:solidFill>
          <a:ln w="14288">
            <a:solidFill>
              <a:srgbClr val="3B82A6"/>
            </a:solidFill>
            <a:prstDash val="solid"/>
          </a:ln>
        </p:spPr>
        <p:txBody>
          <a:bodyPr/>
          <a:lstStyle/>
          <a:p>
            <a:endParaRPr lang="en-US"/>
          </a:p>
        </p:txBody>
      </p:sp>
      <p:sp>
        <p:nvSpPr>
          <p:cNvPr id="26" name="Rectangle 25">
            <a:extLst>
              <a:ext uri="{FF2B5EF4-FFF2-40B4-BE49-F238E27FC236}">
                <a16:creationId xmlns:a16="http://schemas.microsoft.com/office/drawing/2014/main" id="{0EAECD0E-9B3E-421E-8D32-D16AE3F1152C}"/>
              </a:ext>
            </a:extLst>
          </p:cNvPr>
          <p:cNvSpPr>
            <a:spLocks noGrp="1"/>
          </p:cNvSpPr>
          <p:nvPr/>
        </p:nvSpPr>
        <p:spPr>
          <a:xfrm>
            <a:off x="5905500" y="4581525"/>
            <a:ext cx="1676400" cy="6858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Neo4j</a:t>
            </a:r>
          </a:p>
          <a:p>
            <a:pPr algn="ctr">
              <a:defRPr sz="1350" b="1">
                <a:solidFill>
                  <a:srgbClr val="E8F0EF"/>
                </a:solidFill>
                <a:latin typeface="Arial"/>
                <a:ea typeface="Arial"/>
                <a:cs typeface="Arial"/>
              </a:defRPr>
            </a:pPr>
            <a:r>
              <a:rPr sz="1350" b="1">
                <a:solidFill>
                  <a:srgbClr val="E8F0EF"/>
                </a:solidFill>
                <a:latin typeface="Arial"/>
                <a:ea typeface="Arial"/>
                <a:cs typeface="Arial"/>
              </a:rPr>
              <a:t>graph projection</a:t>
            </a:r>
          </a:p>
        </p:txBody>
      </p:sp>
      <p:sp>
        <p:nvSpPr>
          <p:cNvPr id="27" name="Rounded Rectangle 26">
            <a:extLst>
              <a:ext uri="{FF2B5EF4-FFF2-40B4-BE49-F238E27FC236}">
                <a16:creationId xmlns:a16="http://schemas.microsoft.com/office/drawing/2014/main" id="{8AB1774D-8FC3-4392-B0D5-28737E0440B5}"/>
              </a:ext>
            </a:extLst>
          </p:cNvPr>
          <p:cNvSpPr>
            <a:spLocks noGrp="1"/>
          </p:cNvSpPr>
          <p:nvPr/>
        </p:nvSpPr>
        <p:spPr>
          <a:xfrm>
            <a:off x="8172450" y="4514850"/>
            <a:ext cx="2114550" cy="819150"/>
          </a:xfrm>
          <a:prstGeom prst="roundRect">
            <a:avLst>
              <a:gd name="adj" fmla="val 9302"/>
            </a:avLst>
          </a:prstGeom>
          <a:solidFill>
            <a:srgbClr val="111D22"/>
          </a:solidFill>
          <a:ln w="14288">
            <a:solidFill>
              <a:srgbClr val="A88BFF"/>
            </a:solidFill>
            <a:prstDash val="solid"/>
          </a:ln>
        </p:spPr>
        <p:txBody>
          <a:bodyPr/>
          <a:lstStyle/>
          <a:p>
            <a:endParaRPr lang="en-US"/>
          </a:p>
        </p:txBody>
      </p:sp>
      <p:sp>
        <p:nvSpPr>
          <p:cNvPr id="28" name="Rectangle 27">
            <a:extLst>
              <a:ext uri="{FF2B5EF4-FFF2-40B4-BE49-F238E27FC236}">
                <a16:creationId xmlns:a16="http://schemas.microsoft.com/office/drawing/2014/main" id="{5658AA73-9F50-434B-8F4B-5164CA9324F7}"/>
              </a:ext>
            </a:extLst>
          </p:cNvPr>
          <p:cNvSpPr>
            <a:spLocks noGrp="1"/>
          </p:cNvSpPr>
          <p:nvPr/>
        </p:nvSpPr>
        <p:spPr>
          <a:xfrm>
            <a:off x="8267700" y="4581525"/>
            <a:ext cx="1924050" cy="6858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Meilisearch</a:t>
            </a:r>
          </a:p>
          <a:p>
            <a:pPr algn="ctr">
              <a:defRPr sz="1350" b="1">
                <a:solidFill>
                  <a:srgbClr val="E8F0EF"/>
                </a:solidFill>
                <a:latin typeface="Arial"/>
                <a:ea typeface="Arial"/>
                <a:cs typeface="Arial"/>
              </a:defRPr>
            </a:pPr>
            <a:r>
              <a:rPr sz="1350" b="1">
                <a:solidFill>
                  <a:srgbClr val="E8F0EF"/>
                </a:solidFill>
                <a:latin typeface="Arial"/>
                <a:ea typeface="Arial"/>
                <a:cs typeface="Arial"/>
              </a:rPr>
              <a:t>text + vector projection</a:t>
            </a:r>
          </a:p>
        </p:txBody>
      </p:sp>
      <p:sp>
        <p:nvSpPr>
          <p:cNvPr id="29" name="Rectangle 28">
            <a:extLst>
              <a:ext uri="{FF2B5EF4-FFF2-40B4-BE49-F238E27FC236}">
                <a16:creationId xmlns:a16="http://schemas.microsoft.com/office/drawing/2014/main" id="{B5F53D7A-9C39-41C6-8E27-CA023C2A4DDB}"/>
              </a:ext>
            </a:extLst>
          </p:cNvPr>
          <p:cNvSpPr>
            <a:spLocks noGrp="1"/>
          </p:cNvSpPr>
          <p:nvPr/>
        </p:nvSpPr>
        <p:spPr>
          <a:xfrm>
            <a:off x="685800" y="3829050"/>
            <a:ext cx="2381250" cy="20955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WHY IT HOLDS UP</a:t>
            </a:r>
          </a:p>
        </p:txBody>
      </p:sp>
      <p:sp>
        <p:nvSpPr>
          <p:cNvPr id="30" name="Rectangle 29">
            <a:extLst>
              <a:ext uri="{FF2B5EF4-FFF2-40B4-BE49-F238E27FC236}">
                <a16:creationId xmlns:a16="http://schemas.microsoft.com/office/drawing/2014/main" id="{7528A5EA-22EB-4260-8F0D-BFFF51A59F35}"/>
              </a:ext>
            </a:extLst>
          </p:cNvPr>
          <p:cNvSpPr>
            <a:spLocks noGrp="1"/>
          </p:cNvSpPr>
          <p:nvPr/>
        </p:nvSpPr>
        <p:spPr>
          <a:xfrm>
            <a:off x="685800" y="4133850"/>
            <a:ext cx="2095500" cy="1257300"/>
          </a:xfrm>
          <a:prstGeom prst="rect">
            <a:avLst/>
          </a:prstGeom>
          <a:noFill/>
          <a:ln w="0">
            <a:noFill/>
            <a:prstDash val="solid"/>
          </a:ln>
        </p:spPr>
        <p:txBody>
          <a:bodyPr wrap="square" lIns="0" tIns="0" rIns="0" bIns="0" anchor="t">
            <a:normAutofit/>
          </a:bodyPr>
          <a:lstStyle/>
          <a:p>
            <a:pPr algn="l">
              <a:defRPr sz="1350" b="0">
                <a:solidFill>
                  <a:srgbClr val="E8F0EF"/>
                </a:solidFill>
                <a:latin typeface="Arial"/>
                <a:ea typeface="Arial"/>
                <a:cs typeface="Arial"/>
              </a:defRPr>
            </a:pPr>
            <a:r>
              <a:rPr sz="1350" b="0">
                <a:solidFill>
                  <a:srgbClr val="E8F0EF"/>
                </a:solidFill>
                <a:latin typeface="Arial"/>
                <a:ea typeface="Arial"/>
                <a:cs typeface="Arial"/>
              </a:rPr>
              <a:t>Stable IDs, durable stages, typed contracts, and rebuildable projections.</a:t>
            </a:r>
          </a:p>
        </p:txBody>
      </p:sp>
      <p:sp>
        <p:nvSpPr>
          <p:cNvPr id="31" name="Rectangle 30">
            <a:extLst>
              <a:ext uri="{FF2B5EF4-FFF2-40B4-BE49-F238E27FC236}">
                <a16:creationId xmlns:a16="http://schemas.microsoft.com/office/drawing/2014/main" id="{B1BCC6F6-7D1B-4F5D-BD3F-DD857C50E564}"/>
              </a:ext>
            </a:extLst>
          </p:cNvPr>
          <p:cNvSpPr>
            <a:spLocks noGrp="1"/>
          </p:cNvSpPr>
          <p:nvPr/>
        </p:nvSpPr>
        <p:spPr>
          <a:xfrm>
            <a:off x="2381250" y="5686425"/>
            <a:ext cx="7429500" cy="323850"/>
          </a:xfrm>
          <a:prstGeom prst="rect">
            <a:avLst/>
          </a:prstGeom>
          <a:noFill/>
          <a:ln w="0">
            <a:noFill/>
            <a:prstDash val="solid"/>
          </a:ln>
        </p:spPr>
        <p:txBody>
          <a:bodyPr wrap="square" lIns="0" tIns="0" rIns="0" bIns="0" anchor="t">
            <a:normAutofit/>
          </a:bodyPr>
          <a:lstStyle/>
          <a:p>
            <a:pPr algn="ctr">
              <a:defRPr sz="1650" b="1">
                <a:solidFill>
                  <a:srgbClr val="47C6B7"/>
                </a:solidFill>
                <a:latin typeface="Arial"/>
                <a:ea typeface="Arial"/>
                <a:cs typeface="Arial"/>
              </a:defRPr>
            </a:pPr>
            <a:r>
              <a:rPr sz="1650" b="1">
                <a:solidFill>
                  <a:srgbClr val="47C6B7"/>
                </a:solidFill>
                <a:latin typeface="Arial"/>
                <a:ea typeface="Arial"/>
                <a:cs typeface="Arial"/>
              </a:rPr>
              <a:t>Best fit: durable evidence, multiple processes, controlled evolution.</a:t>
            </a:r>
          </a:p>
        </p:txBody>
      </p:sp>
    </p:spTree>
    <p:extLst>
      <p:ext uri="{BB962C8B-B14F-4D97-AF65-F5344CB8AC3E}">
        <p14:creationId xmlns:p14="http://schemas.microsoft.com/office/powerpoint/2010/main" val="78690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DC04F14E-E4F2-4481-8B44-FC06BD14A48A}"/>
              </a:ext>
            </a:extLst>
          </p:cNvPr>
          <p:cNvSpPr>
            <a:spLocks noGrp="1"/>
          </p:cNvSpPr>
          <p:nvPr/>
        </p:nvSpPr>
        <p:spPr>
          <a:xfrm>
            <a:off x="0" y="0"/>
            <a:ext cx="12192000" cy="66675"/>
          </a:xfrm>
          <a:prstGeom prst="rect">
            <a:avLst/>
          </a:prstGeom>
          <a:solidFill>
            <a:srgbClr val="47C6B7"/>
          </a:solidFill>
          <a:ln w="0">
            <a:noFill/>
            <a:prstDash val="solid"/>
          </a:ln>
        </p:spPr>
        <p:txBody>
          <a:bodyPr/>
          <a:lstStyle/>
          <a:p>
            <a:endParaRPr lang="en-US"/>
          </a:p>
        </p:txBody>
      </p:sp>
      <p:sp>
        <p:nvSpPr>
          <p:cNvPr id="2" name="section-10">
            <a:extLst>
              <a:ext uri="{FF2B5EF4-FFF2-40B4-BE49-F238E27FC236}">
                <a16:creationId xmlns:a16="http://schemas.microsoft.com/office/drawing/2014/main" id="{F0212DAC-BF8C-4043-89C6-E13CDA2361BB}"/>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ARCHITECTURE · DETAIL</a:t>
            </a:r>
          </a:p>
        </p:txBody>
      </p:sp>
      <p:sp>
        <p:nvSpPr>
          <p:cNvPr id="3" name="Rectangle 2">
            <a:extLst>
              <a:ext uri="{FF2B5EF4-FFF2-40B4-BE49-F238E27FC236}">
                <a16:creationId xmlns:a16="http://schemas.microsoft.com/office/drawing/2014/main" id="{FBF4B1CD-EF6F-4802-B752-D2FA50C586A5}"/>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06</a:t>
            </a:r>
          </a:p>
        </p:txBody>
      </p:sp>
      <p:sp>
        <p:nvSpPr>
          <p:cNvPr id="4" name="Rectangle 3">
            <a:extLst>
              <a:ext uri="{FF2B5EF4-FFF2-40B4-BE49-F238E27FC236}">
                <a16:creationId xmlns:a16="http://schemas.microsoft.com/office/drawing/2014/main" id="{F32C4F25-0968-4634-BF84-38B48C00D8D8}"/>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457AC413-580C-438A-AD08-B9DF1607E384}"/>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2925" b="1">
                <a:solidFill>
                  <a:srgbClr val="E8F0EF"/>
                </a:solidFill>
                <a:latin typeface="Arial"/>
                <a:ea typeface="Arial"/>
                <a:cs typeface="Arial"/>
              </a:defRPr>
            </a:pPr>
            <a:r>
              <a:rPr sz="2925" b="1">
                <a:solidFill>
                  <a:srgbClr val="E8F0EF"/>
                </a:solidFill>
                <a:latin typeface="Arial"/>
                <a:ea typeface="Arial"/>
                <a:cs typeface="Arial"/>
              </a:rPr>
              <a:t>Authoritative evidence, rebuildable projections.</a:t>
            </a:r>
          </a:p>
        </p:txBody>
      </p:sp>
      <p:sp>
        <p:nvSpPr>
          <p:cNvPr id="6" name="Rectangle 5">
            <a:extLst>
              <a:ext uri="{FF2B5EF4-FFF2-40B4-BE49-F238E27FC236}">
                <a16:creationId xmlns:a16="http://schemas.microsoft.com/office/drawing/2014/main" id="{C96BDD3E-6DBB-487A-A93B-32F2625C12E3}"/>
              </a:ext>
            </a:extLst>
          </p:cNvPr>
          <p:cNvSpPr>
            <a:spLocks noGrp="1"/>
          </p:cNvSpPr>
          <p:nvPr/>
        </p:nvSpPr>
        <p:spPr>
          <a:xfrm>
            <a:off x="704850" y="1504950"/>
            <a:ext cx="1238250" cy="209550"/>
          </a:xfrm>
          <a:prstGeom prst="rect">
            <a:avLst/>
          </a:prstGeom>
          <a:noFill/>
          <a:ln w="0">
            <a:noFill/>
            <a:prstDash val="solid"/>
          </a:ln>
        </p:spPr>
        <p:txBody>
          <a:bodyPr wrap="square" lIns="0" tIns="0" rIns="0" bIns="0" anchor="t">
            <a:normAutofit/>
          </a:bodyPr>
          <a:lstStyle/>
          <a:p>
            <a:pPr algn="l">
              <a:defRPr sz="975" b="1">
                <a:solidFill>
                  <a:srgbClr val="8AA0A4"/>
                </a:solidFill>
                <a:latin typeface="Arial"/>
                <a:ea typeface="Arial"/>
                <a:cs typeface="Arial"/>
              </a:defRPr>
            </a:pPr>
            <a:r>
              <a:rPr sz="975" b="1">
                <a:solidFill>
                  <a:srgbClr val="8AA0A4"/>
                </a:solidFill>
                <a:latin typeface="Arial"/>
                <a:ea typeface="Arial"/>
                <a:cs typeface="Arial"/>
              </a:rPr>
              <a:t>ACQUIRE</a:t>
            </a:r>
          </a:p>
        </p:txBody>
      </p:sp>
      <p:sp>
        <p:nvSpPr>
          <p:cNvPr id="7" name="Rectangle 6">
            <a:extLst>
              <a:ext uri="{FF2B5EF4-FFF2-40B4-BE49-F238E27FC236}">
                <a16:creationId xmlns:a16="http://schemas.microsoft.com/office/drawing/2014/main" id="{CC83A734-659D-4DF3-8DC5-62AAC219F9A7}"/>
              </a:ext>
            </a:extLst>
          </p:cNvPr>
          <p:cNvSpPr>
            <a:spLocks noGrp="1"/>
          </p:cNvSpPr>
          <p:nvPr/>
        </p:nvSpPr>
        <p:spPr>
          <a:xfrm>
            <a:off x="2838450" y="1504950"/>
            <a:ext cx="1905000" cy="209550"/>
          </a:xfrm>
          <a:prstGeom prst="rect">
            <a:avLst/>
          </a:prstGeom>
          <a:noFill/>
          <a:ln w="0">
            <a:noFill/>
            <a:prstDash val="solid"/>
          </a:ln>
        </p:spPr>
        <p:txBody>
          <a:bodyPr wrap="square" lIns="0" tIns="0" rIns="0" bIns="0" anchor="t">
            <a:normAutofit/>
          </a:bodyPr>
          <a:lstStyle/>
          <a:p>
            <a:pPr algn="l">
              <a:defRPr sz="975" b="1">
                <a:solidFill>
                  <a:srgbClr val="8AA0A4"/>
                </a:solidFill>
                <a:latin typeface="Arial"/>
                <a:ea typeface="Arial"/>
                <a:cs typeface="Arial"/>
              </a:defRPr>
            </a:pPr>
            <a:r>
              <a:rPr sz="975" b="1">
                <a:solidFill>
                  <a:srgbClr val="8AA0A4"/>
                </a:solidFill>
                <a:latin typeface="Arial"/>
                <a:ea typeface="Arial"/>
                <a:cs typeface="Arial"/>
              </a:rPr>
              <a:t>CORE SERVICES</a:t>
            </a:r>
          </a:p>
        </p:txBody>
      </p:sp>
      <p:sp>
        <p:nvSpPr>
          <p:cNvPr id="8" name="Rectangle 7">
            <a:extLst>
              <a:ext uri="{FF2B5EF4-FFF2-40B4-BE49-F238E27FC236}">
                <a16:creationId xmlns:a16="http://schemas.microsoft.com/office/drawing/2014/main" id="{255D659C-1779-4220-9413-EC32CCDB6945}"/>
              </a:ext>
            </a:extLst>
          </p:cNvPr>
          <p:cNvSpPr>
            <a:spLocks noGrp="1"/>
          </p:cNvSpPr>
          <p:nvPr/>
        </p:nvSpPr>
        <p:spPr>
          <a:xfrm>
            <a:off x="5676900" y="1504950"/>
            <a:ext cx="2286000" cy="209550"/>
          </a:xfrm>
          <a:prstGeom prst="rect">
            <a:avLst/>
          </a:prstGeom>
          <a:noFill/>
          <a:ln w="0">
            <a:noFill/>
            <a:prstDash val="solid"/>
          </a:ln>
        </p:spPr>
        <p:txBody>
          <a:bodyPr wrap="square" lIns="0" tIns="0" rIns="0" bIns="0" anchor="t">
            <a:normAutofit/>
          </a:bodyPr>
          <a:lstStyle/>
          <a:p>
            <a:pPr algn="l">
              <a:defRPr sz="975" b="1">
                <a:solidFill>
                  <a:srgbClr val="8AA0A4"/>
                </a:solidFill>
                <a:latin typeface="Arial"/>
                <a:ea typeface="Arial"/>
                <a:cs typeface="Arial"/>
              </a:defRPr>
            </a:pPr>
            <a:r>
              <a:rPr sz="975" b="1">
                <a:solidFill>
                  <a:srgbClr val="8AA0A4"/>
                </a:solidFill>
                <a:latin typeface="Arial"/>
                <a:ea typeface="Arial"/>
                <a:cs typeface="Arial"/>
              </a:rPr>
              <a:t>EVIDENCE + MODELS</a:t>
            </a:r>
          </a:p>
        </p:txBody>
      </p:sp>
      <p:sp>
        <p:nvSpPr>
          <p:cNvPr id="9" name="Rectangle 8">
            <a:extLst>
              <a:ext uri="{FF2B5EF4-FFF2-40B4-BE49-F238E27FC236}">
                <a16:creationId xmlns:a16="http://schemas.microsoft.com/office/drawing/2014/main" id="{31794817-FBB8-4D87-AE17-E51E48C41CBD}"/>
              </a:ext>
            </a:extLst>
          </p:cNvPr>
          <p:cNvSpPr>
            <a:spLocks noGrp="1"/>
          </p:cNvSpPr>
          <p:nvPr/>
        </p:nvSpPr>
        <p:spPr>
          <a:xfrm>
            <a:off x="8515350" y="1504950"/>
            <a:ext cx="2095500" cy="209550"/>
          </a:xfrm>
          <a:prstGeom prst="rect">
            <a:avLst/>
          </a:prstGeom>
          <a:noFill/>
          <a:ln w="0">
            <a:noFill/>
            <a:prstDash val="solid"/>
          </a:ln>
        </p:spPr>
        <p:txBody>
          <a:bodyPr wrap="square" lIns="0" tIns="0" rIns="0" bIns="0" anchor="t">
            <a:normAutofit/>
          </a:bodyPr>
          <a:lstStyle/>
          <a:p>
            <a:pPr algn="l">
              <a:defRPr sz="975" b="1">
                <a:solidFill>
                  <a:srgbClr val="8AA0A4"/>
                </a:solidFill>
                <a:latin typeface="Arial"/>
                <a:ea typeface="Arial"/>
                <a:cs typeface="Arial"/>
              </a:defRPr>
            </a:pPr>
            <a:r>
              <a:rPr sz="975" b="1">
                <a:solidFill>
                  <a:srgbClr val="8AA0A4"/>
                </a:solidFill>
                <a:latin typeface="Arial"/>
                <a:ea typeface="Arial"/>
                <a:cs typeface="Arial"/>
              </a:rPr>
              <a:t>READ PROJECTIONS</a:t>
            </a:r>
          </a:p>
        </p:txBody>
      </p:sp>
      <p:sp>
        <p:nvSpPr>
          <p:cNvPr id="10" name="Right Arrow 9">
            <a:extLst>
              <a:ext uri="{FF2B5EF4-FFF2-40B4-BE49-F238E27FC236}">
                <a16:creationId xmlns:a16="http://schemas.microsoft.com/office/drawing/2014/main" id="{46CE18DA-E821-4FFF-9730-1020ABAF2A51}"/>
              </a:ext>
            </a:extLst>
          </p:cNvPr>
          <p:cNvSpPr>
            <a:spLocks noGrp="1"/>
          </p:cNvSpPr>
          <p:nvPr/>
        </p:nvSpPr>
        <p:spPr>
          <a:xfrm>
            <a:off x="2305050" y="2324100"/>
            <a:ext cx="533400" cy="171450"/>
          </a:xfrm>
          <a:prstGeom prst="rightArrow">
            <a:avLst/>
          </a:prstGeom>
          <a:solidFill>
            <a:srgbClr val="31444A"/>
          </a:solidFill>
          <a:ln w="0">
            <a:noFill/>
            <a:prstDash val="solid"/>
          </a:ln>
        </p:spPr>
        <p:txBody>
          <a:bodyPr/>
          <a:lstStyle/>
          <a:p>
            <a:endParaRPr lang="en-US"/>
          </a:p>
        </p:txBody>
      </p:sp>
      <p:sp>
        <p:nvSpPr>
          <p:cNvPr id="11" name="Right Arrow 10">
            <a:extLst>
              <a:ext uri="{FF2B5EF4-FFF2-40B4-BE49-F238E27FC236}">
                <a16:creationId xmlns:a16="http://schemas.microsoft.com/office/drawing/2014/main" id="{417A1913-44C6-440F-BDEA-DB11652D4B38}"/>
              </a:ext>
            </a:extLst>
          </p:cNvPr>
          <p:cNvSpPr>
            <a:spLocks noGrp="1"/>
          </p:cNvSpPr>
          <p:nvPr/>
        </p:nvSpPr>
        <p:spPr>
          <a:xfrm>
            <a:off x="2305050" y="4019550"/>
            <a:ext cx="533400" cy="171450"/>
          </a:xfrm>
          <a:prstGeom prst="rightArrow">
            <a:avLst/>
          </a:prstGeom>
          <a:solidFill>
            <a:srgbClr val="31444A"/>
          </a:solidFill>
          <a:ln w="0">
            <a:noFill/>
            <a:prstDash val="solid"/>
          </a:ln>
        </p:spPr>
        <p:txBody>
          <a:bodyPr/>
          <a:lstStyle/>
          <a:p>
            <a:endParaRPr lang="en-US"/>
          </a:p>
        </p:txBody>
      </p:sp>
      <p:sp>
        <p:nvSpPr>
          <p:cNvPr id="12" name="Right Arrow 11">
            <a:extLst>
              <a:ext uri="{FF2B5EF4-FFF2-40B4-BE49-F238E27FC236}">
                <a16:creationId xmlns:a16="http://schemas.microsoft.com/office/drawing/2014/main" id="{6728DB4B-4C81-46F4-85EF-8873FAC26F72}"/>
              </a:ext>
            </a:extLst>
          </p:cNvPr>
          <p:cNvSpPr>
            <a:spLocks noGrp="1"/>
          </p:cNvSpPr>
          <p:nvPr/>
        </p:nvSpPr>
        <p:spPr>
          <a:xfrm>
            <a:off x="4762500" y="2324100"/>
            <a:ext cx="723900" cy="171450"/>
          </a:xfrm>
          <a:prstGeom prst="rightArrow">
            <a:avLst/>
          </a:prstGeom>
          <a:solidFill>
            <a:srgbClr val="31444A"/>
          </a:solidFill>
          <a:ln w="0">
            <a:noFill/>
            <a:prstDash val="solid"/>
          </a:ln>
        </p:spPr>
        <p:txBody>
          <a:bodyPr/>
          <a:lstStyle/>
          <a:p>
            <a:endParaRPr lang="en-US"/>
          </a:p>
        </p:txBody>
      </p:sp>
      <p:sp>
        <p:nvSpPr>
          <p:cNvPr id="13" name="Right Arrow 12">
            <a:extLst>
              <a:ext uri="{FF2B5EF4-FFF2-40B4-BE49-F238E27FC236}">
                <a16:creationId xmlns:a16="http://schemas.microsoft.com/office/drawing/2014/main" id="{3DC43733-D7E4-431D-B7C3-B704BEDDDC00}"/>
              </a:ext>
            </a:extLst>
          </p:cNvPr>
          <p:cNvSpPr>
            <a:spLocks noGrp="1"/>
          </p:cNvSpPr>
          <p:nvPr/>
        </p:nvSpPr>
        <p:spPr>
          <a:xfrm>
            <a:off x="4762500" y="4019550"/>
            <a:ext cx="723900" cy="171450"/>
          </a:xfrm>
          <a:prstGeom prst="rightArrow">
            <a:avLst/>
          </a:prstGeom>
          <a:solidFill>
            <a:srgbClr val="31444A"/>
          </a:solidFill>
          <a:ln w="0">
            <a:noFill/>
            <a:prstDash val="solid"/>
          </a:ln>
        </p:spPr>
        <p:txBody>
          <a:bodyPr/>
          <a:lstStyle/>
          <a:p>
            <a:endParaRPr lang="en-US"/>
          </a:p>
        </p:txBody>
      </p:sp>
      <p:sp>
        <p:nvSpPr>
          <p:cNvPr id="14" name="Right Arrow 13">
            <a:extLst>
              <a:ext uri="{FF2B5EF4-FFF2-40B4-BE49-F238E27FC236}">
                <a16:creationId xmlns:a16="http://schemas.microsoft.com/office/drawing/2014/main" id="{F7859378-38E7-445E-88A0-70A87D2BF400}"/>
              </a:ext>
            </a:extLst>
          </p:cNvPr>
          <p:cNvSpPr>
            <a:spLocks noGrp="1"/>
          </p:cNvSpPr>
          <p:nvPr/>
        </p:nvSpPr>
        <p:spPr>
          <a:xfrm>
            <a:off x="7810500" y="3086100"/>
            <a:ext cx="609600" cy="171450"/>
          </a:xfrm>
          <a:prstGeom prst="rightArrow">
            <a:avLst/>
          </a:prstGeom>
          <a:solidFill>
            <a:srgbClr val="31444A"/>
          </a:solidFill>
          <a:ln w="0">
            <a:noFill/>
            <a:prstDash val="solid"/>
          </a:ln>
        </p:spPr>
        <p:txBody>
          <a:bodyPr/>
          <a:lstStyle/>
          <a:p>
            <a:endParaRPr lang="en-US"/>
          </a:p>
        </p:txBody>
      </p:sp>
      <p:sp>
        <p:nvSpPr>
          <p:cNvPr id="15" name="Right Arrow 14">
            <a:extLst>
              <a:ext uri="{FF2B5EF4-FFF2-40B4-BE49-F238E27FC236}">
                <a16:creationId xmlns:a16="http://schemas.microsoft.com/office/drawing/2014/main" id="{D3AD45FC-A3BF-40DE-9B33-EAFE3105FA28}"/>
              </a:ext>
            </a:extLst>
          </p:cNvPr>
          <p:cNvSpPr>
            <a:spLocks noGrp="1"/>
          </p:cNvSpPr>
          <p:nvPr/>
        </p:nvSpPr>
        <p:spPr>
          <a:xfrm>
            <a:off x="7810500" y="4248150"/>
            <a:ext cx="609600" cy="171450"/>
          </a:xfrm>
          <a:prstGeom prst="rightArrow">
            <a:avLst/>
          </a:prstGeom>
          <a:solidFill>
            <a:srgbClr val="31444A"/>
          </a:solidFill>
          <a:ln w="0">
            <a:noFill/>
            <a:prstDash val="solid"/>
          </a:ln>
        </p:spPr>
        <p:txBody>
          <a:bodyPr/>
          <a:lstStyle/>
          <a:p>
            <a:endParaRPr lang="en-US"/>
          </a:p>
        </p:txBody>
      </p:sp>
      <p:sp>
        <p:nvSpPr>
          <p:cNvPr id="16" name="Right Arrow 15">
            <a:extLst>
              <a:ext uri="{FF2B5EF4-FFF2-40B4-BE49-F238E27FC236}">
                <a16:creationId xmlns:a16="http://schemas.microsoft.com/office/drawing/2014/main" id="{5BF11176-0B7C-4541-93EC-882B031363AA}"/>
              </a:ext>
            </a:extLst>
          </p:cNvPr>
          <p:cNvSpPr>
            <a:spLocks noGrp="1"/>
          </p:cNvSpPr>
          <p:nvPr/>
        </p:nvSpPr>
        <p:spPr>
          <a:xfrm>
            <a:off x="10229850" y="3333750"/>
            <a:ext cx="419100" cy="171450"/>
          </a:xfrm>
          <a:prstGeom prst="rightArrow">
            <a:avLst/>
          </a:prstGeom>
          <a:solidFill>
            <a:srgbClr val="31444A"/>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87498376-B844-4CC7-818D-A6AEF5E46C1D}"/>
              </a:ext>
            </a:extLst>
          </p:cNvPr>
          <p:cNvSpPr>
            <a:spLocks noGrp="1"/>
          </p:cNvSpPr>
          <p:nvPr/>
        </p:nvSpPr>
        <p:spPr>
          <a:xfrm>
            <a:off x="3981450" y="2705100"/>
            <a:ext cx="28575" cy="933450"/>
          </a:xfrm>
          <a:prstGeom prst="rect">
            <a:avLst/>
          </a:prstGeom>
          <a:solidFill>
            <a:srgbClr val="31444A"/>
          </a:solidFill>
          <a:ln w="0">
            <a:noFill/>
            <a:prstDash val="solid"/>
          </a:ln>
        </p:spPr>
        <p:txBody>
          <a:bodyPr/>
          <a:lstStyle/>
          <a:p>
            <a:endParaRPr lang="en-US"/>
          </a:p>
        </p:txBody>
      </p:sp>
      <p:sp>
        <p:nvSpPr>
          <p:cNvPr id="18" name="Down Arrow 17">
            <a:extLst>
              <a:ext uri="{FF2B5EF4-FFF2-40B4-BE49-F238E27FC236}">
                <a16:creationId xmlns:a16="http://schemas.microsoft.com/office/drawing/2014/main" id="{F9138B64-F8DF-4302-A98F-601036288AAC}"/>
              </a:ext>
            </a:extLst>
          </p:cNvPr>
          <p:cNvSpPr>
            <a:spLocks noGrp="1"/>
          </p:cNvSpPr>
          <p:nvPr/>
        </p:nvSpPr>
        <p:spPr>
          <a:xfrm>
            <a:off x="3848100" y="3505200"/>
            <a:ext cx="285750" cy="514350"/>
          </a:xfrm>
          <a:prstGeom prst="downArrow">
            <a:avLst/>
          </a:prstGeom>
          <a:solidFill>
            <a:srgbClr val="31444A"/>
          </a:solidFill>
          <a:ln w="0">
            <a:noFill/>
            <a:prstDash val="solid"/>
          </a:ln>
        </p:spPr>
        <p:txBody>
          <a:bodyPr/>
          <a:lstStyle/>
          <a:p>
            <a:endParaRPr lang="en-US"/>
          </a:p>
        </p:txBody>
      </p:sp>
      <p:sp>
        <p:nvSpPr>
          <p:cNvPr id="19" name="Rounded Rectangle 18">
            <a:extLst>
              <a:ext uri="{FF2B5EF4-FFF2-40B4-BE49-F238E27FC236}">
                <a16:creationId xmlns:a16="http://schemas.microsoft.com/office/drawing/2014/main" id="{956CC35C-0087-47EF-A86E-666E42BEB3FA}"/>
              </a:ext>
            </a:extLst>
          </p:cNvPr>
          <p:cNvSpPr>
            <a:spLocks noGrp="1"/>
          </p:cNvSpPr>
          <p:nvPr/>
        </p:nvSpPr>
        <p:spPr>
          <a:xfrm>
            <a:off x="685800" y="1924050"/>
            <a:ext cx="1619250" cy="781050"/>
          </a:xfrm>
          <a:prstGeom prst="roundRect">
            <a:avLst>
              <a:gd name="adj" fmla="val 9756"/>
            </a:avLst>
          </a:prstGeom>
          <a:solidFill>
            <a:srgbClr val="111D22"/>
          </a:solidFill>
          <a:ln w="14288">
            <a:solidFill>
              <a:srgbClr val="47C6B7"/>
            </a:solidFill>
            <a:prstDash val="solid"/>
          </a:ln>
        </p:spPr>
        <p:txBody>
          <a:bodyPr/>
          <a:lstStyle/>
          <a:p>
            <a:endParaRPr lang="en-US"/>
          </a:p>
        </p:txBody>
      </p:sp>
      <p:sp>
        <p:nvSpPr>
          <p:cNvPr id="20" name="Rectangle 19">
            <a:extLst>
              <a:ext uri="{FF2B5EF4-FFF2-40B4-BE49-F238E27FC236}">
                <a16:creationId xmlns:a16="http://schemas.microsoft.com/office/drawing/2014/main" id="{3B9FD803-C009-427E-85F0-B92CF62776CD}"/>
              </a:ext>
            </a:extLst>
          </p:cNvPr>
          <p:cNvSpPr>
            <a:spLocks noGrp="1"/>
          </p:cNvSpPr>
          <p:nvPr/>
        </p:nvSpPr>
        <p:spPr>
          <a:xfrm>
            <a:off x="781050" y="1990725"/>
            <a:ext cx="1428750" cy="64770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acquisition</a:t>
            </a:r>
          </a:p>
          <a:p>
            <a:pPr algn="ctr">
              <a:defRPr sz="1275" b="1">
                <a:solidFill>
                  <a:srgbClr val="E8F0EF"/>
                </a:solidFill>
                <a:latin typeface="Arial"/>
                <a:ea typeface="Arial"/>
                <a:cs typeface="Arial"/>
              </a:defRPr>
            </a:pPr>
            <a:r>
              <a:rPr sz="1275" b="1">
                <a:solidFill>
                  <a:srgbClr val="E8F0EF"/>
                </a:solidFill>
                <a:latin typeface="Arial"/>
                <a:ea typeface="Arial"/>
                <a:cs typeface="Arial"/>
              </a:rPr>
              <a:t>Teams · YouTube · local</a:t>
            </a:r>
          </a:p>
        </p:txBody>
      </p:sp>
      <p:sp>
        <p:nvSpPr>
          <p:cNvPr id="21" name="Rounded Rectangle 20">
            <a:extLst>
              <a:ext uri="{FF2B5EF4-FFF2-40B4-BE49-F238E27FC236}">
                <a16:creationId xmlns:a16="http://schemas.microsoft.com/office/drawing/2014/main" id="{30C7DD4A-F927-4DAA-A98A-7162C27AEC1B}"/>
              </a:ext>
            </a:extLst>
          </p:cNvPr>
          <p:cNvSpPr>
            <a:spLocks noGrp="1"/>
          </p:cNvSpPr>
          <p:nvPr/>
        </p:nvSpPr>
        <p:spPr>
          <a:xfrm>
            <a:off x="685800" y="3619500"/>
            <a:ext cx="1619250" cy="781050"/>
          </a:xfrm>
          <a:prstGeom prst="roundRect">
            <a:avLst>
              <a:gd name="adj" fmla="val 9756"/>
            </a:avLst>
          </a:prstGeom>
          <a:solidFill>
            <a:srgbClr val="111D22"/>
          </a:solidFill>
          <a:ln w="14288">
            <a:solidFill>
              <a:srgbClr val="47C6B7"/>
            </a:solidFill>
            <a:prstDash val="solid"/>
          </a:ln>
        </p:spPr>
        <p:txBody>
          <a:bodyPr/>
          <a:lstStyle/>
          <a:p>
            <a:endParaRPr lang="en-US"/>
          </a:p>
        </p:txBody>
      </p:sp>
      <p:sp>
        <p:nvSpPr>
          <p:cNvPr id="22" name="Rectangle 21">
            <a:extLst>
              <a:ext uri="{FF2B5EF4-FFF2-40B4-BE49-F238E27FC236}">
                <a16:creationId xmlns:a16="http://schemas.microsoft.com/office/drawing/2014/main" id="{219CB0D0-3FD0-4178-AE85-11B6BE7D2207}"/>
              </a:ext>
            </a:extLst>
          </p:cNvPr>
          <p:cNvSpPr>
            <a:spLocks noGrp="1"/>
          </p:cNvSpPr>
          <p:nvPr/>
        </p:nvSpPr>
        <p:spPr>
          <a:xfrm>
            <a:off x="781050" y="3686175"/>
            <a:ext cx="1428750" cy="64770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local recording</a:t>
            </a:r>
          </a:p>
          <a:p>
            <a:pPr algn="ctr">
              <a:defRPr sz="1275" b="1">
                <a:solidFill>
                  <a:srgbClr val="E8F0EF"/>
                </a:solidFill>
                <a:latin typeface="Arial"/>
                <a:ea typeface="Arial"/>
                <a:cs typeface="Arial"/>
              </a:defRPr>
            </a:pPr>
            <a:r>
              <a:rPr sz="1275" b="1">
                <a:solidFill>
                  <a:srgbClr val="E8F0EF"/>
                </a:solidFill>
                <a:latin typeface="Arial"/>
                <a:ea typeface="Arial"/>
                <a:cs typeface="Arial"/>
              </a:rPr>
              <a:t>+ transcript</a:t>
            </a:r>
          </a:p>
        </p:txBody>
      </p:sp>
      <p:sp>
        <p:nvSpPr>
          <p:cNvPr id="23" name="Rounded Rectangle 22">
            <a:extLst>
              <a:ext uri="{FF2B5EF4-FFF2-40B4-BE49-F238E27FC236}">
                <a16:creationId xmlns:a16="http://schemas.microsoft.com/office/drawing/2014/main" id="{4A8C923A-1554-4A49-8803-DA6FAC337559}"/>
              </a:ext>
            </a:extLst>
          </p:cNvPr>
          <p:cNvSpPr>
            <a:spLocks noGrp="1"/>
          </p:cNvSpPr>
          <p:nvPr/>
        </p:nvSpPr>
        <p:spPr>
          <a:xfrm>
            <a:off x="2838450" y="1924050"/>
            <a:ext cx="1924050" cy="781050"/>
          </a:xfrm>
          <a:prstGeom prst="roundRect">
            <a:avLst>
              <a:gd name="adj" fmla="val 9756"/>
            </a:avLst>
          </a:prstGeom>
          <a:solidFill>
            <a:srgbClr val="111D22"/>
          </a:solidFill>
          <a:ln w="14288">
            <a:solidFill>
              <a:srgbClr val="47C6B7"/>
            </a:solidFill>
            <a:prstDash val="solid"/>
          </a:ln>
        </p:spPr>
        <p:txBody>
          <a:bodyPr/>
          <a:lstStyle/>
          <a:p>
            <a:endParaRPr lang="en-US"/>
          </a:p>
        </p:txBody>
      </p:sp>
      <p:sp>
        <p:nvSpPr>
          <p:cNvPr id="24" name="Rectangle 23">
            <a:extLst>
              <a:ext uri="{FF2B5EF4-FFF2-40B4-BE49-F238E27FC236}">
                <a16:creationId xmlns:a16="http://schemas.microsoft.com/office/drawing/2014/main" id="{064CDA63-723A-42FA-8E7D-568F6F67D98D}"/>
              </a:ext>
            </a:extLst>
          </p:cNvPr>
          <p:cNvSpPr>
            <a:spLocks noGrp="1"/>
          </p:cNvSpPr>
          <p:nvPr/>
        </p:nvSpPr>
        <p:spPr>
          <a:xfrm>
            <a:off x="2933700" y="1990725"/>
            <a:ext cx="1733550" cy="6477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FastAPI</a:t>
            </a:r>
          </a:p>
          <a:p>
            <a:pPr algn="ctr">
              <a:defRPr sz="1350" b="1">
                <a:solidFill>
                  <a:srgbClr val="E8F0EF"/>
                </a:solidFill>
                <a:latin typeface="Arial"/>
                <a:ea typeface="Arial"/>
                <a:cs typeface="Arial"/>
              </a:defRPr>
            </a:pPr>
            <a:r>
              <a:rPr sz="1350" b="1">
                <a:solidFill>
                  <a:srgbClr val="E8F0EF"/>
                </a:solidFill>
                <a:latin typeface="Arial"/>
                <a:ea typeface="Arial"/>
                <a:cs typeface="Arial"/>
              </a:rPr>
              <a:t>intake · query · SSE</a:t>
            </a:r>
          </a:p>
        </p:txBody>
      </p:sp>
      <p:sp>
        <p:nvSpPr>
          <p:cNvPr id="25" name="Rounded Rectangle 24">
            <a:extLst>
              <a:ext uri="{FF2B5EF4-FFF2-40B4-BE49-F238E27FC236}">
                <a16:creationId xmlns:a16="http://schemas.microsoft.com/office/drawing/2014/main" id="{B3A68ADD-A2D5-4AA3-8187-0F2DFBF7B5AB}"/>
              </a:ext>
            </a:extLst>
          </p:cNvPr>
          <p:cNvSpPr>
            <a:spLocks noGrp="1"/>
          </p:cNvSpPr>
          <p:nvPr/>
        </p:nvSpPr>
        <p:spPr>
          <a:xfrm>
            <a:off x="2838450" y="2952750"/>
            <a:ext cx="1924050" cy="895350"/>
          </a:xfrm>
          <a:prstGeom prst="roundRect">
            <a:avLst>
              <a:gd name="adj" fmla="val 8511"/>
            </a:avLst>
          </a:prstGeom>
          <a:solidFill>
            <a:srgbClr val="152624"/>
          </a:solidFill>
          <a:ln w="14288">
            <a:solidFill>
              <a:srgbClr val="47C6B7"/>
            </a:solidFill>
            <a:prstDash val="solid"/>
          </a:ln>
        </p:spPr>
        <p:txBody>
          <a:bodyPr/>
          <a:lstStyle/>
          <a:p>
            <a:endParaRPr lang="en-US"/>
          </a:p>
        </p:txBody>
      </p:sp>
      <p:sp>
        <p:nvSpPr>
          <p:cNvPr id="26" name="Rectangle 25">
            <a:extLst>
              <a:ext uri="{FF2B5EF4-FFF2-40B4-BE49-F238E27FC236}">
                <a16:creationId xmlns:a16="http://schemas.microsoft.com/office/drawing/2014/main" id="{EF2543CC-2C48-4E17-9EF7-DFCCFC5657EB}"/>
              </a:ext>
            </a:extLst>
          </p:cNvPr>
          <p:cNvSpPr>
            <a:spLocks noGrp="1"/>
          </p:cNvSpPr>
          <p:nvPr/>
        </p:nvSpPr>
        <p:spPr>
          <a:xfrm>
            <a:off x="2933700" y="3019425"/>
            <a:ext cx="1733550" cy="762000"/>
          </a:xfrm>
          <a:prstGeom prst="rect">
            <a:avLst/>
          </a:prstGeom>
          <a:noFill/>
          <a:ln w="0">
            <a:noFill/>
            <a:prstDash val="solid"/>
          </a:ln>
        </p:spPr>
        <p:txBody>
          <a:bodyPr wrap="square" lIns="0" tIns="0" rIns="0" bIns="0" anchor="ctr">
            <a:normAutofit/>
          </a:bodyPr>
          <a:lstStyle/>
          <a:p>
            <a:pPr algn="ctr">
              <a:defRPr sz="1425" b="1">
                <a:solidFill>
                  <a:srgbClr val="E8F0EF"/>
                </a:solidFill>
                <a:latin typeface="Arial"/>
                <a:ea typeface="Arial"/>
                <a:cs typeface="Arial"/>
              </a:defRPr>
            </a:pPr>
            <a:r>
              <a:rPr sz="1425" b="1">
                <a:solidFill>
                  <a:srgbClr val="E8F0EF"/>
                </a:solidFill>
                <a:latin typeface="Arial"/>
                <a:ea typeface="Arial"/>
                <a:cs typeface="Arial"/>
              </a:rPr>
              <a:t>Postgres</a:t>
            </a:r>
          </a:p>
          <a:p>
            <a:pPr algn="ctr">
              <a:defRPr sz="1425" b="1">
                <a:solidFill>
                  <a:srgbClr val="E8F0EF"/>
                </a:solidFill>
                <a:latin typeface="Arial"/>
                <a:ea typeface="Arial"/>
                <a:cs typeface="Arial"/>
              </a:defRPr>
            </a:pPr>
            <a:r>
              <a:rPr sz="1425" b="1">
                <a:solidFill>
                  <a:srgbClr val="E8F0EF"/>
                </a:solidFill>
                <a:latin typeface="Arial"/>
                <a:ea typeface="Arial"/>
                <a:cs typeface="Arial"/>
              </a:rPr>
              <a:t>authoritative record</a:t>
            </a:r>
          </a:p>
        </p:txBody>
      </p:sp>
      <p:sp>
        <p:nvSpPr>
          <p:cNvPr id="27" name="Rounded Rectangle 26">
            <a:extLst>
              <a:ext uri="{FF2B5EF4-FFF2-40B4-BE49-F238E27FC236}">
                <a16:creationId xmlns:a16="http://schemas.microsoft.com/office/drawing/2014/main" id="{B746B101-38C2-4B79-931B-80952F330667}"/>
              </a:ext>
            </a:extLst>
          </p:cNvPr>
          <p:cNvSpPr>
            <a:spLocks noGrp="1"/>
          </p:cNvSpPr>
          <p:nvPr/>
        </p:nvSpPr>
        <p:spPr>
          <a:xfrm>
            <a:off x="2838450" y="4095750"/>
            <a:ext cx="1924050" cy="781050"/>
          </a:xfrm>
          <a:prstGeom prst="roundRect">
            <a:avLst>
              <a:gd name="adj" fmla="val 9756"/>
            </a:avLst>
          </a:prstGeom>
          <a:solidFill>
            <a:srgbClr val="111D22"/>
          </a:solidFill>
          <a:ln w="14288">
            <a:solidFill>
              <a:srgbClr val="47C6B7"/>
            </a:solidFill>
            <a:prstDash val="solid"/>
          </a:ln>
        </p:spPr>
        <p:txBody>
          <a:bodyPr/>
          <a:lstStyle/>
          <a:p>
            <a:endParaRPr lang="en-US"/>
          </a:p>
        </p:txBody>
      </p:sp>
      <p:sp>
        <p:nvSpPr>
          <p:cNvPr id="28" name="Rectangle 27">
            <a:extLst>
              <a:ext uri="{FF2B5EF4-FFF2-40B4-BE49-F238E27FC236}">
                <a16:creationId xmlns:a16="http://schemas.microsoft.com/office/drawing/2014/main" id="{89879902-B588-4C2E-B779-0CD4E1F3A265}"/>
              </a:ext>
            </a:extLst>
          </p:cNvPr>
          <p:cNvSpPr>
            <a:spLocks noGrp="1"/>
          </p:cNvSpPr>
          <p:nvPr/>
        </p:nvSpPr>
        <p:spPr>
          <a:xfrm>
            <a:off x="2933700" y="4162425"/>
            <a:ext cx="1733550" cy="6477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Durable worker</a:t>
            </a:r>
          </a:p>
          <a:p>
            <a:pPr algn="ctr">
              <a:defRPr sz="1350" b="1">
                <a:solidFill>
                  <a:srgbClr val="E8F0EF"/>
                </a:solidFill>
                <a:latin typeface="Arial"/>
                <a:ea typeface="Arial"/>
                <a:cs typeface="Arial"/>
              </a:defRPr>
            </a:pPr>
            <a:r>
              <a:rPr sz="1350" b="1">
                <a:solidFill>
                  <a:srgbClr val="E8F0EF"/>
                </a:solidFill>
                <a:latin typeface="Arial"/>
                <a:ea typeface="Arial"/>
                <a:cs typeface="Arial"/>
              </a:rPr>
              <a:t>checkpointed stages</a:t>
            </a:r>
          </a:p>
        </p:txBody>
      </p:sp>
      <p:sp>
        <p:nvSpPr>
          <p:cNvPr id="29" name="Rounded Rectangle 28">
            <a:extLst>
              <a:ext uri="{FF2B5EF4-FFF2-40B4-BE49-F238E27FC236}">
                <a16:creationId xmlns:a16="http://schemas.microsoft.com/office/drawing/2014/main" id="{E6C942DB-E786-43AF-80C9-D43E5747D6DB}"/>
              </a:ext>
            </a:extLst>
          </p:cNvPr>
          <p:cNvSpPr>
            <a:spLocks noGrp="1"/>
          </p:cNvSpPr>
          <p:nvPr/>
        </p:nvSpPr>
        <p:spPr>
          <a:xfrm>
            <a:off x="5486400" y="1924050"/>
            <a:ext cx="2324100" cy="647700"/>
          </a:xfrm>
          <a:prstGeom prst="roundRect">
            <a:avLst>
              <a:gd name="adj" fmla="val 11765"/>
            </a:avLst>
          </a:prstGeom>
          <a:solidFill>
            <a:srgbClr val="111D22"/>
          </a:solidFill>
          <a:ln w="9525">
            <a:solidFill>
              <a:srgbClr val="8AA0A4"/>
            </a:solidFill>
            <a:prstDash val="solid"/>
          </a:ln>
        </p:spPr>
        <p:txBody>
          <a:bodyPr/>
          <a:lstStyle/>
          <a:p>
            <a:endParaRPr lang="en-US"/>
          </a:p>
        </p:txBody>
      </p:sp>
      <p:sp>
        <p:nvSpPr>
          <p:cNvPr id="30" name="Rectangle 29">
            <a:extLst>
              <a:ext uri="{FF2B5EF4-FFF2-40B4-BE49-F238E27FC236}">
                <a16:creationId xmlns:a16="http://schemas.microsoft.com/office/drawing/2014/main" id="{87ECFA9B-2AFD-49FB-9A15-3BB4305E5F09}"/>
              </a:ext>
            </a:extLst>
          </p:cNvPr>
          <p:cNvSpPr>
            <a:spLocks noGrp="1"/>
          </p:cNvSpPr>
          <p:nvPr/>
        </p:nvSpPr>
        <p:spPr>
          <a:xfrm>
            <a:off x="5581650" y="1990725"/>
            <a:ext cx="2133600" cy="51435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immutable source drops</a:t>
            </a:r>
          </a:p>
        </p:txBody>
      </p:sp>
      <p:sp>
        <p:nvSpPr>
          <p:cNvPr id="31" name="Rounded Rectangle 30">
            <a:extLst>
              <a:ext uri="{FF2B5EF4-FFF2-40B4-BE49-F238E27FC236}">
                <a16:creationId xmlns:a16="http://schemas.microsoft.com/office/drawing/2014/main" id="{E21BD4E9-160A-473C-A53C-56171EFA3A43}"/>
              </a:ext>
            </a:extLst>
          </p:cNvPr>
          <p:cNvSpPr>
            <a:spLocks noGrp="1"/>
          </p:cNvSpPr>
          <p:nvPr/>
        </p:nvSpPr>
        <p:spPr>
          <a:xfrm>
            <a:off x="5486400" y="2762250"/>
            <a:ext cx="2324100" cy="742950"/>
          </a:xfrm>
          <a:prstGeom prst="roundRect">
            <a:avLst>
              <a:gd name="adj" fmla="val 10256"/>
            </a:avLst>
          </a:prstGeom>
          <a:solidFill>
            <a:srgbClr val="111D22"/>
          </a:solidFill>
          <a:ln w="9525">
            <a:solidFill>
              <a:srgbClr val="8AA0A4"/>
            </a:solidFill>
            <a:prstDash val="solid"/>
          </a:ln>
        </p:spPr>
        <p:txBody>
          <a:bodyPr/>
          <a:lstStyle/>
          <a:p>
            <a:endParaRPr lang="en-US"/>
          </a:p>
        </p:txBody>
      </p:sp>
      <p:sp>
        <p:nvSpPr>
          <p:cNvPr id="32" name="Rectangle 31">
            <a:extLst>
              <a:ext uri="{FF2B5EF4-FFF2-40B4-BE49-F238E27FC236}">
                <a16:creationId xmlns:a16="http://schemas.microsoft.com/office/drawing/2014/main" id="{4CADFF4F-4495-4424-82EC-820FA5D7F1F7}"/>
              </a:ext>
            </a:extLst>
          </p:cNvPr>
          <p:cNvSpPr>
            <a:spLocks noGrp="1"/>
          </p:cNvSpPr>
          <p:nvPr/>
        </p:nvSpPr>
        <p:spPr>
          <a:xfrm>
            <a:off x="5581650" y="2828925"/>
            <a:ext cx="2133600" cy="60960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generated content root</a:t>
            </a:r>
          </a:p>
          <a:p>
            <a:pPr algn="ctr">
              <a:defRPr sz="1275" b="1">
                <a:solidFill>
                  <a:srgbClr val="E8F0EF"/>
                </a:solidFill>
                <a:latin typeface="Arial"/>
                <a:ea typeface="Arial"/>
                <a:cs typeface="Arial"/>
              </a:defRPr>
            </a:pPr>
            <a:r>
              <a:rPr sz="1275" b="1">
                <a:solidFill>
                  <a:srgbClr val="E8F0EF"/>
                </a:solidFill>
                <a:latin typeface="Arial"/>
                <a:ea typeface="Arial"/>
                <a:cs typeface="Arial"/>
              </a:rPr>
              <a:t>frames · screenshots</a:t>
            </a:r>
          </a:p>
        </p:txBody>
      </p:sp>
      <p:sp>
        <p:nvSpPr>
          <p:cNvPr id="33" name="Rounded Rectangle 32">
            <a:extLst>
              <a:ext uri="{FF2B5EF4-FFF2-40B4-BE49-F238E27FC236}">
                <a16:creationId xmlns:a16="http://schemas.microsoft.com/office/drawing/2014/main" id="{0F123C5E-145F-4B53-9EA3-16297334AEDF}"/>
              </a:ext>
            </a:extLst>
          </p:cNvPr>
          <p:cNvSpPr>
            <a:spLocks noGrp="1"/>
          </p:cNvSpPr>
          <p:nvPr/>
        </p:nvSpPr>
        <p:spPr>
          <a:xfrm>
            <a:off x="5486400" y="3905250"/>
            <a:ext cx="2324100" cy="876300"/>
          </a:xfrm>
          <a:prstGeom prst="roundRect">
            <a:avLst>
              <a:gd name="adj" fmla="val 8696"/>
            </a:avLst>
          </a:prstGeom>
          <a:solidFill>
            <a:srgbClr val="111D22"/>
          </a:solidFill>
          <a:ln w="14288">
            <a:solidFill>
              <a:srgbClr val="A88BFF"/>
            </a:solidFill>
            <a:prstDash val="solid"/>
          </a:ln>
        </p:spPr>
        <p:txBody>
          <a:bodyPr/>
          <a:lstStyle/>
          <a:p>
            <a:endParaRPr lang="en-US"/>
          </a:p>
        </p:txBody>
      </p:sp>
      <p:sp>
        <p:nvSpPr>
          <p:cNvPr id="34" name="Rectangle 33">
            <a:extLst>
              <a:ext uri="{FF2B5EF4-FFF2-40B4-BE49-F238E27FC236}">
                <a16:creationId xmlns:a16="http://schemas.microsoft.com/office/drawing/2014/main" id="{EEBDED1C-4576-4E4C-8C3C-E794E480F3E5}"/>
              </a:ext>
            </a:extLst>
          </p:cNvPr>
          <p:cNvSpPr>
            <a:spLocks noGrp="1"/>
          </p:cNvSpPr>
          <p:nvPr/>
        </p:nvSpPr>
        <p:spPr>
          <a:xfrm>
            <a:off x="5581650" y="3971925"/>
            <a:ext cx="2133600" cy="74295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model ports</a:t>
            </a:r>
          </a:p>
          <a:p>
            <a:pPr algn="ctr">
              <a:defRPr sz="1275" b="1">
                <a:solidFill>
                  <a:srgbClr val="E8F0EF"/>
                </a:solidFill>
                <a:latin typeface="Arial"/>
                <a:ea typeface="Arial"/>
                <a:cs typeface="Arial"/>
              </a:defRPr>
            </a:pPr>
            <a:r>
              <a:rPr sz="1275" b="1">
                <a:solidFill>
                  <a:srgbClr val="E8F0EF"/>
                </a:solidFill>
                <a:latin typeface="Arial"/>
                <a:ea typeface="Arial"/>
                <a:cs typeface="Arial"/>
              </a:rPr>
              <a:t>OCR · STT · LLM · embeddings</a:t>
            </a:r>
          </a:p>
        </p:txBody>
      </p:sp>
      <p:sp>
        <p:nvSpPr>
          <p:cNvPr id="35" name="Rounded Rectangle 34">
            <a:extLst>
              <a:ext uri="{FF2B5EF4-FFF2-40B4-BE49-F238E27FC236}">
                <a16:creationId xmlns:a16="http://schemas.microsoft.com/office/drawing/2014/main" id="{94E38B27-302F-49D1-8D93-06BAD61E45E5}"/>
              </a:ext>
            </a:extLst>
          </p:cNvPr>
          <p:cNvSpPr>
            <a:spLocks noGrp="1"/>
          </p:cNvSpPr>
          <p:nvPr/>
        </p:nvSpPr>
        <p:spPr>
          <a:xfrm>
            <a:off x="8420100" y="2400300"/>
            <a:ext cx="1809750" cy="819150"/>
          </a:xfrm>
          <a:prstGeom prst="roundRect">
            <a:avLst>
              <a:gd name="adj" fmla="val 9302"/>
            </a:avLst>
          </a:prstGeom>
          <a:solidFill>
            <a:srgbClr val="111D22"/>
          </a:solidFill>
          <a:ln w="14288">
            <a:solidFill>
              <a:srgbClr val="3B82A6"/>
            </a:solidFill>
            <a:prstDash val="solid"/>
          </a:ln>
        </p:spPr>
        <p:txBody>
          <a:bodyPr/>
          <a:lstStyle/>
          <a:p>
            <a:endParaRPr lang="en-US"/>
          </a:p>
        </p:txBody>
      </p:sp>
      <p:sp>
        <p:nvSpPr>
          <p:cNvPr id="36" name="Rectangle 35">
            <a:extLst>
              <a:ext uri="{FF2B5EF4-FFF2-40B4-BE49-F238E27FC236}">
                <a16:creationId xmlns:a16="http://schemas.microsoft.com/office/drawing/2014/main" id="{A3302456-2312-48D2-854D-5D524ED81E45}"/>
              </a:ext>
            </a:extLst>
          </p:cNvPr>
          <p:cNvSpPr>
            <a:spLocks noGrp="1"/>
          </p:cNvSpPr>
          <p:nvPr/>
        </p:nvSpPr>
        <p:spPr>
          <a:xfrm>
            <a:off x="8515350" y="2466975"/>
            <a:ext cx="1619250" cy="68580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Neo4j</a:t>
            </a:r>
          </a:p>
          <a:p>
            <a:pPr algn="ctr">
              <a:defRPr sz="1350" b="1">
                <a:solidFill>
                  <a:srgbClr val="E8F0EF"/>
                </a:solidFill>
                <a:latin typeface="Arial"/>
                <a:ea typeface="Arial"/>
                <a:cs typeface="Arial"/>
              </a:defRPr>
            </a:pPr>
            <a:r>
              <a:rPr sz="1350" b="1">
                <a:solidFill>
                  <a:srgbClr val="E8F0EF"/>
                </a:solidFill>
                <a:latin typeface="Arial"/>
                <a:ea typeface="Arial"/>
                <a:cs typeface="Arial"/>
              </a:rPr>
              <a:t>graph projection</a:t>
            </a:r>
          </a:p>
        </p:txBody>
      </p:sp>
      <p:sp>
        <p:nvSpPr>
          <p:cNvPr id="37" name="Rounded Rectangle 36">
            <a:extLst>
              <a:ext uri="{FF2B5EF4-FFF2-40B4-BE49-F238E27FC236}">
                <a16:creationId xmlns:a16="http://schemas.microsoft.com/office/drawing/2014/main" id="{FF8E2C88-C701-42F4-8E66-C2A4F14BC8F3}"/>
              </a:ext>
            </a:extLst>
          </p:cNvPr>
          <p:cNvSpPr>
            <a:spLocks noGrp="1"/>
          </p:cNvSpPr>
          <p:nvPr/>
        </p:nvSpPr>
        <p:spPr>
          <a:xfrm>
            <a:off x="8420100" y="3562350"/>
            <a:ext cx="1809750" cy="876300"/>
          </a:xfrm>
          <a:prstGeom prst="roundRect">
            <a:avLst>
              <a:gd name="adj" fmla="val 8696"/>
            </a:avLst>
          </a:prstGeom>
          <a:solidFill>
            <a:srgbClr val="111D22"/>
          </a:solidFill>
          <a:ln w="14288">
            <a:solidFill>
              <a:srgbClr val="A88BFF"/>
            </a:solidFill>
            <a:prstDash val="solid"/>
          </a:ln>
        </p:spPr>
        <p:txBody>
          <a:bodyPr/>
          <a:lstStyle/>
          <a:p>
            <a:endParaRPr lang="en-US"/>
          </a:p>
        </p:txBody>
      </p:sp>
      <p:sp>
        <p:nvSpPr>
          <p:cNvPr id="38" name="Rectangle 37">
            <a:extLst>
              <a:ext uri="{FF2B5EF4-FFF2-40B4-BE49-F238E27FC236}">
                <a16:creationId xmlns:a16="http://schemas.microsoft.com/office/drawing/2014/main" id="{63DC48F5-FC8E-4738-BF98-7E96D1865CB4}"/>
              </a:ext>
            </a:extLst>
          </p:cNvPr>
          <p:cNvSpPr>
            <a:spLocks noGrp="1"/>
          </p:cNvSpPr>
          <p:nvPr/>
        </p:nvSpPr>
        <p:spPr>
          <a:xfrm>
            <a:off x="8515350" y="3629025"/>
            <a:ext cx="1619250" cy="74295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Meilisearch</a:t>
            </a:r>
          </a:p>
          <a:p>
            <a:pPr algn="ctr">
              <a:defRPr sz="1275" b="1">
                <a:solidFill>
                  <a:srgbClr val="E8F0EF"/>
                </a:solidFill>
                <a:latin typeface="Arial"/>
                <a:ea typeface="Arial"/>
                <a:cs typeface="Arial"/>
              </a:defRPr>
            </a:pPr>
            <a:r>
              <a:rPr sz="1275" b="1">
                <a:solidFill>
                  <a:srgbClr val="E8F0EF"/>
                </a:solidFill>
                <a:latin typeface="Arial"/>
                <a:ea typeface="Arial"/>
                <a:cs typeface="Arial"/>
              </a:rPr>
              <a:t>text + vector projection</a:t>
            </a:r>
          </a:p>
        </p:txBody>
      </p:sp>
      <p:sp>
        <p:nvSpPr>
          <p:cNvPr id="39" name="Rounded Rectangle 38">
            <a:extLst>
              <a:ext uri="{FF2B5EF4-FFF2-40B4-BE49-F238E27FC236}">
                <a16:creationId xmlns:a16="http://schemas.microsoft.com/office/drawing/2014/main" id="{0E90BC63-2FAF-421E-8036-0D102D7D5C93}"/>
              </a:ext>
            </a:extLst>
          </p:cNvPr>
          <p:cNvSpPr>
            <a:spLocks noGrp="1"/>
          </p:cNvSpPr>
          <p:nvPr/>
        </p:nvSpPr>
        <p:spPr>
          <a:xfrm>
            <a:off x="10648950" y="2933700"/>
            <a:ext cx="1066800" cy="914400"/>
          </a:xfrm>
          <a:prstGeom prst="roundRect">
            <a:avLst>
              <a:gd name="adj" fmla="val 8333"/>
            </a:avLst>
          </a:prstGeom>
          <a:solidFill>
            <a:srgbClr val="111D22"/>
          </a:solidFill>
          <a:ln w="14288">
            <a:solidFill>
              <a:srgbClr val="47C6B7"/>
            </a:solidFill>
            <a:prstDash val="solid"/>
          </a:ln>
        </p:spPr>
        <p:txBody>
          <a:bodyPr/>
          <a:lstStyle/>
          <a:p>
            <a:endParaRPr lang="en-US"/>
          </a:p>
        </p:txBody>
      </p:sp>
      <p:sp>
        <p:nvSpPr>
          <p:cNvPr id="40" name="Rectangle 39">
            <a:extLst>
              <a:ext uri="{FF2B5EF4-FFF2-40B4-BE49-F238E27FC236}">
                <a16:creationId xmlns:a16="http://schemas.microsoft.com/office/drawing/2014/main" id="{B14AC0B2-1E82-4673-B563-721F38A6EC30}"/>
              </a:ext>
            </a:extLst>
          </p:cNvPr>
          <p:cNvSpPr>
            <a:spLocks noGrp="1"/>
          </p:cNvSpPr>
          <p:nvPr/>
        </p:nvSpPr>
        <p:spPr>
          <a:xfrm>
            <a:off x="10744200" y="3000375"/>
            <a:ext cx="876300" cy="781050"/>
          </a:xfrm>
          <a:prstGeom prst="rect">
            <a:avLst/>
          </a:prstGeom>
          <a:noFill/>
          <a:ln w="0">
            <a:noFill/>
            <a:prstDash val="solid"/>
          </a:ln>
        </p:spPr>
        <p:txBody>
          <a:bodyPr wrap="square" lIns="0" tIns="0" rIns="0" bIns="0" anchor="ctr">
            <a:normAutofit/>
          </a:bodyPr>
          <a:lstStyle/>
          <a:p>
            <a:pPr algn="ctr">
              <a:defRPr sz="1275" b="1">
                <a:solidFill>
                  <a:srgbClr val="E8F0EF"/>
                </a:solidFill>
                <a:latin typeface="Arial"/>
                <a:ea typeface="Arial"/>
                <a:cs typeface="Arial"/>
              </a:defRPr>
            </a:pPr>
            <a:r>
              <a:rPr sz="1275" b="1">
                <a:solidFill>
                  <a:srgbClr val="E8F0EF"/>
                </a:solidFill>
                <a:latin typeface="Arial"/>
                <a:ea typeface="Arial"/>
                <a:cs typeface="Arial"/>
              </a:rPr>
              <a:t>React</a:t>
            </a:r>
          </a:p>
          <a:p>
            <a:pPr algn="ctr">
              <a:defRPr sz="1275" b="1">
                <a:solidFill>
                  <a:srgbClr val="E8F0EF"/>
                </a:solidFill>
                <a:latin typeface="Arial"/>
                <a:ea typeface="Arial"/>
                <a:cs typeface="Arial"/>
              </a:defRPr>
            </a:pPr>
            <a:r>
              <a:rPr sz="1275" b="1">
                <a:solidFill>
                  <a:srgbClr val="E8F0EF"/>
                </a:solidFill>
                <a:latin typeface="Arial"/>
                <a:ea typeface="Arial"/>
                <a:cs typeface="Arial"/>
              </a:rPr>
              <a:t>typed routes</a:t>
            </a:r>
          </a:p>
        </p:txBody>
      </p:sp>
      <p:sp>
        <p:nvSpPr>
          <p:cNvPr id="41" name="Rectangle 40">
            <a:extLst>
              <a:ext uri="{FF2B5EF4-FFF2-40B4-BE49-F238E27FC236}">
                <a16:creationId xmlns:a16="http://schemas.microsoft.com/office/drawing/2014/main" id="{071B0262-1149-4AD7-B07F-597ADBA0D8D5}"/>
              </a:ext>
            </a:extLst>
          </p:cNvPr>
          <p:cNvSpPr>
            <a:spLocks noGrp="1"/>
          </p:cNvSpPr>
          <p:nvPr/>
        </p:nvSpPr>
        <p:spPr>
          <a:xfrm>
            <a:off x="1885950" y="5353050"/>
            <a:ext cx="8420100" cy="361950"/>
          </a:xfrm>
          <a:prstGeom prst="rect">
            <a:avLst/>
          </a:prstGeom>
          <a:noFill/>
          <a:ln w="0">
            <a:noFill/>
            <a:prstDash val="solid"/>
          </a:ln>
        </p:spPr>
        <p:txBody>
          <a:bodyPr wrap="square" lIns="0" tIns="0" rIns="0" bIns="0" anchor="t">
            <a:normAutofit/>
          </a:bodyPr>
          <a:lstStyle/>
          <a:p>
            <a:pPr algn="ctr">
              <a:defRPr sz="1650" b="1">
                <a:solidFill>
                  <a:srgbClr val="47C6B7"/>
                </a:solidFill>
                <a:latin typeface="Arial"/>
                <a:ea typeface="Arial"/>
                <a:cs typeface="Arial"/>
              </a:defRPr>
            </a:pPr>
            <a:r>
              <a:rPr sz="1650" b="1">
                <a:solidFill>
                  <a:srgbClr val="47C6B7"/>
                </a:solidFill>
                <a:latin typeface="Arial"/>
                <a:ea typeface="Arial"/>
                <a:cs typeface="Arial"/>
              </a:rPr>
              <a:t>Only Postgres is authoritative. Search and graph stores can be deleted and rebuilt.</a:t>
            </a:r>
          </a:p>
        </p:txBody>
      </p:sp>
      <p:sp>
        <p:nvSpPr>
          <p:cNvPr id="42" name="Rectangle 41">
            <a:extLst>
              <a:ext uri="{FF2B5EF4-FFF2-40B4-BE49-F238E27FC236}">
                <a16:creationId xmlns:a16="http://schemas.microsoft.com/office/drawing/2014/main" id="{EA66E18A-8BB6-444F-994E-96D67758F904}"/>
              </a:ext>
            </a:extLst>
          </p:cNvPr>
          <p:cNvSpPr>
            <a:spLocks noGrp="1"/>
          </p:cNvSpPr>
          <p:nvPr/>
        </p:nvSpPr>
        <p:spPr>
          <a:xfrm>
            <a:off x="1447800" y="5791200"/>
            <a:ext cx="9296400" cy="266700"/>
          </a:xfrm>
          <a:prstGeom prst="rect">
            <a:avLst/>
          </a:prstGeom>
          <a:noFill/>
          <a:ln w="0">
            <a:noFill/>
            <a:prstDash val="solid"/>
          </a:ln>
        </p:spPr>
        <p:txBody>
          <a:bodyPr wrap="square" lIns="0" tIns="0" rIns="0" bIns="0" anchor="t">
            <a:normAutofit/>
          </a:bodyPr>
          <a:lstStyle/>
          <a:p>
            <a:pPr algn="ctr">
              <a:defRPr sz="1275" b="0">
                <a:solidFill>
                  <a:srgbClr val="E8F0EF"/>
                </a:solidFill>
                <a:latin typeface="Arial"/>
                <a:ea typeface="Arial"/>
                <a:cs typeface="Arial"/>
              </a:defRPr>
            </a:pPr>
            <a:r>
              <a:rPr sz="1275" b="0">
                <a:solidFill>
                  <a:srgbClr val="E8F0EF"/>
                </a:solidFill>
                <a:latin typeface="Arial"/>
                <a:ea typeface="Arial"/>
                <a:cs typeface="Arial"/>
              </a:rPr>
              <a:t>The worker stays on the Mac host for Apple Vision and MLX; the three stateful stores run in Docker.</a:t>
            </a:r>
          </a:p>
        </p:txBody>
      </p:sp>
    </p:spTree>
    <p:extLst>
      <p:ext uri="{BB962C8B-B14F-4D97-AF65-F5344CB8AC3E}">
        <p14:creationId xmlns:p14="http://schemas.microsoft.com/office/powerpoint/2010/main" val="950159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7F3CBF93-89B0-4BA2-B9CB-80BFDF1CC8BA}"/>
              </a:ext>
            </a:extLst>
          </p:cNvPr>
          <p:cNvSpPr>
            <a:spLocks noGrp="1"/>
          </p:cNvSpPr>
          <p:nvPr/>
        </p:nvSpPr>
        <p:spPr>
          <a:xfrm>
            <a:off x="0" y="0"/>
            <a:ext cx="12192000" cy="66675"/>
          </a:xfrm>
          <a:prstGeom prst="rect">
            <a:avLst/>
          </a:prstGeom>
          <a:solidFill>
            <a:srgbClr val="47C6B7"/>
          </a:solidFill>
          <a:ln w="0">
            <a:noFill/>
            <a:prstDash val="solid"/>
          </a:ln>
        </p:spPr>
        <p:txBody>
          <a:bodyPr/>
          <a:lstStyle/>
          <a:p>
            <a:endParaRPr lang="en-US"/>
          </a:p>
        </p:txBody>
      </p:sp>
      <p:sp>
        <p:nvSpPr>
          <p:cNvPr id="2" name="section-11">
            <a:extLst>
              <a:ext uri="{FF2B5EF4-FFF2-40B4-BE49-F238E27FC236}">
                <a16:creationId xmlns:a16="http://schemas.microsoft.com/office/drawing/2014/main" id="{3813EC49-2425-4783-B015-030EA10122D1}"/>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QUESTION SEQUENCE</a:t>
            </a:r>
          </a:p>
        </p:txBody>
      </p:sp>
      <p:sp>
        <p:nvSpPr>
          <p:cNvPr id="3" name="Rectangle 2">
            <a:extLst>
              <a:ext uri="{FF2B5EF4-FFF2-40B4-BE49-F238E27FC236}">
                <a16:creationId xmlns:a16="http://schemas.microsoft.com/office/drawing/2014/main" id="{2C7D0049-1627-435F-8BB4-5F3D503B0268}"/>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07</a:t>
            </a:r>
          </a:p>
        </p:txBody>
      </p:sp>
      <p:sp>
        <p:nvSpPr>
          <p:cNvPr id="4" name="Rectangle 3">
            <a:extLst>
              <a:ext uri="{FF2B5EF4-FFF2-40B4-BE49-F238E27FC236}">
                <a16:creationId xmlns:a16="http://schemas.microsoft.com/office/drawing/2014/main" id="{077DC614-6A07-4A44-A94A-8ADB5A6B2B91}"/>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9B2E8598-489D-4712-85A4-B25BDE29AD7D}"/>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2925" b="1">
                <a:solidFill>
                  <a:srgbClr val="E8F0EF"/>
                </a:solidFill>
                <a:latin typeface="Arial"/>
                <a:ea typeface="Arial"/>
                <a:cs typeface="Arial"/>
              </a:defRPr>
            </a:pPr>
            <a:r>
              <a:rPr sz="2925" b="1">
                <a:solidFill>
                  <a:srgbClr val="E8F0EF"/>
                </a:solidFill>
                <a:latin typeface="Arial"/>
                <a:ea typeface="Arial"/>
                <a:cs typeface="Arial"/>
              </a:rPr>
              <a:t>Deterministic in, deterministic out.</a:t>
            </a:r>
          </a:p>
        </p:txBody>
      </p:sp>
      <p:sp>
        <p:nvSpPr>
          <p:cNvPr id="6" name="Rectangle 5">
            <a:extLst>
              <a:ext uri="{FF2B5EF4-FFF2-40B4-BE49-F238E27FC236}">
                <a16:creationId xmlns:a16="http://schemas.microsoft.com/office/drawing/2014/main" id="{B05B5D11-477D-46A4-9133-5F549AB71DC6}"/>
              </a:ext>
            </a:extLst>
          </p:cNvPr>
          <p:cNvSpPr>
            <a:spLocks noGrp="1"/>
          </p:cNvSpPr>
          <p:nvPr/>
        </p:nvSpPr>
        <p:spPr>
          <a:xfrm>
            <a:off x="952500" y="2114550"/>
            <a:ext cx="28575" cy="3790950"/>
          </a:xfrm>
          <a:prstGeom prst="rect">
            <a:avLst/>
          </a:prstGeom>
          <a:solidFill>
            <a:srgbClr val="31444A"/>
          </a:solidFill>
          <a:ln w="0">
            <a:noFill/>
            <a:prstDash val="solid"/>
          </a:ln>
        </p:spPr>
        <p:txBody>
          <a:bodyPr/>
          <a:lstStyle/>
          <a:p>
            <a:endParaRPr lang="en-US"/>
          </a:p>
        </p:txBody>
      </p:sp>
      <p:sp>
        <p:nvSpPr>
          <p:cNvPr id="7" name="Rectangle 6">
            <a:extLst>
              <a:ext uri="{FF2B5EF4-FFF2-40B4-BE49-F238E27FC236}">
                <a16:creationId xmlns:a16="http://schemas.microsoft.com/office/drawing/2014/main" id="{4814ACF2-20E8-41FE-A738-9C31C6C8B0F0}"/>
              </a:ext>
            </a:extLst>
          </p:cNvPr>
          <p:cNvSpPr>
            <a:spLocks noGrp="1"/>
          </p:cNvSpPr>
          <p:nvPr/>
        </p:nvSpPr>
        <p:spPr>
          <a:xfrm>
            <a:off x="2762250" y="2114550"/>
            <a:ext cx="28575" cy="3790950"/>
          </a:xfrm>
          <a:prstGeom prst="rect">
            <a:avLst/>
          </a:prstGeom>
          <a:solidFill>
            <a:srgbClr val="31444A"/>
          </a:solidFill>
          <a:ln w="0">
            <a:noFill/>
            <a:prstDash val="solid"/>
          </a:ln>
        </p:spPr>
        <p:txBody>
          <a:bodyPr/>
          <a:lstStyle/>
          <a:p>
            <a:endParaRPr lang="en-US"/>
          </a:p>
        </p:txBody>
      </p:sp>
      <p:sp>
        <p:nvSpPr>
          <p:cNvPr id="8" name="Rectangle 7">
            <a:extLst>
              <a:ext uri="{FF2B5EF4-FFF2-40B4-BE49-F238E27FC236}">
                <a16:creationId xmlns:a16="http://schemas.microsoft.com/office/drawing/2014/main" id="{07B51BDC-9A0C-4E17-B801-13BD5B9C9E00}"/>
              </a:ext>
            </a:extLst>
          </p:cNvPr>
          <p:cNvSpPr>
            <a:spLocks noGrp="1"/>
          </p:cNvSpPr>
          <p:nvPr/>
        </p:nvSpPr>
        <p:spPr>
          <a:xfrm>
            <a:off x="4572000" y="2114550"/>
            <a:ext cx="28575" cy="3790950"/>
          </a:xfrm>
          <a:prstGeom prst="rect">
            <a:avLst/>
          </a:prstGeom>
          <a:solidFill>
            <a:srgbClr val="31444A"/>
          </a:solidFill>
          <a:ln w="0">
            <a:noFill/>
            <a:prstDash val="solid"/>
          </a:ln>
        </p:spPr>
        <p:txBody>
          <a:bodyPr/>
          <a:lstStyle/>
          <a:p>
            <a:endParaRPr lang="en-US"/>
          </a:p>
        </p:txBody>
      </p:sp>
      <p:sp>
        <p:nvSpPr>
          <p:cNvPr id="9" name="Rectangle 8">
            <a:extLst>
              <a:ext uri="{FF2B5EF4-FFF2-40B4-BE49-F238E27FC236}">
                <a16:creationId xmlns:a16="http://schemas.microsoft.com/office/drawing/2014/main" id="{4B530504-E2B2-46F1-9405-28A133C3F8D0}"/>
              </a:ext>
            </a:extLst>
          </p:cNvPr>
          <p:cNvSpPr>
            <a:spLocks noGrp="1"/>
          </p:cNvSpPr>
          <p:nvPr/>
        </p:nvSpPr>
        <p:spPr>
          <a:xfrm>
            <a:off x="6381750" y="2114550"/>
            <a:ext cx="28575" cy="3790950"/>
          </a:xfrm>
          <a:prstGeom prst="rect">
            <a:avLst/>
          </a:prstGeom>
          <a:solidFill>
            <a:srgbClr val="31444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FF99E44-60AA-4C80-85C5-7FDE2230ACA1}"/>
              </a:ext>
            </a:extLst>
          </p:cNvPr>
          <p:cNvSpPr>
            <a:spLocks noGrp="1"/>
          </p:cNvSpPr>
          <p:nvPr/>
        </p:nvSpPr>
        <p:spPr>
          <a:xfrm>
            <a:off x="8191500" y="2114550"/>
            <a:ext cx="28575" cy="3790950"/>
          </a:xfrm>
          <a:prstGeom prst="rect">
            <a:avLst/>
          </a:prstGeom>
          <a:solidFill>
            <a:srgbClr val="31444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04829B1-63FC-4366-83D2-674812DC83D5}"/>
              </a:ext>
            </a:extLst>
          </p:cNvPr>
          <p:cNvSpPr>
            <a:spLocks noGrp="1"/>
          </p:cNvSpPr>
          <p:nvPr/>
        </p:nvSpPr>
        <p:spPr>
          <a:xfrm>
            <a:off x="10001250" y="2114550"/>
            <a:ext cx="28575" cy="3790950"/>
          </a:xfrm>
          <a:prstGeom prst="rect">
            <a:avLst/>
          </a:prstGeom>
          <a:solidFill>
            <a:srgbClr val="31444A"/>
          </a:solidFill>
          <a:ln w="0">
            <a:noFill/>
            <a:prstDash val="solid"/>
          </a:ln>
        </p:spPr>
        <p:txBody>
          <a:bodyPr/>
          <a:lstStyle/>
          <a:p>
            <a:endParaRPr lang="en-US"/>
          </a:p>
        </p:txBody>
      </p:sp>
      <p:sp>
        <p:nvSpPr>
          <p:cNvPr id="12" name="Right Arrow 11">
            <a:extLst>
              <a:ext uri="{FF2B5EF4-FFF2-40B4-BE49-F238E27FC236}">
                <a16:creationId xmlns:a16="http://schemas.microsoft.com/office/drawing/2014/main" id="{2A169967-D097-4C8C-939D-DACC4FD59828}"/>
              </a:ext>
            </a:extLst>
          </p:cNvPr>
          <p:cNvSpPr>
            <a:spLocks noGrp="1"/>
          </p:cNvSpPr>
          <p:nvPr/>
        </p:nvSpPr>
        <p:spPr>
          <a:xfrm>
            <a:off x="952500" y="2647950"/>
            <a:ext cx="1809750" cy="104775"/>
          </a:xfrm>
          <a:prstGeom prst="rightArrow">
            <a:avLst/>
          </a:prstGeom>
          <a:solidFill>
            <a:srgbClr val="8AA0A4"/>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26C8A88A-A459-45F9-B233-65B1DBF42FC1}"/>
              </a:ext>
            </a:extLst>
          </p:cNvPr>
          <p:cNvSpPr>
            <a:spLocks noGrp="1"/>
          </p:cNvSpPr>
          <p:nvPr/>
        </p:nvSpPr>
        <p:spPr>
          <a:xfrm>
            <a:off x="952500" y="2419350"/>
            <a:ext cx="180975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POST /chat · question</a:t>
            </a:r>
          </a:p>
        </p:txBody>
      </p:sp>
      <p:sp>
        <p:nvSpPr>
          <p:cNvPr id="14" name="Right Arrow 13">
            <a:extLst>
              <a:ext uri="{FF2B5EF4-FFF2-40B4-BE49-F238E27FC236}">
                <a16:creationId xmlns:a16="http://schemas.microsoft.com/office/drawing/2014/main" id="{B31404DB-5884-4A03-974A-1A0C19981A55}"/>
              </a:ext>
            </a:extLst>
          </p:cNvPr>
          <p:cNvSpPr>
            <a:spLocks noGrp="1"/>
          </p:cNvSpPr>
          <p:nvPr/>
        </p:nvSpPr>
        <p:spPr>
          <a:xfrm>
            <a:off x="2762250" y="3143250"/>
            <a:ext cx="1809750" cy="104775"/>
          </a:xfrm>
          <a:prstGeom prst="rightArrow">
            <a:avLst/>
          </a:prstGeom>
          <a:solidFill>
            <a:srgbClr val="8AA0A4"/>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8F3B72F5-FE68-4D42-99AF-CAB982B5754D}"/>
              </a:ext>
            </a:extLst>
          </p:cNvPr>
          <p:cNvSpPr>
            <a:spLocks noGrp="1"/>
          </p:cNvSpPr>
          <p:nvPr/>
        </p:nvSpPr>
        <p:spPr>
          <a:xfrm>
            <a:off x="2762250" y="2914650"/>
            <a:ext cx="1809750" cy="190500"/>
          </a:xfrm>
          <a:prstGeom prst="rect">
            <a:avLst/>
          </a:prstGeom>
          <a:noFill/>
          <a:ln w="0">
            <a:noFill/>
            <a:prstDash val="solid"/>
          </a:ln>
        </p:spPr>
        <p:txBody>
          <a:bodyPr wrap="square" lIns="0" tIns="0" rIns="0" bIns="0" anchor="t">
            <a:normAutofit fontScale="91735"/>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classify → parameterized Cypher</a:t>
            </a:r>
          </a:p>
        </p:txBody>
      </p:sp>
      <p:sp>
        <p:nvSpPr>
          <p:cNvPr id="16" name="Right Arrow 15">
            <a:extLst>
              <a:ext uri="{FF2B5EF4-FFF2-40B4-BE49-F238E27FC236}">
                <a16:creationId xmlns:a16="http://schemas.microsoft.com/office/drawing/2014/main" id="{B57FFD09-9E5E-43E7-BBE7-57B94EC2EB60}"/>
              </a:ext>
            </a:extLst>
          </p:cNvPr>
          <p:cNvSpPr>
            <a:spLocks noGrp="1"/>
          </p:cNvSpPr>
          <p:nvPr/>
        </p:nvSpPr>
        <p:spPr>
          <a:xfrm>
            <a:off x="2762250" y="3543300"/>
            <a:ext cx="3619500" cy="104775"/>
          </a:xfrm>
          <a:prstGeom prst="rightArrow">
            <a:avLst/>
          </a:prstGeom>
          <a:solidFill>
            <a:srgbClr val="8AA0A4"/>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F292DA21-AD43-43BB-B30E-FC0222C82EF7}"/>
              </a:ext>
            </a:extLst>
          </p:cNvPr>
          <p:cNvSpPr>
            <a:spLocks noGrp="1"/>
          </p:cNvSpPr>
          <p:nvPr/>
        </p:nvSpPr>
        <p:spPr>
          <a:xfrm>
            <a:off x="2762250" y="3314700"/>
            <a:ext cx="361950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hybrid text + vector</a:t>
            </a:r>
          </a:p>
        </p:txBody>
      </p:sp>
      <p:sp>
        <p:nvSpPr>
          <p:cNvPr id="18" name="Left Arrow 17">
            <a:extLst>
              <a:ext uri="{FF2B5EF4-FFF2-40B4-BE49-F238E27FC236}">
                <a16:creationId xmlns:a16="http://schemas.microsoft.com/office/drawing/2014/main" id="{97C2986C-7497-471F-B977-D678F9B9729C}"/>
              </a:ext>
            </a:extLst>
          </p:cNvPr>
          <p:cNvSpPr>
            <a:spLocks noGrp="1"/>
          </p:cNvSpPr>
          <p:nvPr/>
        </p:nvSpPr>
        <p:spPr>
          <a:xfrm>
            <a:off x="2762250" y="3943350"/>
            <a:ext cx="1809750" cy="104775"/>
          </a:xfrm>
          <a:prstGeom prst="leftArrow">
            <a:avLst/>
          </a:prstGeom>
          <a:solidFill>
            <a:srgbClr val="8AA0A4"/>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B63653BC-C89B-4216-AFD5-DFCA90E0DA24}"/>
              </a:ext>
            </a:extLst>
          </p:cNvPr>
          <p:cNvSpPr>
            <a:spLocks noGrp="1"/>
          </p:cNvSpPr>
          <p:nvPr/>
        </p:nvSpPr>
        <p:spPr>
          <a:xfrm>
            <a:off x="2762250" y="3714750"/>
            <a:ext cx="180975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graph moments</a:t>
            </a:r>
          </a:p>
        </p:txBody>
      </p:sp>
      <p:sp>
        <p:nvSpPr>
          <p:cNvPr id="20" name="Left Arrow 19">
            <a:extLst>
              <a:ext uri="{FF2B5EF4-FFF2-40B4-BE49-F238E27FC236}">
                <a16:creationId xmlns:a16="http://schemas.microsoft.com/office/drawing/2014/main" id="{10847267-3488-4DD1-875A-7385D9CBA561}"/>
              </a:ext>
            </a:extLst>
          </p:cNvPr>
          <p:cNvSpPr>
            <a:spLocks noGrp="1"/>
          </p:cNvSpPr>
          <p:nvPr/>
        </p:nvSpPr>
        <p:spPr>
          <a:xfrm>
            <a:off x="2762250" y="4343400"/>
            <a:ext cx="3619500" cy="104775"/>
          </a:xfrm>
          <a:prstGeom prst="leftArrow">
            <a:avLst/>
          </a:prstGeom>
          <a:solidFill>
            <a:srgbClr val="8AA0A4"/>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71653BAF-B515-4908-A0BB-BC4032D43B5A}"/>
              </a:ext>
            </a:extLst>
          </p:cNvPr>
          <p:cNvSpPr>
            <a:spLocks noGrp="1"/>
          </p:cNvSpPr>
          <p:nvPr/>
        </p:nvSpPr>
        <p:spPr>
          <a:xfrm>
            <a:off x="2762250" y="4114800"/>
            <a:ext cx="361950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ranked moments</a:t>
            </a:r>
          </a:p>
        </p:txBody>
      </p:sp>
      <p:sp>
        <p:nvSpPr>
          <p:cNvPr id="22" name="Right Arrow 21">
            <a:extLst>
              <a:ext uri="{FF2B5EF4-FFF2-40B4-BE49-F238E27FC236}">
                <a16:creationId xmlns:a16="http://schemas.microsoft.com/office/drawing/2014/main" id="{ED64BA29-9C4E-4C03-9300-F7E6E6F899E6}"/>
              </a:ext>
            </a:extLst>
          </p:cNvPr>
          <p:cNvSpPr>
            <a:spLocks noGrp="1"/>
          </p:cNvSpPr>
          <p:nvPr/>
        </p:nvSpPr>
        <p:spPr>
          <a:xfrm>
            <a:off x="2762250" y="4743450"/>
            <a:ext cx="5429250" cy="104775"/>
          </a:xfrm>
          <a:prstGeom prst="rightArrow">
            <a:avLst/>
          </a:prstGeom>
          <a:solidFill>
            <a:srgbClr val="8AA0A4"/>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4E1064C-9C75-4F83-BF49-C651D7238A6C}"/>
              </a:ext>
            </a:extLst>
          </p:cNvPr>
          <p:cNvSpPr>
            <a:spLocks noGrp="1"/>
          </p:cNvSpPr>
          <p:nvPr/>
        </p:nvSpPr>
        <p:spPr>
          <a:xfrm>
            <a:off x="2762250" y="4514850"/>
            <a:ext cx="542925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synthesize over retrieved evidence</a:t>
            </a:r>
          </a:p>
        </p:txBody>
      </p:sp>
      <p:sp>
        <p:nvSpPr>
          <p:cNvPr id="24" name="Left Arrow 23">
            <a:extLst>
              <a:ext uri="{FF2B5EF4-FFF2-40B4-BE49-F238E27FC236}">
                <a16:creationId xmlns:a16="http://schemas.microsoft.com/office/drawing/2014/main" id="{A65C1C81-C7E1-4117-9818-7F7881C23941}"/>
              </a:ext>
            </a:extLst>
          </p:cNvPr>
          <p:cNvSpPr>
            <a:spLocks noGrp="1"/>
          </p:cNvSpPr>
          <p:nvPr/>
        </p:nvSpPr>
        <p:spPr>
          <a:xfrm>
            <a:off x="2762250" y="5143500"/>
            <a:ext cx="5429250" cy="104775"/>
          </a:xfrm>
          <a:prstGeom prst="leftArrow">
            <a:avLst/>
          </a:prstGeom>
          <a:solidFill>
            <a:srgbClr val="8AA0A4"/>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1C7ADA98-BEFB-454B-9C20-4B3D8BE14C26}"/>
              </a:ext>
            </a:extLst>
          </p:cNvPr>
          <p:cNvSpPr>
            <a:spLocks noGrp="1"/>
          </p:cNvSpPr>
          <p:nvPr/>
        </p:nvSpPr>
        <p:spPr>
          <a:xfrm>
            <a:off x="2762250" y="4914900"/>
            <a:ext cx="542925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draft with moment UUID markers</a:t>
            </a:r>
          </a:p>
        </p:txBody>
      </p:sp>
      <p:sp>
        <p:nvSpPr>
          <p:cNvPr id="26" name="Right Arrow 25">
            <a:extLst>
              <a:ext uri="{FF2B5EF4-FFF2-40B4-BE49-F238E27FC236}">
                <a16:creationId xmlns:a16="http://schemas.microsoft.com/office/drawing/2014/main" id="{0C5E5F40-B81B-4030-997F-22972029C18B}"/>
              </a:ext>
            </a:extLst>
          </p:cNvPr>
          <p:cNvSpPr>
            <a:spLocks noGrp="1"/>
          </p:cNvSpPr>
          <p:nvPr/>
        </p:nvSpPr>
        <p:spPr>
          <a:xfrm>
            <a:off x="2762250" y="5543550"/>
            <a:ext cx="7239000" cy="104775"/>
          </a:xfrm>
          <a:prstGeom prst="rightArrow">
            <a:avLst/>
          </a:prstGeom>
          <a:solidFill>
            <a:srgbClr val="47C6B7"/>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285387BB-D48C-4A18-96CE-A3F7171F7623}"/>
              </a:ext>
            </a:extLst>
          </p:cNvPr>
          <p:cNvSpPr>
            <a:spLocks noGrp="1"/>
          </p:cNvSpPr>
          <p:nvPr/>
        </p:nvSpPr>
        <p:spPr>
          <a:xfrm>
            <a:off x="2762250" y="5314950"/>
            <a:ext cx="7239000" cy="190500"/>
          </a:xfrm>
          <a:prstGeom prst="rect">
            <a:avLst/>
          </a:prstGeom>
          <a:noFill/>
          <a:ln w="0">
            <a:noFill/>
            <a:prstDash val="solid"/>
          </a:ln>
        </p:spPr>
        <p:txBody>
          <a:bodyPr wrap="square" lIns="0" tIns="0" rIns="0" bIns="0" anchor="t">
            <a:normAutofit/>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validate every citation marker</a:t>
            </a:r>
          </a:p>
        </p:txBody>
      </p:sp>
      <p:sp>
        <p:nvSpPr>
          <p:cNvPr id="28" name="Left Arrow 27">
            <a:extLst>
              <a:ext uri="{FF2B5EF4-FFF2-40B4-BE49-F238E27FC236}">
                <a16:creationId xmlns:a16="http://schemas.microsoft.com/office/drawing/2014/main" id="{CA34FB6B-28AE-4CB1-80A0-3C52A6B2236B}"/>
              </a:ext>
            </a:extLst>
          </p:cNvPr>
          <p:cNvSpPr>
            <a:spLocks noGrp="1"/>
          </p:cNvSpPr>
          <p:nvPr/>
        </p:nvSpPr>
        <p:spPr>
          <a:xfrm>
            <a:off x="952500" y="5905500"/>
            <a:ext cx="1809750" cy="104775"/>
          </a:xfrm>
          <a:prstGeom prst="leftArrow">
            <a:avLst/>
          </a:prstGeom>
          <a:solidFill>
            <a:srgbClr val="47C6B7"/>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98211898-C709-46F5-8D52-459AFA7060E4}"/>
              </a:ext>
            </a:extLst>
          </p:cNvPr>
          <p:cNvSpPr>
            <a:spLocks noGrp="1"/>
          </p:cNvSpPr>
          <p:nvPr/>
        </p:nvSpPr>
        <p:spPr>
          <a:xfrm>
            <a:off x="952500" y="5676900"/>
            <a:ext cx="1809750" cy="190500"/>
          </a:xfrm>
          <a:prstGeom prst="rect">
            <a:avLst/>
          </a:prstGeom>
          <a:noFill/>
          <a:ln w="0">
            <a:noFill/>
            <a:prstDash val="solid"/>
          </a:ln>
        </p:spPr>
        <p:txBody>
          <a:bodyPr wrap="square" lIns="0" tIns="0" rIns="0" bIns="0" anchor="t">
            <a:normAutofit fontScale="91627" lnSpcReduction="20000"/>
          </a:bodyPr>
          <a:lstStyle/>
          <a:p>
            <a:pPr algn="ctr">
              <a:defRPr sz="975" b="0">
                <a:solidFill>
                  <a:srgbClr val="E8F0EF"/>
                </a:solidFill>
                <a:latin typeface="Arial"/>
                <a:ea typeface="Arial"/>
                <a:cs typeface="Arial"/>
              </a:defRPr>
            </a:pPr>
            <a:r>
              <a:rPr sz="975" b="0">
                <a:solidFill>
                  <a:srgbClr val="E8F0EF"/>
                </a:solidFill>
                <a:latin typeface="Arial"/>
                <a:ea typeface="Arial"/>
                <a:cs typeface="Arial"/>
              </a:rPr>
              <a:t>all resolve → stream answer + citations</a:t>
            </a:r>
          </a:p>
        </p:txBody>
      </p:sp>
      <p:sp>
        <p:nvSpPr>
          <p:cNvPr id="30" name="Rounded Rectangle 29">
            <a:extLst>
              <a:ext uri="{FF2B5EF4-FFF2-40B4-BE49-F238E27FC236}">
                <a16:creationId xmlns:a16="http://schemas.microsoft.com/office/drawing/2014/main" id="{262D28D6-AA30-4846-9B6B-87A5D93D48B8}"/>
              </a:ext>
            </a:extLst>
          </p:cNvPr>
          <p:cNvSpPr>
            <a:spLocks noGrp="1"/>
          </p:cNvSpPr>
          <p:nvPr/>
        </p:nvSpPr>
        <p:spPr>
          <a:xfrm>
            <a:off x="342900" y="1619250"/>
            <a:ext cx="1219200" cy="495300"/>
          </a:xfrm>
          <a:prstGeom prst="roundRect">
            <a:avLst>
              <a:gd name="adj" fmla="val 15385"/>
            </a:avLst>
          </a:prstGeom>
          <a:solidFill>
            <a:srgbClr val="111D22"/>
          </a:solidFill>
          <a:ln w="14288">
            <a:solidFill>
              <a:srgbClr val="47C6B7"/>
            </a:solidFill>
            <a:prstDash val="solid"/>
          </a:ln>
        </p:spPr>
        <p:txBody>
          <a:bodyPr/>
          <a:lstStyle/>
          <a:p>
            <a:endParaRPr lang="en-US"/>
          </a:p>
        </p:txBody>
      </p:sp>
      <p:sp>
        <p:nvSpPr>
          <p:cNvPr id="31" name="Rectangle 30">
            <a:extLst>
              <a:ext uri="{FF2B5EF4-FFF2-40B4-BE49-F238E27FC236}">
                <a16:creationId xmlns:a16="http://schemas.microsoft.com/office/drawing/2014/main" id="{275C25B9-4ECC-4673-8FE0-B1C362DFA9D6}"/>
              </a:ext>
            </a:extLst>
          </p:cNvPr>
          <p:cNvSpPr>
            <a:spLocks noGrp="1"/>
          </p:cNvSpPr>
          <p:nvPr/>
        </p:nvSpPr>
        <p:spPr>
          <a:xfrm>
            <a:off x="438150" y="1685925"/>
            <a:ext cx="10287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User</a:t>
            </a:r>
          </a:p>
        </p:txBody>
      </p:sp>
      <p:sp>
        <p:nvSpPr>
          <p:cNvPr id="32" name="Rounded Rectangle 31">
            <a:extLst>
              <a:ext uri="{FF2B5EF4-FFF2-40B4-BE49-F238E27FC236}">
                <a16:creationId xmlns:a16="http://schemas.microsoft.com/office/drawing/2014/main" id="{573E29B3-B4BD-495A-AA01-B0A75D8385D6}"/>
              </a:ext>
            </a:extLst>
          </p:cNvPr>
          <p:cNvSpPr>
            <a:spLocks noGrp="1"/>
          </p:cNvSpPr>
          <p:nvPr/>
        </p:nvSpPr>
        <p:spPr>
          <a:xfrm>
            <a:off x="2152650" y="1619250"/>
            <a:ext cx="1219200" cy="495300"/>
          </a:xfrm>
          <a:prstGeom prst="roundRect">
            <a:avLst>
              <a:gd name="adj" fmla="val 15385"/>
            </a:avLst>
          </a:prstGeom>
          <a:solidFill>
            <a:srgbClr val="111D22"/>
          </a:solidFill>
          <a:ln w="14288">
            <a:solidFill>
              <a:srgbClr val="47C6B7"/>
            </a:solidFill>
            <a:prstDash val="solid"/>
          </a:ln>
        </p:spPr>
        <p:txBody>
          <a:bodyPr/>
          <a:lstStyle/>
          <a:p>
            <a:endParaRPr lang="en-US"/>
          </a:p>
        </p:txBody>
      </p:sp>
      <p:sp>
        <p:nvSpPr>
          <p:cNvPr id="33" name="Rectangle 32">
            <a:extLst>
              <a:ext uri="{FF2B5EF4-FFF2-40B4-BE49-F238E27FC236}">
                <a16:creationId xmlns:a16="http://schemas.microsoft.com/office/drawing/2014/main" id="{0BDF8646-86D1-4DAD-9730-4AB4707F4B4E}"/>
              </a:ext>
            </a:extLst>
          </p:cNvPr>
          <p:cNvSpPr>
            <a:spLocks noGrp="1"/>
          </p:cNvSpPr>
          <p:nvPr/>
        </p:nvSpPr>
        <p:spPr>
          <a:xfrm>
            <a:off x="2247900" y="1685925"/>
            <a:ext cx="10287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API</a:t>
            </a:r>
          </a:p>
        </p:txBody>
      </p:sp>
      <p:sp>
        <p:nvSpPr>
          <p:cNvPr id="34" name="Rounded Rectangle 33">
            <a:extLst>
              <a:ext uri="{FF2B5EF4-FFF2-40B4-BE49-F238E27FC236}">
                <a16:creationId xmlns:a16="http://schemas.microsoft.com/office/drawing/2014/main" id="{F13BDBC0-C6E8-4B16-A1FB-6816E4135039}"/>
              </a:ext>
            </a:extLst>
          </p:cNvPr>
          <p:cNvSpPr>
            <a:spLocks noGrp="1"/>
          </p:cNvSpPr>
          <p:nvPr/>
        </p:nvSpPr>
        <p:spPr>
          <a:xfrm>
            <a:off x="3962400" y="1619250"/>
            <a:ext cx="1219200" cy="495300"/>
          </a:xfrm>
          <a:prstGeom prst="roundRect">
            <a:avLst>
              <a:gd name="adj" fmla="val 15385"/>
            </a:avLst>
          </a:prstGeom>
          <a:solidFill>
            <a:srgbClr val="111D22"/>
          </a:solidFill>
          <a:ln w="14288">
            <a:solidFill>
              <a:srgbClr val="3B82A6"/>
            </a:solidFill>
            <a:prstDash val="solid"/>
          </a:ln>
        </p:spPr>
        <p:txBody>
          <a:bodyPr/>
          <a:lstStyle/>
          <a:p>
            <a:endParaRPr lang="en-US"/>
          </a:p>
        </p:txBody>
      </p:sp>
      <p:sp>
        <p:nvSpPr>
          <p:cNvPr id="35" name="Rectangle 34">
            <a:extLst>
              <a:ext uri="{FF2B5EF4-FFF2-40B4-BE49-F238E27FC236}">
                <a16:creationId xmlns:a16="http://schemas.microsoft.com/office/drawing/2014/main" id="{B543278D-21AD-48E5-9181-0D7AF3D189F0}"/>
              </a:ext>
            </a:extLst>
          </p:cNvPr>
          <p:cNvSpPr>
            <a:spLocks noGrp="1"/>
          </p:cNvSpPr>
          <p:nvPr/>
        </p:nvSpPr>
        <p:spPr>
          <a:xfrm>
            <a:off x="4057650" y="1685925"/>
            <a:ext cx="10287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Neo4j</a:t>
            </a:r>
          </a:p>
        </p:txBody>
      </p:sp>
      <p:sp>
        <p:nvSpPr>
          <p:cNvPr id="36" name="Rounded Rectangle 35">
            <a:extLst>
              <a:ext uri="{FF2B5EF4-FFF2-40B4-BE49-F238E27FC236}">
                <a16:creationId xmlns:a16="http://schemas.microsoft.com/office/drawing/2014/main" id="{04A4517C-019A-47A2-8FF5-C52FE7EE5FA5}"/>
              </a:ext>
            </a:extLst>
          </p:cNvPr>
          <p:cNvSpPr>
            <a:spLocks noGrp="1"/>
          </p:cNvSpPr>
          <p:nvPr/>
        </p:nvSpPr>
        <p:spPr>
          <a:xfrm>
            <a:off x="5715000" y="1619250"/>
            <a:ext cx="1333500" cy="495300"/>
          </a:xfrm>
          <a:prstGeom prst="roundRect">
            <a:avLst>
              <a:gd name="adj" fmla="val 15385"/>
            </a:avLst>
          </a:prstGeom>
          <a:solidFill>
            <a:srgbClr val="111D22"/>
          </a:solidFill>
          <a:ln w="14288">
            <a:solidFill>
              <a:srgbClr val="A88BFF"/>
            </a:solidFill>
            <a:prstDash val="solid"/>
          </a:ln>
        </p:spPr>
        <p:txBody>
          <a:bodyPr/>
          <a:lstStyle/>
          <a:p>
            <a:endParaRPr lang="en-US"/>
          </a:p>
        </p:txBody>
      </p:sp>
      <p:sp>
        <p:nvSpPr>
          <p:cNvPr id="37" name="Rectangle 36">
            <a:extLst>
              <a:ext uri="{FF2B5EF4-FFF2-40B4-BE49-F238E27FC236}">
                <a16:creationId xmlns:a16="http://schemas.microsoft.com/office/drawing/2014/main" id="{BC068248-8900-47E9-92F4-6214F77CEEB3}"/>
              </a:ext>
            </a:extLst>
          </p:cNvPr>
          <p:cNvSpPr>
            <a:spLocks noGrp="1"/>
          </p:cNvSpPr>
          <p:nvPr/>
        </p:nvSpPr>
        <p:spPr>
          <a:xfrm>
            <a:off x="5810250" y="1685925"/>
            <a:ext cx="11430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Meilisearch</a:t>
            </a:r>
          </a:p>
        </p:txBody>
      </p:sp>
      <p:sp>
        <p:nvSpPr>
          <p:cNvPr id="38" name="Rounded Rectangle 37">
            <a:extLst>
              <a:ext uri="{FF2B5EF4-FFF2-40B4-BE49-F238E27FC236}">
                <a16:creationId xmlns:a16="http://schemas.microsoft.com/office/drawing/2014/main" id="{AFCDC307-30C3-4626-8915-323625604F86}"/>
              </a:ext>
            </a:extLst>
          </p:cNvPr>
          <p:cNvSpPr>
            <a:spLocks noGrp="1"/>
          </p:cNvSpPr>
          <p:nvPr/>
        </p:nvSpPr>
        <p:spPr>
          <a:xfrm>
            <a:off x="7581900" y="1619250"/>
            <a:ext cx="1219200" cy="495300"/>
          </a:xfrm>
          <a:prstGeom prst="roundRect">
            <a:avLst>
              <a:gd name="adj" fmla="val 15385"/>
            </a:avLst>
          </a:prstGeom>
          <a:solidFill>
            <a:srgbClr val="111D22"/>
          </a:solidFill>
          <a:ln w="14288">
            <a:solidFill>
              <a:srgbClr val="A88BFF"/>
            </a:solidFill>
            <a:prstDash val="solid"/>
          </a:ln>
        </p:spPr>
        <p:txBody>
          <a:bodyPr/>
          <a:lstStyle/>
          <a:p>
            <a:endParaRPr lang="en-US"/>
          </a:p>
        </p:txBody>
      </p:sp>
      <p:sp>
        <p:nvSpPr>
          <p:cNvPr id="39" name="Rectangle 38">
            <a:extLst>
              <a:ext uri="{FF2B5EF4-FFF2-40B4-BE49-F238E27FC236}">
                <a16:creationId xmlns:a16="http://schemas.microsoft.com/office/drawing/2014/main" id="{96BD2BD1-7EDA-4622-AE62-3BB09C38CA72}"/>
              </a:ext>
            </a:extLst>
          </p:cNvPr>
          <p:cNvSpPr>
            <a:spLocks noGrp="1"/>
          </p:cNvSpPr>
          <p:nvPr/>
        </p:nvSpPr>
        <p:spPr>
          <a:xfrm>
            <a:off x="7677150" y="1685925"/>
            <a:ext cx="10287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LLM</a:t>
            </a:r>
          </a:p>
        </p:txBody>
      </p:sp>
      <p:sp>
        <p:nvSpPr>
          <p:cNvPr id="40" name="Rounded Rectangle 39">
            <a:extLst>
              <a:ext uri="{FF2B5EF4-FFF2-40B4-BE49-F238E27FC236}">
                <a16:creationId xmlns:a16="http://schemas.microsoft.com/office/drawing/2014/main" id="{222D1A59-FAA4-42E3-AD59-DDA0544073E0}"/>
              </a:ext>
            </a:extLst>
          </p:cNvPr>
          <p:cNvSpPr>
            <a:spLocks noGrp="1"/>
          </p:cNvSpPr>
          <p:nvPr/>
        </p:nvSpPr>
        <p:spPr>
          <a:xfrm>
            <a:off x="9391650" y="1619250"/>
            <a:ext cx="1219200" cy="495300"/>
          </a:xfrm>
          <a:prstGeom prst="roundRect">
            <a:avLst>
              <a:gd name="adj" fmla="val 15385"/>
            </a:avLst>
          </a:prstGeom>
          <a:solidFill>
            <a:srgbClr val="111D22"/>
          </a:solidFill>
          <a:ln w="14288">
            <a:solidFill>
              <a:srgbClr val="47C6B7"/>
            </a:solidFill>
            <a:prstDash val="solid"/>
          </a:ln>
        </p:spPr>
        <p:txBody>
          <a:bodyPr/>
          <a:lstStyle/>
          <a:p>
            <a:endParaRPr lang="en-US"/>
          </a:p>
        </p:txBody>
      </p:sp>
      <p:sp>
        <p:nvSpPr>
          <p:cNvPr id="41" name="Rectangle 40">
            <a:extLst>
              <a:ext uri="{FF2B5EF4-FFF2-40B4-BE49-F238E27FC236}">
                <a16:creationId xmlns:a16="http://schemas.microsoft.com/office/drawing/2014/main" id="{22692308-D768-47B2-847A-4D6B72C674CE}"/>
              </a:ext>
            </a:extLst>
          </p:cNvPr>
          <p:cNvSpPr>
            <a:spLocks noGrp="1"/>
          </p:cNvSpPr>
          <p:nvPr/>
        </p:nvSpPr>
        <p:spPr>
          <a:xfrm>
            <a:off x="9486900" y="1685925"/>
            <a:ext cx="1028700" cy="361950"/>
          </a:xfrm>
          <a:prstGeom prst="rect">
            <a:avLst/>
          </a:prstGeom>
          <a:noFill/>
          <a:ln w="0">
            <a:noFill/>
            <a:prstDash val="solid"/>
          </a:ln>
        </p:spPr>
        <p:txBody>
          <a:bodyPr wrap="square" lIns="0" tIns="0" rIns="0" bIns="0" anchor="ctr">
            <a:normAutofit/>
          </a:bodyPr>
          <a:lstStyle/>
          <a:p>
            <a:pPr algn="ctr">
              <a:defRPr sz="1200" b="1">
                <a:solidFill>
                  <a:srgbClr val="E8F0EF"/>
                </a:solidFill>
                <a:latin typeface="Arial"/>
                <a:ea typeface="Arial"/>
                <a:cs typeface="Arial"/>
              </a:defRPr>
            </a:pPr>
            <a:r>
              <a:rPr sz="1200" b="1">
                <a:solidFill>
                  <a:srgbClr val="E8F0EF"/>
                </a:solidFill>
                <a:latin typeface="Arial"/>
                <a:ea typeface="Arial"/>
                <a:cs typeface="Arial"/>
              </a:rPr>
              <a:t>Postgres</a:t>
            </a:r>
          </a:p>
        </p:txBody>
      </p:sp>
      <p:sp>
        <p:nvSpPr>
          <p:cNvPr id="42" name="Rectangle 41">
            <a:extLst>
              <a:ext uri="{FF2B5EF4-FFF2-40B4-BE49-F238E27FC236}">
                <a16:creationId xmlns:a16="http://schemas.microsoft.com/office/drawing/2014/main" id="{AF3C55C2-3D97-4E88-B19E-603943AAE517}"/>
              </a:ext>
            </a:extLst>
          </p:cNvPr>
          <p:cNvSpPr>
            <a:spLocks noGrp="1"/>
          </p:cNvSpPr>
          <p:nvPr/>
        </p:nvSpPr>
        <p:spPr>
          <a:xfrm>
            <a:off x="3333750" y="6076950"/>
            <a:ext cx="5524500" cy="171450"/>
          </a:xfrm>
          <a:prstGeom prst="rect">
            <a:avLst/>
          </a:prstGeom>
          <a:noFill/>
          <a:ln w="0">
            <a:noFill/>
            <a:prstDash val="solid"/>
          </a:ln>
        </p:spPr>
        <p:txBody>
          <a:bodyPr wrap="square" lIns="0" tIns="0" rIns="0" bIns="0" anchor="t">
            <a:normAutofit fontScale="93750"/>
          </a:bodyPr>
          <a:lstStyle/>
          <a:p>
            <a:pPr algn="ctr">
              <a:defRPr sz="1200" b="1">
                <a:solidFill>
                  <a:srgbClr val="F07178"/>
                </a:solidFill>
                <a:latin typeface="Arial"/>
                <a:ea typeface="Arial"/>
                <a:cs typeface="Arial"/>
              </a:defRPr>
            </a:pPr>
            <a:r>
              <a:rPr sz="1200" b="1">
                <a:solidFill>
                  <a:srgbClr val="F07178"/>
                </a:solidFill>
                <a:latin typeface="Arial"/>
                <a:ea typeface="Arial"/>
                <a:cs typeface="Arial"/>
              </a:rPr>
              <a:t>Any unresolved marker fails closed: no citation, no answer.</a:t>
            </a:r>
          </a:p>
        </p:txBody>
      </p:sp>
    </p:spTree>
    <p:extLst>
      <p:ext uri="{BB962C8B-B14F-4D97-AF65-F5344CB8AC3E}">
        <p14:creationId xmlns:p14="http://schemas.microsoft.com/office/powerpoint/2010/main" val="59793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4BB36DC-AA0B-4E71-9067-70ED1742613D}"/>
              </a:ext>
            </a:extLst>
          </p:cNvPr>
          <p:cNvSpPr>
            <a:spLocks noGrp="1"/>
          </p:cNvSpPr>
          <p:nvPr/>
        </p:nvSpPr>
        <p:spPr>
          <a:xfrm>
            <a:off x="0" y="0"/>
            <a:ext cx="12192000" cy="66675"/>
          </a:xfrm>
          <a:prstGeom prst="rect">
            <a:avLst/>
          </a:prstGeom>
          <a:solidFill>
            <a:srgbClr val="D8F36A"/>
          </a:solidFill>
          <a:ln w="0">
            <a:noFill/>
            <a:prstDash val="solid"/>
          </a:ln>
        </p:spPr>
        <p:txBody>
          <a:bodyPr/>
          <a:lstStyle/>
          <a:p>
            <a:endParaRPr lang="en-US"/>
          </a:p>
        </p:txBody>
      </p:sp>
      <p:sp>
        <p:nvSpPr>
          <p:cNvPr id="2" name="section-13">
            <a:extLst>
              <a:ext uri="{FF2B5EF4-FFF2-40B4-BE49-F238E27FC236}">
                <a16:creationId xmlns:a16="http://schemas.microsoft.com/office/drawing/2014/main" id="{43FDD582-55D4-4C87-97DB-C2FC1D94EC5D}"/>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D8F36A"/>
                </a:solidFill>
                <a:latin typeface="Arial"/>
                <a:ea typeface="Arial"/>
                <a:cs typeface="Arial"/>
              </a:defRPr>
            </a:pPr>
            <a:r>
              <a:rPr sz="975" b="1">
                <a:solidFill>
                  <a:srgbClr val="D8F36A"/>
                </a:solidFill>
                <a:latin typeface="Arial"/>
                <a:ea typeface="Arial"/>
                <a:cs typeface="Arial"/>
              </a:rPr>
              <a:t>WHAT CAME FORWARD</a:t>
            </a:r>
          </a:p>
        </p:txBody>
      </p:sp>
      <p:sp>
        <p:nvSpPr>
          <p:cNvPr id="3" name="Rectangle 2">
            <a:extLst>
              <a:ext uri="{FF2B5EF4-FFF2-40B4-BE49-F238E27FC236}">
                <a16:creationId xmlns:a16="http://schemas.microsoft.com/office/drawing/2014/main" id="{33DFEF4C-9CB2-458D-A057-6E994F1B33B4}"/>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08</a:t>
            </a:r>
          </a:p>
        </p:txBody>
      </p:sp>
      <p:sp>
        <p:nvSpPr>
          <p:cNvPr id="4" name="Rectangle 3">
            <a:extLst>
              <a:ext uri="{FF2B5EF4-FFF2-40B4-BE49-F238E27FC236}">
                <a16:creationId xmlns:a16="http://schemas.microsoft.com/office/drawing/2014/main" id="{AE8062E8-6DD7-47C4-9FFB-753090DD664F}"/>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214D0317-D22B-41D1-A95C-451B6623CA07}"/>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Prototype features, brought forward onto a durable spine.</a:t>
            </a:r>
          </a:p>
        </p:txBody>
      </p:sp>
      <p:sp>
        <p:nvSpPr>
          <p:cNvPr id="6" name="Right Arrow 5">
            <a:extLst>
              <a:ext uri="{FF2B5EF4-FFF2-40B4-BE49-F238E27FC236}">
                <a16:creationId xmlns:a16="http://schemas.microsoft.com/office/drawing/2014/main" id="{DA62FB13-EB24-4E5F-9273-6BE00DA829EC}"/>
              </a:ext>
            </a:extLst>
          </p:cNvPr>
          <p:cNvSpPr>
            <a:spLocks noGrp="1"/>
          </p:cNvSpPr>
          <p:nvPr/>
        </p:nvSpPr>
        <p:spPr>
          <a:xfrm>
            <a:off x="3981450" y="2981325"/>
            <a:ext cx="914400" cy="266700"/>
          </a:xfrm>
          <a:prstGeom prst="rightArrow">
            <a:avLst/>
          </a:prstGeom>
          <a:solidFill>
            <a:srgbClr val="31444A"/>
          </a:solidFill>
          <a:ln w="0">
            <a:noFill/>
            <a:prstDash val="solid"/>
          </a:ln>
        </p:spPr>
        <p:txBody>
          <a:bodyPr/>
          <a:lstStyle/>
          <a:p>
            <a:endParaRPr lang="en-US"/>
          </a:p>
        </p:txBody>
      </p:sp>
      <p:sp>
        <p:nvSpPr>
          <p:cNvPr id="7" name="Left Arrow 6">
            <a:extLst>
              <a:ext uri="{FF2B5EF4-FFF2-40B4-BE49-F238E27FC236}">
                <a16:creationId xmlns:a16="http://schemas.microsoft.com/office/drawing/2014/main" id="{260FB934-F3F8-4F88-818C-8F254DD4B3F0}"/>
              </a:ext>
            </a:extLst>
          </p:cNvPr>
          <p:cNvSpPr>
            <a:spLocks noGrp="1"/>
          </p:cNvSpPr>
          <p:nvPr/>
        </p:nvSpPr>
        <p:spPr>
          <a:xfrm>
            <a:off x="7315200" y="2981325"/>
            <a:ext cx="914400" cy="266700"/>
          </a:xfrm>
          <a:prstGeom prst="leftArrow">
            <a:avLst/>
          </a:prstGeom>
          <a:solidFill>
            <a:srgbClr val="31444A"/>
          </a:solidFill>
          <a:ln w="0">
            <a:noFill/>
            <a:prstDash val="solid"/>
          </a:ln>
        </p:spPr>
        <p:txBody>
          <a:bodyPr/>
          <a:lstStyle/>
          <a:p>
            <a:endParaRPr lang="en-US"/>
          </a:p>
        </p:txBody>
      </p:sp>
      <p:sp>
        <p:nvSpPr>
          <p:cNvPr id="8" name="Rounded Rectangle 7">
            <a:extLst>
              <a:ext uri="{FF2B5EF4-FFF2-40B4-BE49-F238E27FC236}">
                <a16:creationId xmlns:a16="http://schemas.microsoft.com/office/drawing/2014/main" id="{60D6495D-A497-4467-B681-BA50BE64F5F5}"/>
              </a:ext>
            </a:extLst>
          </p:cNvPr>
          <p:cNvSpPr>
            <a:spLocks noGrp="1"/>
          </p:cNvSpPr>
          <p:nvPr/>
        </p:nvSpPr>
        <p:spPr>
          <a:xfrm>
            <a:off x="685800" y="1809750"/>
            <a:ext cx="3295650" cy="2857500"/>
          </a:xfrm>
          <a:prstGeom prst="roundRect">
            <a:avLst>
              <a:gd name="adj" fmla="val 2667"/>
            </a:avLst>
          </a:prstGeom>
          <a:solidFill>
            <a:srgbClr val="111D22"/>
          </a:solidFill>
          <a:ln w="19050">
            <a:solidFill>
              <a:srgbClr val="F2A93B"/>
            </a:solidFill>
            <a:prstDash val="solid"/>
          </a:ln>
        </p:spPr>
        <p:txBody>
          <a:bodyPr/>
          <a:lstStyle/>
          <a:p>
            <a:endParaRPr lang="en-US"/>
          </a:p>
        </p:txBody>
      </p:sp>
      <p:sp>
        <p:nvSpPr>
          <p:cNvPr id="9" name="Rectangle 8">
            <a:extLst>
              <a:ext uri="{FF2B5EF4-FFF2-40B4-BE49-F238E27FC236}">
                <a16:creationId xmlns:a16="http://schemas.microsoft.com/office/drawing/2014/main" id="{32F9AAFC-8DA9-404A-9F4A-FD286AC49B3D}"/>
              </a:ext>
            </a:extLst>
          </p:cNvPr>
          <p:cNvSpPr>
            <a:spLocks noGrp="1"/>
          </p:cNvSpPr>
          <p:nvPr/>
        </p:nvSpPr>
        <p:spPr>
          <a:xfrm>
            <a:off x="1028700" y="2095500"/>
            <a:ext cx="2381250" cy="209550"/>
          </a:xfrm>
          <a:prstGeom prst="rect">
            <a:avLst/>
          </a:prstGeom>
          <a:noFill/>
          <a:ln w="0">
            <a:noFill/>
            <a:prstDash val="solid"/>
          </a:ln>
        </p:spPr>
        <p:txBody>
          <a:bodyPr wrap="square" lIns="0" tIns="0" rIns="0" bIns="0" anchor="t">
            <a:normAutofit/>
          </a:bodyPr>
          <a:lstStyle/>
          <a:p>
            <a:pPr algn="l">
              <a:defRPr sz="975" b="1">
                <a:solidFill>
                  <a:srgbClr val="F2A93B"/>
                </a:solidFill>
                <a:latin typeface="Arial"/>
                <a:ea typeface="Arial"/>
                <a:cs typeface="Arial"/>
              </a:defRPr>
            </a:pPr>
            <a:r>
              <a:rPr sz="975" b="1">
                <a:solidFill>
                  <a:srgbClr val="F2A93B"/>
                </a:solidFill>
                <a:latin typeface="Arial"/>
                <a:ea typeface="Arial"/>
                <a:cs typeface="Arial"/>
              </a:rPr>
              <a:t>BROUGHT FORWARD</a:t>
            </a:r>
          </a:p>
        </p:txBody>
      </p:sp>
      <p:sp>
        <p:nvSpPr>
          <p:cNvPr id="10" name="Rectangle 9">
            <a:extLst>
              <a:ext uri="{FF2B5EF4-FFF2-40B4-BE49-F238E27FC236}">
                <a16:creationId xmlns:a16="http://schemas.microsoft.com/office/drawing/2014/main" id="{CFC677F5-99CE-402F-BC78-CDF4C62DBA62}"/>
              </a:ext>
            </a:extLst>
          </p:cNvPr>
          <p:cNvSpPr>
            <a:spLocks noGrp="1"/>
          </p:cNvSpPr>
          <p:nvPr/>
        </p:nvSpPr>
        <p:spPr>
          <a:xfrm>
            <a:off x="1028700" y="2533650"/>
            <a:ext cx="2571750" cy="1657350"/>
          </a:xfrm>
          <a:prstGeom prst="rect">
            <a:avLst/>
          </a:prstGeom>
          <a:noFill/>
          <a:ln w="0">
            <a:noFill/>
            <a:prstDash val="solid"/>
          </a:ln>
        </p:spPr>
        <p:txBody>
          <a:bodyPr wrap="square" lIns="0" tIns="0" rIns="0" bIns="0" anchor="t">
            <a:normAutofit/>
          </a:bodyPr>
          <a:lstStyle/>
          <a:p>
            <a:pPr algn="l">
              <a:defRPr sz="1575" b="0">
                <a:solidFill>
                  <a:srgbClr val="E8F0EF"/>
                </a:solidFill>
                <a:latin typeface="Arial"/>
                <a:ea typeface="Arial"/>
                <a:cs typeface="Arial"/>
              </a:defRPr>
            </a:pPr>
            <a:r>
              <a:rPr sz="1575" b="0">
                <a:solidFill>
                  <a:srgbClr val="E8F0EF"/>
                </a:solidFill>
                <a:latin typeface="Arial"/>
                <a:ea typeface="Arial"/>
                <a:cs typeface="Arial"/>
              </a:rPr>
              <a:t>Ask / Thread / timeline</a:t>
            </a:r>
          </a:p>
          <a:p>
            <a:pPr algn="l">
              <a:defRPr sz="1575" b="0">
                <a:solidFill>
                  <a:srgbClr val="E8F0EF"/>
                </a:solidFill>
                <a:latin typeface="Arial"/>
                <a:ea typeface="Arial"/>
                <a:cs typeface="Arial"/>
              </a:defRPr>
            </a:pPr>
            <a:r>
              <a:rPr sz="1575" b="0">
                <a:solidFill>
                  <a:srgbClr val="E8F0EF"/>
                </a:solidFill>
                <a:latin typeface="Arial"/>
                <a:ea typeface="Arial"/>
                <a:cs typeface="Arial"/>
              </a:rPr>
              <a:t>Evidence cards before prose</a:t>
            </a:r>
          </a:p>
          <a:p>
            <a:pPr algn="l">
              <a:defRPr sz="1575" b="0">
                <a:solidFill>
                  <a:srgbClr val="E8F0EF"/>
                </a:solidFill>
                <a:latin typeface="Arial"/>
                <a:ea typeface="Arial"/>
                <a:cs typeface="Arial"/>
              </a:defRPr>
            </a:pPr>
            <a:r>
              <a:rPr sz="1575" b="0">
                <a:solidFill>
                  <a:srgbClr val="E8F0EF"/>
                </a:solidFill>
                <a:latin typeface="Arial"/>
                <a:ea typeface="Arial"/>
                <a:cs typeface="Arial"/>
              </a:rPr>
              <a:t>Screenshot + exact-moment replay</a:t>
            </a:r>
          </a:p>
          <a:p>
            <a:pPr algn="l">
              <a:defRPr sz="1575" b="0">
                <a:solidFill>
                  <a:srgbClr val="E8F0EF"/>
                </a:solidFill>
                <a:latin typeface="Arial"/>
                <a:ea typeface="Arial"/>
                <a:cs typeface="Arial"/>
              </a:defRPr>
            </a:pPr>
            <a:r>
              <a:rPr sz="1575" b="0">
                <a:solidFill>
                  <a:srgbClr val="E8F0EF"/>
                </a:solidFill>
                <a:latin typeface="Arial"/>
                <a:ea typeface="Arial"/>
                <a:cs typeface="Arial"/>
              </a:rPr>
              <a:t>Product-shaped read models</a:t>
            </a:r>
          </a:p>
        </p:txBody>
      </p:sp>
      <p:sp>
        <p:nvSpPr>
          <p:cNvPr id="11" name="Rounded Rectangle 10">
            <a:extLst>
              <a:ext uri="{FF2B5EF4-FFF2-40B4-BE49-F238E27FC236}">
                <a16:creationId xmlns:a16="http://schemas.microsoft.com/office/drawing/2014/main" id="{F4EE87AE-2752-4FBC-BE00-398D6F9DE789}"/>
              </a:ext>
            </a:extLst>
          </p:cNvPr>
          <p:cNvSpPr>
            <a:spLocks noGrp="1"/>
          </p:cNvSpPr>
          <p:nvPr/>
        </p:nvSpPr>
        <p:spPr>
          <a:xfrm>
            <a:off x="4895850" y="1638300"/>
            <a:ext cx="2419350" cy="3200400"/>
          </a:xfrm>
          <a:prstGeom prst="roundRect">
            <a:avLst>
              <a:gd name="adj" fmla="val 3150"/>
            </a:avLst>
          </a:prstGeom>
          <a:solidFill>
            <a:srgbClr val="1B2521"/>
          </a:solidFill>
          <a:ln w="28575">
            <a:solidFill>
              <a:srgbClr val="D8F36A"/>
            </a:solidFill>
            <a:prstDash val="solid"/>
          </a:ln>
        </p:spPr>
        <p:txBody>
          <a:bodyPr/>
          <a:lstStyle/>
          <a:p>
            <a:endParaRPr lang="en-US"/>
          </a:p>
        </p:txBody>
      </p:sp>
      <p:sp>
        <p:nvSpPr>
          <p:cNvPr id="12" name="Rectangle 11">
            <a:extLst>
              <a:ext uri="{FF2B5EF4-FFF2-40B4-BE49-F238E27FC236}">
                <a16:creationId xmlns:a16="http://schemas.microsoft.com/office/drawing/2014/main" id="{2E584836-B540-4D1D-B2C4-BBE80651832F}"/>
              </a:ext>
            </a:extLst>
          </p:cNvPr>
          <p:cNvSpPr>
            <a:spLocks noGrp="1"/>
          </p:cNvSpPr>
          <p:nvPr/>
        </p:nvSpPr>
        <p:spPr>
          <a:xfrm>
            <a:off x="5276850" y="2038350"/>
            <a:ext cx="1657350" cy="247650"/>
          </a:xfrm>
          <a:prstGeom prst="rect">
            <a:avLst/>
          </a:prstGeom>
          <a:noFill/>
          <a:ln w="0">
            <a:noFill/>
            <a:prstDash val="solid"/>
          </a:ln>
        </p:spPr>
        <p:txBody>
          <a:bodyPr wrap="square" lIns="0" tIns="0" rIns="0" bIns="0" anchor="t">
            <a:normAutofit/>
          </a:bodyPr>
          <a:lstStyle/>
          <a:p>
            <a:pPr algn="ctr">
              <a:defRPr sz="1050" b="1">
                <a:solidFill>
                  <a:srgbClr val="D8F36A"/>
                </a:solidFill>
                <a:latin typeface="Arial"/>
                <a:ea typeface="Arial"/>
                <a:cs typeface="Arial"/>
              </a:defRPr>
            </a:pPr>
            <a:r>
              <a:rPr sz="1050" b="1">
                <a:solidFill>
                  <a:srgbClr val="D8F36A"/>
                </a:solidFill>
                <a:latin typeface="Arial"/>
                <a:ea typeface="Arial"/>
                <a:cs typeface="Arial"/>
              </a:rPr>
              <a:t>THE REAL</a:t>
            </a:r>
          </a:p>
          <a:p>
            <a:pPr algn="ctr">
              <a:defRPr sz="1050" b="1">
                <a:solidFill>
                  <a:srgbClr val="D8F36A"/>
                </a:solidFill>
                <a:latin typeface="Arial"/>
                <a:ea typeface="Arial"/>
                <a:cs typeface="Arial"/>
              </a:defRPr>
            </a:pPr>
            <a:r>
              <a:rPr sz="1050" b="1">
                <a:solidFill>
                  <a:srgbClr val="D8F36A"/>
                </a:solidFill>
                <a:latin typeface="Arial"/>
                <a:ea typeface="Arial"/>
                <a:cs typeface="Arial"/>
              </a:rPr>
              <a:t>ARCHITECTURE</a:t>
            </a:r>
          </a:p>
        </p:txBody>
      </p:sp>
      <p:sp>
        <p:nvSpPr>
          <p:cNvPr id="13" name="Rectangle 12">
            <a:extLst>
              <a:ext uri="{FF2B5EF4-FFF2-40B4-BE49-F238E27FC236}">
                <a16:creationId xmlns:a16="http://schemas.microsoft.com/office/drawing/2014/main" id="{6A5A2ABC-423E-4D9B-9BAF-E87BC5210C00}"/>
              </a:ext>
            </a:extLst>
          </p:cNvPr>
          <p:cNvSpPr>
            <a:spLocks noGrp="1"/>
          </p:cNvSpPr>
          <p:nvPr/>
        </p:nvSpPr>
        <p:spPr>
          <a:xfrm>
            <a:off x="5181600" y="2667000"/>
            <a:ext cx="1847850" cy="1028700"/>
          </a:xfrm>
          <a:prstGeom prst="rect">
            <a:avLst/>
          </a:prstGeom>
          <a:noFill/>
          <a:ln w="0">
            <a:noFill/>
            <a:prstDash val="solid"/>
          </a:ln>
        </p:spPr>
        <p:txBody>
          <a:bodyPr wrap="square" lIns="0" tIns="0" rIns="0" bIns="0" anchor="t">
            <a:normAutofit fontScale="96195"/>
          </a:bodyPr>
          <a:lstStyle/>
          <a:p>
            <a:pPr algn="ctr">
              <a:defRPr sz="2325" b="1">
                <a:solidFill>
                  <a:srgbClr val="E8F0EF"/>
                </a:solidFill>
                <a:latin typeface="Arial"/>
                <a:ea typeface="Arial"/>
                <a:cs typeface="Arial"/>
              </a:defRPr>
            </a:pPr>
            <a:r>
              <a:rPr sz="2325" b="1">
                <a:solidFill>
                  <a:srgbClr val="E8F0EF"/>
                </a:solidFill>
                <a:latin typeface="Arial"/>
                <a:ea typeface="Arial"/>
                <a:cs typeface="Arial"/>
              </a:rPr>
              <a:t>A trustworthy</a:t>
            </a:r>
          </a:p>
          <a:p>
            <a:pPr algn="ctr">
              <a:defRPr sz="2325" b="1">
                <a:solidFill>
                  <a:srgbClr val="E8F0EF"/>
                </a:solidFill>
                <a:latin typeface="Arial"/>
                <a:ea typeface="Arial"/>
                <a:cs typeface="Arial"/>
              </a:defRPr>
            </a:pPr>
            <a:r>
              <a:rPr sz="2325" b="1">
                <a:solidFill>
                  <a:srgbClr val="E8F0EF"/>
                </a:solidFill>
                <a:latin typeface="Arial"/>
                <a:ea typeface="Arial"/>
                <a:cs typeface="Arial"/>
              </a:rPr>
              <a:t>evidence product</a:t>
            </a:r>
          </a:p>
        </p:txBody>
      </p:sp>
      <p:sp>
        <p:nvSpPr>
          <p:cNvPr id="14" name="Rectangle 13">
            <a:extLst>
              <a:ext uri="{FF2B5EF4-FFF2-40B4-BE49-F238E27FC236}">
                <a16:creationId xmlns:a16="http://schemas.microsoft.com/office/drawing/2014/main" id="{BD41556D-A023-41BA-8AB6-FC1A1B940BE1}"/>
              </a:ext>
            </a:extLst>
          </p:cNvPr>
          <p:cNvSpPr>
            <a:spLocks noGrp="1"/>
          </p:cNvSpPr>
          <p:nvPr/>
        </p:nvSpPr>
        <p:spPr>
          <a:xfrm>
            <a:off x="5276850" y="3962400"/>
            <a:ext cx="1657350" cy="533400"/>
          </a:xfrm>
          <a:prstGeom prst="rect">
            <a:avLst/>
          </a:prstGeom>
          <a:noFill/>
          <a:ln w="0">
            <a:noFill/>
            <a:prstDash val="solid"/>
          </a:ln>
        </p:spPr>
        <p:txBody>
          <a:bodyPr wrap="square" lIns="0" tIns="0" rIns="0" bIns="0" anchor="t">
            <a:normAutofit/>
          </a:bodyPr>
          <a:lstStyle/>
          <a:p>
            <a:pPr algn="ctr">
              <a:defRPr sz="1350" b="0">
                <a:solidFill>
                  <a:srgbClr val="8AA0A4"/>
                </a:solidFill>
                <a:latin typeface="Arial"/>
                <a:ea typeface="Arial"/>
                <a:cs typeface="Arial"/>
              </a:defRPr>
            </a:pPr>
            <a:r>
              <a:rPr sz="1350" b="0">
                <a:solidFill>
                  <a:srgbClr val="8AA0A4"/>
                </a:solidFill>
                <a:latin typeface="Arial"/>
                <a:ea typeface="Arial"/>
                <a:cs typeface="Arial"/>
              </a:rPr>
              <a:t>delightful to use</a:t>
            </a:r>
          </a:p>
          <a:p>
            <a:pPr algn="ctr">
              <a:defRPr sz="1350" b="0">
                <a:solidFill>
                  <a:srgbClr val="8AA0A4"/>
                </a:solidFill>
                <a:latin typeface="Arial"/>
                <a:ea typeface="Arial"/>
                <a:cs typeface="Arial"/>
              </a:defRPr>
            </a:pPr>
            <a:r>
              <a:rPr sz="1350" b="0">
                <a:solidFill>
                  <a:srgbClr val="8AA0A4"/>
                </a:solidFill>
                <a:latin typeface="Arial"/>
                <a:ea typeface="Arial"/>
                <a:cs typeface="Arial"/>
              </a:rPr>
              <a:t>and safe to evolve</a:t>
            </a:r>
          </a:p>
        </p:txBody>
      </p:sp>
      <p:sp>
        <p:nvSpPr>
          <p:cNvPr id="15" name="Rounded Rectangle 14">
            <a:extLst>
              <a:ext uri="{FF2B5EF4-FFF2-40B4-BE49-F238E27FC236}">
                <a16:creationId xmlns:a16="http://schemas.microsoft.com/office/drawing/2014/main" id="{39965976-81FA-466F-B481-C21B9EFE7537}"/>
              </a:ext>
            </a:extLst>
          </p:cNvPr>
          <p:cNvSpPr>
            <a:spLocks noGrp="1"/>
          </p:cNvSpPr>
          <p:nvPr/>
        </p:nvSpPr>
        <p:spPr>
          <a:xfrm>
            <a:off x="8229600" y="1809750"/>
            <a:ext cx="3276600" cy="2857500"/>
          </a:xfrm>
          <a:prstGeom prst="roundRect">
            <a:avLst>
              <a:gd name="adj" fmla="val 2667"/>
            </a:avLst>
          </a:prstGeom>
          <a:solidFill>
            <a:srgbClr val="111D22"/>
          </a:solidFill>
          <a:ln w="19050">
            <a:solidFill>
              <a:srgbClr val="47C6B7"/>
            </a:solidFill>
            <a:prstDash val="solid"/>
          </a:ln>
        </p:spPr>
        <p:txBody>
          <a:bodyPr/>
          <a:lstStyle/>
          <a:p>
            <a:endParaRPr lang="en-US"/>
          </a:p>
        </p:txBody>
      </p:sp>
      <p:sp>
        <p:nvSpPr>
          <p:cNvPr id="16" name="Rectangle 15">
            <a:extLst>
              <a:ext uri="{FF2B5EF4-FFF2-40B4-BE49-F238E27FC236}">
                <a16:creationId xmlns:a16="http://schemas.microsoft.com/office/drawing/2014/main" id="{36FFB655-E65E-4F80-AE3B-30C37F8BABD2}"/>
              </a:ext>
            </a:extLst>
          </p:cNvPr>
          <p:cNvSpPr>
            <a:spLocks noGrp="1"/>
          </p:cNvSpPr>
          <p:nvPr/>
        </p:nvSpPr>
        <p:spPr>
          <a:xfrm>
            <a:off x="8572500" y="2095500"/>
            <a:ext cx="2381250" cy="20955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THE SPINE IT LANDED ON</a:t>
            </a:r>
          </a:p>
        </p:txBody>
      </p:sp>
      <p:sp>
        <p:nvSpPr>
          <p:cNvPr id="17" name="Rectangle 16">
            <a:extLst>
              <a:ext uri="{FF2B5EF4-FFF2-40B4-BE49-F238E27FC236}">
                <a16:creationId xmlns:a16="http://schemas.microsoft.com/office/drawing/2014/main" id="{FA23CD68-FCC3-4F99-BBE2-C08CE1F7FE81}"/>
              </a:ext>
            </a:extLst>
          </p:cNvPr>
          <p:cNvSpPr>
            <a:spLocks noGrp="1"/>
          </p:cNvSpPr>
          <p:nvPr/>
        </p:nvSpPr>
        <p:spPr>
          <a:xfrm>
            <a:off x="8572500" y="2533650"/>
            <a:ext cx="2571750" cy="1657350"/>
          </a:xfrm>
          <a:prstGeom prst="rect">
            <a:avLst/>
          </a:prstGeom>
          <a:noFill/>
          <a:ln w="0">
            <a:noFill/>
            <a:prstDash val="solid"/>
          </a:ln>
        </p:spPr>
        <p:txBody>
          <a:bodyPr wrap="square" lIns="0" tIns="0" rIns="0" bIns="0" anchor="t">
            <a:normAutofit/>
          </a:bodyPr>
          <a:lstStyle/>
          <a:p>
            <a:pPr algn="l">
              <a:defRPr sz="1575" b="0">
                <a:solidFill>
                  <a:srgbClr val="E8F0EF"/>
                </a:solidFill>
                <a:latin typeface="Arial"/>
                <a:ea typeface="Arial"/>
                <a:cs typeface="Arial"/>
              </a:defRPr>
            </a:pPr>
            <a:r>
              <a:rPr sz="1575" b="0">
                <a:solidFill>
                  <a:srgbClr val="E8F0EF"/>
                </a:solidFill>
                <a:latin typeface="Arial"/>
                <a:ea typeface="Arial"/>
                <a:cs typeface="Arial"/>
              </a:rPr>
              <a:t>Postgres as authority</a:t>
            </a:r>
          </a:p>
          <a:p>
            <a:pPr algn="l">
              <a:defRPr sz="1575" b="0">
                <a:solidFill>
                  <a:srgbClr val="E8F0EF"/>
                </a:solidFill>
                <a:latin typeface="Arial"/>
                <a:ea typeface="Arial"/>
                <a:cs typeface="Arial"/>
              </a:defRPr>
            </a:pPr>
            <a:r>
              <a:rPr sz="1575" b="0">
                <a:solidFill>
                  <a:srgbClr val="E8F0EF"/>
                </a:solidFill>
                <a:latin typeface="Arial"/>
                <a:ea typeface="Arial"/>
                <a:cs typeface="Arial"/>
              </a:rPr>
              <a:t>Durable jobs + checkpoints</a:t>
            </a:r>
          </a:p>
          <a:p>
            <a:pPr algn="l">
              <a:defRPr sz="1575" b="0">
                <a:solidFill>
                  <a:srgbClr val="E8F0EF"/>
                </a:solidFill>
                <a:latin typeface="Arial"/>
                <a:ea typeface="Arial"/>
                <a:cs typeface="Arial"/>
              </a:defRPr>
            </a:pPr>
            <a:r>
              <a:rPr sz="1575" b="0">
                <a:solidFill>
                  <a:srgbClr val="E8F0EF"/>
                </a:solidFill>
                <a:latin typeface="Arial"/>
                <a:ea typeface="Arial"/>
                <a:cs typeface="Arial"/>
              </a:rPr>
              <a:t>Typed OpenAPI contract</a:t>
            </a:r>
          </a:p>
          <a:p>
            <a:pPr algn="l">
              <a:defRPr sz="1575" b="0">
                <a:solidFill>
                  <a:srgbClr val="E8F0EF"/>
                </a:solidFill>
                <a:latin typeface="Arial"/>
                <a:ea typeface="Arial"/>
                <a:cs typeface="Arial"/>
              </a:defRPr>
            </a:pPr>
            <a:r>
              <a:rPr sz="1575" b="0">
                <a:solidFill>
                  <a:srgbClr val="E8F0EF"/>
                </a:solidFill>
                <a:latin typeface="Arial"/>
                <a:ea typeface="Arial"/>
                <a:cs typeface="Arial"/>
              </a:rPr>
              <a:t>Tests + provider ports</a:t>
            </a:r>
          </a:p>
        </p:txBody>
      </p:sp>
      <p:sp>
        <p:nvSpPr>
          <p:cNvPr id="18" name="Rectangle 17">
            <a:extLst>
              <a:ext uri="{FF2B5EF4-FFF2-40B4-BE49-F238E27FC236}">
                <a16:creationId xmlns:a16="http://schemas.microsoft.com/office/drawing/2014/main" id="{B1987D38-8A8A-4190-AD27-529ABC556BCE}"/>
              </a:ext>
            </a:extLst>
          </p:cNvPr>
          <p:cNvSpPr>
            <a:spLocks noGrp="1"/>
          </p:cNvSpPr>
          <p:nvPr/>
        </p:nvSpPr>
        <p:spPr>
          <a:xfrm>
            <a:off x="1962150" y="5276850"/>
            <a:ext cx="8267700" cy="628650"/>
          </a:xfrm>
          <a:prstGeom prst="rect">
            <a:avLst/>
          </a:prstGeom>
          <a:noFill/>
          <a:ln w="0">
            <a:noFill/>
            <a:prstDash val="solid"/>
          </a:ln>
        </p:spPr>
        <p:txBody>
          <a:bodyPr wrap="square" lIns="0" tIns="0" rIns="0" bIns="0" anchor="t">
            <a:normAutofit/>
          </a:bodyPr>
          <a:lstStyle/>
          <a:p>
            <a:pPr algn="ctr">
              <a:defRPr sz="1575" b="1">
                <a:solidFill>
                  <a:srgbClr val="E8F0EF"/>
                </a:solidFill>
                <a:latin typeface="Arial"/>
                <a:ea typeface="Arial"/>
                <a:cs typeface="Arial"/>
              </a:defRPr>
            </a:pPr>
            <a:r>
              <a:rPr sz="1575" b="1">
                <a:solidFill>
                  <a:srgbClr val="E8F0EF"/>
                </a:solidFill>
                <a:latin typeface="Arial"/>
                <a:ea typeface="Arial"/>
                <a:cs typeface="Arial"/>
              </a:rPr>
              <a:t>Challenge before scaling: benchmark whether Postgres FTS + pgvector can replace a separate search service.</a:t>
            </a:r>
          </a:p>
        </p:txBody>
      </p:sp>
    </p:spTree>
    <p:extLst>
      <p:ext uri="{BB962C8B-B14F-4D97-AF65-F5344CB8AC3E}">
        <p14:creationId xmlns:p14="http://schemas.microsoft.com/office/powerpoint/2010/main" val="1580531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2680525-1CB6-47F5-A7DD-3260D89F6A9D}"/>
              </a:ext>
            </a:extLst>
          </p:cNvPr>
          <p:cNvSpPr>
            <a:spLocks noGrp="1"/>
          </p:cNvSpPr>
          <p:nvPr/>
        </p:nvSpPr>
        <p:spPr>
          <a:xfrm>
            <a:off x="0" y="0"/>
            <a:ext cx="12192000" cy="85725"/>
          </a:xfrm>
          <a:prstGeom prst="rect">
            <a:avLst/>
          </a:prstGeom>
          <a:solidFill>
            <a:srgbClr val="47C6B7"/>
          </a:solidFill>
          <a:ln w="0">
            <a:noFill/>
            <a:prstDash val="solid"/>
          </a:ln>
        </p:spPr>
        <p:txBody>
          <a:bodyPr/>
          <a:lstStyle/>
          <a:p>
            <a:endParaRPr lang="en-US"/>
          </a:p>
        </p:txBody>
      </p:sp>
      <p:sp>
        <p:nvSpPr>
          <p:cNvPr id="2" name="demo-title">
            <a:extLst>
              <a:ext uri="{FF2B5EF4-FFF2-40B4-BE49-F238E27FC236}">
                <a16:creationId xmlns:a16="http://schemas.microsoft.com/office/drawing/2014/main" id="{BFC15130-9DF6-4EF2-B60B-9864BA878565}"/>
              </a:ext>
            </a:extLst>
          </p:cNvPr>
          <p:cNvSpPr>
            <a:spLocks noGrp="1"/>
          </p:cNvSpPr>
          <p:nvPr/>
        </p:nvSpPr>
        <p:spPr>
          <a:xfrm>
            <a:off x="685800" y="552450"/>
            <a:ext cx="5334000" cy="1257300"/>
          </a:xfrm>
          <a:prstGeom prst="rect">
            <a:avLst/>
          </a:prstGeom>
          <a:noFill/>
          <a:ln w="0">
            <a:noFill/>
            <a:prstDash val="solid"/>
          </a:ln>
        </p:spPr>
        <p:txBody>
          <a:bodyPr wrap="square" lIns="0" tIns="0" rIns="0" bIns="0" anchor="t">
            <a:normAutofit/>
          </a:bodyPr>
          <a:lstStyle/>
          <a:p>
            <a:pPr algn="l">
              <a:defRPr sz="7800" b="1">
                <a:solidFill>
                  <a:srgbClr val="E8F0EF"/>
                </a:solidFill>
                <a:latin typeface="Arial"/>
                <a:ea typeface="Arial"/>
                <a:cs typeface="Arial"/>
              </a:defRPr>
            </a:pPr>
            <a:r>
              <a:rPr sz="7800" b="1">
                <a:solidFill>
                  <a:srgbClr val="E8F0EF"/>
                </a:solidFill>
                <a:latin typeface="Arial"/>
                <a:ea typeface="Arial"/>
                <a:cs typeface="Arial"/>
              </a:rPr>
              <a:t>DEMO</a:t>
            </a:r>
          </a:p>
        </p:txBody>
      </p:sp>
      <p:sp>
        <p:nvSpPr>
          <p:cNvPr id="3" name="Rectangle 2">
            <a:extLst>
              <a:ext uri="{FF2B5EF4-FFF2-40B4-BE49-F238E27FC236}">
                <a16:creationId xmlns:a16="http://schemas.microsoft.com/office/drawing/2014/main" id="{91910BF0-7DD6-41E5-997C-1AE962D93C01}"/>
              </a:ext>
            </a:extLst>
          </p:cNvPr>
          <p:cNvSpPr>
            <a:spLocks noGrp="1"/>
          </p:cNvSpPr>
          <p:nvPr/>
        </p:nvSpPr>
        <p:spPr>
          <a:xfrm>
            <a:off x="742950" y="1866900"/>
            <a:ext cx="8286750" cy="495300"/>
          </a:xfrm>
          <a:prstGeom prst="rect">
            <a:avLst/>
          </a:prstGeom>
          <a:noFill/>
          <a:ln w="0">
            <a:noFill/>
            <a:prstDash val="solid"/>
          </a:ln>
        </p:spPr>
        <p:txBody>
          <a:bodyPr wrap="square" lIns="0" tIns="0" rIns="0" bIns="0" anchor="t">
            <a:normAutofit/>
          </a:bodyPr>
          <a:lstStyle/>
          <a:p>
            <a:pPr algn="l">
              <a:defRPr sz="2250" b="1">
                <a:solidFill>
                  <a:srgbClr val="E8F0EF"/>
                </a:solidFill>
                <a:latin typeface="Arial"/>
                <a:ea typeface="Arial"/>
                <a:cs typeface="Arial"/>
              </a:defRPr>
            </a:pPr>
            <a:r>
              <a:rPr sz="2250" b="1">
                <a:solidFill>
                  <a:srgbClr val="E8F0EF"/>
                </a:solidFill>
                <a:latin typeface="Arial"/>
                <a:ea typeface="Arial"/>
                <a:cs typeface="Arial"/>
              </a:rPr>
              <a:t>One question. Follow the evidence to the moment.</a:t>
            </a:r>
          </a:p>
        </p:txBody>
      </p:sp>
      <p:sp>
        <p:nvSpPr>
          <p:cNvPr id="4" name="Rectangle 3">
            <a:extLst>
              <a:ext uri="{FF2B5EF4-FFF2-40B4-BE49-F238E27FC236}">
                <a16:creationId xmlns:a16="http://schemas.microsoft.com/office/drawing/2014/main" id="{03F7A3C1-03C5-4055-8757-44C1C28D22A6}"/>
              </a:ext>
            </a:extLst>
          </p:cNvPr>
          <p:cNvSpPr>
            <a:spLocks noGrp="1"/>
          </p:cNvSpPr>
          <p:nvPr/>
        </p:nvSpPr>
        <p:spPr>
          <a:xfrm>
            <a:off x="685800" y="2571750"/>
            <a:ext cx="10820400" cy="28575"/>
          </a:xfrm>
          <a:prstGeom prst="rect">
            <a:avLst/>
          </a:prstGeom>
          <a:solidFill>
            <a:srgbClr val="31444A"/>
          </a:solidFill>
          <a:ln w="0">
            <a:noFill/>
            <a:prstDash val="solid"/>
          </a:ln>
        </p:spPr>
        <p:txBody>
          <a:bodyPr/>
          <a:lstStyle/>
          <a:p>
            <a:endParaRPr lang="en-US"/>
          </a:p>
        </p:txBody>
      </p:sp>
      <p:sp>
        <p:nvSpPr>
          <p:cNvPr id="5" name="Rectangle 4">
            <a:extLst>
              <a:ext uri="{FF2B5EF4-FFF2-40B4-BE49-F238E27FC236}">
                <a16:creationId xmlns:a16="http://schemas.microsoft.com/office/drawing/2014/main" id="{58B90AE4-717A-4DE6-AA58-F8C2F3328909}"/>
              </a:ext>
            </a:extLst>
          </p:cNvPr>
          <p:cNvSpPr>
            <a:spLocks noGrp="1"/>
          </p:cNvSpPr>
          <p:nvPr/>
        </p:nvSpPr>
        <p:spPr>
          <a:xfrm>
            <a:off x="800100" y="2914650"/>
            <a:ext cx="2857500" cy="209550"/>
          </a:xfrm>
          <a:prstGeom prst="rect">
            <a:avLst/>
          </a:prstGeom>
          <a:noFill/>
          <a:ln w="0">
            <a:noFill/>
            <a:prstDash val="solid"/>
          </a:ln>
        </p:spPr>
        <p:txBody>
          <a:bodyPr wrap="square" lIns="0" tIns="0" rIns="0" bIns="0" anchor="t">
            <a:normAutofit/>
          </a:bodyPr>
          <a:lstStyle/>
          <a:p>
            <a:pPr algn="l">
              <a:defRPr sz="975" b="1">
                <a:solidFill>
                  <a:srgbClr val="F2A93B"/>
                </a:solidFill>
                <a:latin typeface="Arial"/>
                <a:ea typeface="Arial"/>
                <a:cs typeface="Arial"/>
              </a:defRPr>
            </a:pPr>
            <a:r>
              <a:rPr sz="975" b="1">
                <a:solidFill>
                  <a:srgbClr val="F2A93B"/>
                </a:solidFill>
                <a:latin typeface="Arial"/>
                <a:ea typeface="Arial"/>
                <a:cs typeface="Arial"/>
              </a:rPr>
              <a:t>ASK · EVIDENCE</a:t>
            </a:r>
          </a:p>
        </p:txBody>
      </p:sp>
      <p:sp>
        <p:nvSpPr>
          <p:cNvPr id="6" name="Right Arrow 5">
            <a:extLst>
              <a:ext uri="{FF2B5EF4-FFF2-40B4-BE49-F238E27FC236}">
                <a16:creationId xmlns:a16="http://schemas.microsoft.com/office/drawing/2014/main" id="{C9B95FDD-A24F-4784-B731-93550DE0BBE1}"/>
              </a:ext>
            </a:extLst>
          </p:cNvPr>
          <p:cNvSpPr>
            <a:spLocks noGrp="1"/>
          </p:cNvSpPr>
          <p:nvPr/>
        </p:nvSpPr>
        <p:spPr>
          <a:xfrm>
            <a:off x="2590800" y="3581400"/>
            <a:ext cx="342900" cy="171450"/>
          </a:xfrm>
          <a:prstGeom prst="rightArrow">
            <a:avLst/>
          </a:prstGeom>
          <a:solidFill>
            <a:srgbClr val="31444A"/>
          </a:solidFill>
          <a:ln w="0">
            <a:noFill/>
            <a:prstDash val="solid"/>
          </a:ln>
        </p:spPr>
        <p:txBody>
          <a:bodyPr/>
          <a:lstStyle/>
          <a:p>
            <a:endParaRPr lang="en-US"/>
          </a:p>
        </p:txBody>
      </p:sp>
      <p:sp>
        <p:nvSpPr>
          <p:cNvPr id="7" name="Right Arrow 6">
            <a:extLst>
              <a:ext uri="{FF2B5EF4-FFF2-40B4-BE49-F238E27FC236}">
                <a16:creationId xmlns:a16="http://schemas.microsoft.com/office/drawing/2014/main" id="{D637A29B-DA33-428B-B125-570FEB9F31BF}"/>
              </a:ext>
            </a:extLst>
          </p:cNvPr>
          <p:cNvSpPr>
            <a:spLocks noGrp="1"/>
          </p:cNvSpPr>
          <p:nvPr/>
        </p:nvSpPr>
        <p:spPr>
          <a:xfrm>
            <a:off x="4833938" y="3581400"/>
            <a:ext cx="342900" cy="171450"/>
          </a:xfrm>
          <a:prstGeom prst="rightArrow">
            <a:avLst/>
          </a:prstGeom>
          <a:solidFill>
            <a:srgbClr val="31444A"/>
          </a:solidFill>
          <a:ln w="0">
            <a:noFill/>
            <a:prstDash val="solid"/>
          </a:ln>
        </p:spPr>
        <p:txBody>
          <a:bodyPr/>
          <a:lstStyle/>
          <a:p>
            <a:endParaRPr lang="en-US"/>
          </a:p>
        </p:txBody>
      </p:sp>
      <p:sp>
        <p:nvSpPr>
          <p:cNvPr id="8" name="Right Arrow 7">
            <a:extLst>
              <a:ext uri="{FF2B5EF4-FFF2-40B4-BE49-F238E27FC236}">
                <a16:creationId xmlns:a16="http://schemas.microsoft.com/office/drawing/2014/main" id="{91D23271-C5A6-46FA-B6DD-A551DBB45A41}"/>
              </a:ext>
            </a:extLst>
          </p:cNvPr>
          <p:cNvSpPr>
            <a:spLocks noGrp="1"/>
          </p:cNvSpPr>
          <p:nvPr/>
        </p:nvSpPr>
        <p:spPr>
          <a:xfrm>
            <a:off x="7077075" y="3581400"/>
            <a:ext cx="342900" cy="171450"/>
          </a:xfrm>
          <a:prstGeom prst="rightArrow">
            <a:avLst/>
          </a:prstGeom>
          <a:solidFill>
            <a:srgbClr val="31444A"/>
          </a:solidFill>
          <a:ln w="0">
            <a:noFill/>
            <a:prstDash val="solid"/>
          </a:ln>
        </p:spPr>
        <p:txBody>
          <a:bodyPr/>
          <a:lstStyle/>
          <a:p>
            <a:endParaRPr lang="en-US"/>
          </a:p>
        </p:txBody>
      </p:sp>
      <p:sp>
        <p:nvSpPr>
          <p:cNvPr id="9" name="Right Arrow 8">
            <a:extLst>
              <a:ext uri="{FF2B5EF4-FFF2-40B4-BE49-F238E27FC236}">
                <a16:creationId xmlns:a16="http://schemas.microsoft.com/office/drawing/2014/main" id="{54F206E7-C6FA-4953-B923-EF338A0E313C}"/>
              </a:ext>
            </a:extLst>
          </p:cNvPr>
          <p:cNvSpPr>
            <a:spLocks noGrp="1"/>
          </p:cNvSpPr>
          <p:nvPr/>
        </p:nvSpPr>
        <p:spPr>
          <a:xfrm>
            <a:off x="9320213" y="3581400"/>
            <a:ext cx="342900" cy="171450"/>
          </a:xfrm>
          <a:prstGeom prst="rightArrow">
            <a:avLst/>
          </a:prstGeom>
          <a:solidFill>
            <a:srgbClr val="31444A"/>
          </a:solidFill>
          <a:ln w="0">
            <a:noFill/>
            <a:prstDash val="solid"/>
          </a:ln>
        </p:spPr>
        <p:txBody>
          <a:bodyPr/>
          <a:lstStyle/>
          <a:p>
            <a:endParaRPr lang="en-US"/>
          </a:p>
        </p:txBody>
      </p:sp>
      <p:sp>
        <p:nvSpPr>
          <p:cNvPr id="10" name="Rounded Rectangle 9">
            <a:extLst>
              <a:ext uri="{FF2B5EF4-FFF2-40B4-BE49-F238E27FC236}">
                <a16:creationId xmlns:a16="http://schemas.microsoft.com/office/drawing/2014/main" id="{4A593B64-2E19-45B2-B549-A510BECC11D3}"/>
              </a:ext>
            </a:extLst>
          </p:cNvPr>
          <p:cNvSpPr>
            <a:spLocks noGrp="1"/>
          </p:cNvSpPr>
          <p:nvPr/>
        </p:nvSpPr>
        <p:spPr>
          <a:xfrm>
            <a:off x="800100" y="3314700"/>
            <a:ext cx="1676400" cy="723900"/>
          </a:xfrm>
          <a:prstGeom prst="roundRect">
            <a:avLst>
              <a:gd name="adj" fmla="val 10526"/>
            </a:avLst>
          </a:prstGeom>
          <a:solidFill>
            <a:srgbClr val="111D22"/>
          </a:solidFill>
          <a:ln w="14288">
            <a:solidFill>
              <a:srgbClr val="F2A93B"/>
            </a:solidFill>
            <a:prstDash val="solid"/>
          </a:ln>
        </p:spPr>
        <p:txBody>
          <a:bodyPr/>
          <a:lstStyle/>
          <a:p>
            <a:endParaRPr lang="en-US"/>
          </a:p>
        </p:txBody>
      </p:sp>
      <p:sp>
        <p:nvSpPr>
          <p:cNvPr id="11" name="Rectangle 10">
            <a:extLst>
              <a:ext uri="{FF2B5EF4-FFF2-40B4-BE49-F238E27FC236}">
                <a16:creationId xmlns:a16="http://schemas.microsoft.com/office/drawing/2014/main" id="{70A867D5-8D96-4C7B-9F2B-58F937BCB6C8}"/>
              </a:ext>
            </a:extLst>
          </p:cNvPr>
          <p:cNvSpPr>
            <a:spLocks noGrp="1"/>
          </p:cNvSpPr>
          <p:nvPr/>
        </p:nvSpPr>
        <p:spPr>
          <a:xfrm>
            <a:off x="895350" y="33813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Ask</a:t>
            </a:r>
          </a:p>
        </p:txBody>
      </p:sp>
      <p:sp>
        <p:nvSpPr>
          <p:cNvPr id="12" name="Rounded Rectangle 11">
            <a:extLst>
              <a:ext uri="{FF2B5EF4-FFF2-40B4-BE49-F238E27FC236}">
                <a16:creationId xmlns:a16="http://schemas.microsoft.com/office/drawing/2014/main" id="{16A282D0-865F-42E3-90C8-A1773669AF91}"/>
              </a:ext>
            </a:extLst>
          </p:cNvPr>
          <p:cNvSpPr>
            <a:spLocks noGrp="1"/>
          </p:cNvSpPr>
          <p:nvPr/>
        </p:nvSpPr>
        <p:spPr>
          <a:xfrm>
            <a:off x="3043238" y="3314700"/>
            <a:ext cx="1676400" cy="723900"/>
          </a:xfrm>
          <a:prstGeom prst="roundRect">
            <a:avLst>
              <a:gd name="adj" fmla="val 10526"/>
            </a:avLst>
          </a:prstGeom>
          <a:solidFill>
            <a:srgbClr val="111D22"/>
          </a:solidFill>
          <a:ln w="14288">
            <a:solidFill>
              <a:srgbClr val="F2A93B"/>
            </a:solidFill>
            <a:prstDash val="solid"/>
          </a:ln>
        </p:spPr>
        <p:txBody>
          <a:bodyPr/>
          <a:lstStyle/>
          <a:p>
            <a:endParaRPr lang="en-US"/>
          </a:p>
        </p:txBody>
      </p:sp>
      <p:sp>
        <p:nvSpPr>
          <p:cNvPr id="13" name="Rectangle 12">
            <a:extLst>
              <a:ext uri="{FF2B5EF4-FFF2-40B4-BE49-F238E27FC236}">
                <a16:creationId xmlns:a16="http://schemas.microsoft.com/office/drawing/2014/main" id="{45DA7B0B-7954-45D9-92D2-A4EBF518A407}"/>
              </a:ext>
            </a:extLst>
          </p:cNvPr>
          <p:cNvSpPr>
            <a:spLocks noGrp="1"/>
          </p:cNvSpPr>
          <p:nvPr/>
        </p:nvSpPr>
        <p:spPr>
          <a:xfrm>
            <a:off x="3138488" y="33813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Evidence cards</a:t>
            </a:r>
          </a:p>
        </p:txBody>
      </p:sp>
      <p:sp>
        <p:nvSpPr>
          <p:cNvPr id="14" name="Rounded Rectangle 13">
            <a:extLst>
              <a:ext uri="{FF2B5EF4-FFF2-40B4-BE49-F238E27FC236}">
                <a16:creationId xmlns:a16="http://schemas.microsoft.com/office/drawing/2014/main" id="{980AAC83-0311-469A-AA76-6C61EA5CD564}"/>
              </a:ext>
            </a:extLst>
          </p:cNvPr>
          <p:cNvSpPr>
            <a:spLocks noGrp="1"/>
          </p:cNvSpPr>
          <p:nvPr/>
        </p:nvSpPr>
        <p:spPr>
          <a:xfrm>
            <a:off x="5286375" y="3314700"/>
            <a:ext cx="1676400" cy="723900"/>
          </a:xfrm>
          <a:prstGeom prst="roundRect">
            <a:avLst>
              <a:gd name="adj" fmla="val 10526"/>
            </a:avLst>
          </a:prstGeom>
          <a:solidFill>
            <a:srgbClr val="111D22"/>
          </a:solidFill>
          <a:ln w="14288">
            <a:solidFill>
              <a:srgbClr val="F2A93B"/>
            </a:solidFill>
            <a:prstDash val="solid"/>
          </a:ln>
        </p:spPr>
        <p:txBody>
          <a:bodyPr/>
          <a:lstStyle/>
          <a:p>
            <a:endParaRPr lang="en-US"/>
          </a:p>
        </p:txBody>
      </p:sp>
      <p:sp>
        <p:nvSpPr>
          <p:cNvPr id="15" name="Rectangle 14">
            <a:extLst>
              <a:ext uri="{FF2B5EF4-FFF2-40B4-BE49-F238E27FC236}">
                <a16:creationId xmlns:a16="http://schemas.microsoft.com/office/drawing/2014/main" id="{187E7234-F19D-4A35-877B-8EE357CADDAD}"/>
              </a:ext>
            </a:extLst>
          </p:cNvPr>
          <p:cNvSpPr>
            <a:spLocks noGrp="1"/>
          </p:cNvSpPr>
          <p:nvPr/>
        </p:nvSpPr>
        <p:spPr>
          <a:xfrm>
            <a:off x="5381625" y="33813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Screenshot</a:t>
            </a:r>
          </a:p>
        </p:txBody>
      </p:sp>
      <p:sp>
        <p:nvSpPr>
          <p:cNvPr id="16" name="Rounded Rectangle 15">
            <a:extLst>
              <a:ext uri="{FF2B5EF4-FFF2-40B4-BE49-F238E27FC236}">
                <a16:creationId xmlns:a16="http://schemas.microsoft.com/office/drawing/2014/main" id="{5703099D-963E-412A-8949-F919CAFE9AEE}"/>
              </a:ext>
            </a:extLst>
          </p:cNvPr>
          <p:cNvSpPr>
            <a:spLocks noGrp="1"/>
          </p:cNvSpPr>
          <p:nvPr/>
        </p:nvSpPr>
        <p:spPr>
          <a:xfrm>
            <a:off x="7529513" y="3314700"/>
            <a:ext cx="1676400" cy="723900"/>
          </a:xfrm>
          <a:prstGeom prst="roundRect">
            <a:avLst>
              <a:gd name="adj" fmla="val 10526"/>
            </a:avLst>
          </a:prstGeom>
          <a:solidFill>
            <a:srgbClr val="111D22"/>
          </a:solidFill>
          <a:ln w="14288">
            <a:solidFill>
              <a:srgbClr val="F2A93B"/>
            </a:solidFill>
            <a:prstDash val="solid"/>
          </a:ln>
        </p:spPr>
        <p:txBody>
          <a:bodyPr/>
          <a:lstStyle/>
          <a:p>
            <a:endParaRPr lang="en-US"/>
          </a:p>
        </p:txBody>
      </p:sp>
      <p:sp>
        <p:nvSpPr>
          <p:cNvPr id="17" name="Rectangle 16">
            <a:extLst>
              <a:ext uri="{FF2B5EF4-FFF2-40B4-BE49-F238E27FC236}">
                <a16:creationId xmlns:a16="http://schemas.microsoft.com/office/drawing/2014/main" id="{5D7B0A04-75D1-4D3B-BA65-359C9FAADA2F}"/>
              </a:ext>
            </a:extLst>
          </p:cNvPr>
          <p:cNvSpPr>
            <a:spLocks noGrp="1"/>
          </p:cNvSpPr>
          <p:nvPr/>
        </p:nvSpPr>
        <p:spPr>
          <a:xfrm>
            <a:off x="7624763" y="33813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Replay</a:t>
            </a:r>
          </a:p>
        </p:txBody>
      </p:sp>
      <p:sp>
        <p:nvSpPr>
          <p:cNvPr id="18" name="Rounded Rectangle 17">
            <a:extLst>
              <a:ext uri="{FF2B5EF4-FFF2-40B4-BE49-F238E27FC236}">
                <a16:creationId xmlns:a16="http://schemas.microsoft.com/office/drawing/2014/main" id="{62A6A86B-0A74-4614-9D33-CF587A45D84D}"/>
              </a:ext>
            </a:extLst>
          </p:cNvPr>
          <p:cNvSpPr>
            <a:spLocks noGrp="1"/>
          </p:cNvSpPr>
          <p:nvPr/>
        </p:nvSpPr>
        <p:spPr>
          <a:xfrm>
            <a:off x="9772650" y="3314700"/>
            <a:ext cx="1676400" cy="723900"/>
          </a:xfrm>
          <a:prstGeom prst="roundRect">
            <a:avLst>
              <a:gd name="adj" fmla="val 10526"/>
            </a:avLst>
          </a:prstGeom>
          <a:solidFill>
            <a:srgbClr val="111D22"/>
          </a:solidFill>
          <a:ln w="14288">
            <a:solidFill>
              <a:srgbClr val="F2A93B"/>
            </a:solidFill>
            <a:prstDash val="solid"/>
          </a:ln>
        </p:spPr>
        <p:txBody>
          <a:bodyPr/>
          <a:lstStyle/>
          <a:p>
            <a:endParaRPr lang="en-US"/>
          </a:p>
        </p:txBody>
      </p:sp>
      <p:sp>
        <p:nvSpPr>
          <p:cNvPr id="19" name="Rectangle 18">
            <a:extLst>
              <a:ext uri="{FF2B5EF4-FFF2-40B4-BE49-F238E27FC236}">
                <a16:creationId xmlns:a16="http://schemas.microsoft.com/office/drawing/2014/main" id="{44B22871-21F2-4F96-A60A-1116B5813E29}"/>
              </a:ext>
            </a:extLst>
          </p:cNvPr>
          <p:cNvSpPr>
            <a:spLocks noGrp="1"/>
          </p:cNvSpPr>
          <p:nvPr/>
        </p:nvSpPr>
        <p:spPr>
          <a:xfrm>
            <a:off x="9867900" y="33813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Topic trail</a:t>
            </a:r>
          </a:p>
        </p:txBody>
      </p:sp>
      <p:sp>
        <p:nvSpPr>
          <p:cNvPr id="20" name="Rectangle 19">
            <a:extLst>
              <a:ext uri="{FF2B5EF4-FFF2-40B4-BE49-F238E27FC236}">
                <a16:creationId xmlns:a16="http://schemas.microsoft.com/office/drawing/2014/main" id="{477FA3F1-B292-45A9-8C82-98AD3C2BAF14}"/>
              </a:ext>
            </a:extLst>
          </p:cNvPr>
          <p:cNvSpPr>
            <a:spLocks noGrp="1"/>
          </p:cNvSpPr>
          <p:nvPr/>
        </p:nvSpPr>
        <p:spPr>
          <a:xfrm>
            <a:off x="800100" y="4591050"/>
            <a:ext cx="2857500" cy="209550"/>
          </a:xfrm>
          <a:prstGeom prst="rect">
            <a:avLst/>
          </a:prstGeom>
          <a:noFill/>
          <a:ln w="0">
            <a:noFill/>
            <a:prstDash val="solid"/>
          </a:ln>
        </p:spPr>
        <p:txBody>
          <a:bodyPr wrap="square" lIns="0" tIns="0" rIns="0" bIns="0" anchor="t">
            <a:normAutofit/>
          </a:bodyPr>
          <a:lstStyle/>
          <a:p>
            <a:pPr algn="l">
              <a:defRPr sz="975" b="1">
                <a:solidFill>
                  <a:srgbClr val="47C6B7"/>
                </a:solidFill>
                <a:latin typeface="Arial"/>
                <a:ea typeface="Arial"/>
                <a:cs typeface="Arial"/>
              </a:defRPr>
            </a:pPr>
            <a:r>
              <a:rPr sz="975" b="1">
                <a:solidFill>
                  <a:srgbClr val="47C6B7"/>
                </a:solidFill>
                <a:latin typeface="Arial"/>
                <a:ea typeface="Arial"/>
                <a:cs typeface="Arial"/>
              </a:rPr>
              <a:t>CORPUS · PIPELINE</a:t>
            </a:r>
          </a:p>
        </p:txBody>
      </p:sp>
      <p:sp>
        <p:nvSpPr>
          <p:cNvPr id="21" name="Right Arrow 20">
            <a:extLst>
              <a:ext uri="{FF2B5EF4-FFF2-40B4-BE49-F238E27FC236}">
                <a16:creationId xmlns:a16="http://schemas.microsoft.com/office/drawing/2014/main" id="{D79642A7-CC53-45F4-9331-5AED0A64AAE4}"/>
              </a:ext>
            </a:extLst>
          </p:cNvPr>
          <p:cNvSpPr>
            <a:spLocks noGrp="1"/>
          </p:cNvSpPr>
          <p:nvPr/>
        </p:nvSpPr>
        <p:spPr>
          <a:xfrm>
            <a:off x="2590800" y="5257800"/>
            <a:ext cx="342900" cy="171450"/>
          </a:xfrm>
          <a:prstGeom prst="rightArrow">
            <a:avLst/>
          </a:prstGeom>
          <a:solidFill>
            <a:srgbClr val="31444A"/>
          </a:solidFill>
          <a:ln w="0">
            <a:noFill/>
            <a:prstDash val="solid"/>
          </a:ln>
        </p:spPr>
        <p:txBody>
          <a:bodyPr/>
          <a:lstStyle/>
          <a:p>
            <a:endParaRPr lang="en-US"/>
          </a:p>
        </p:txBody>
      </p:sp>
      <p:sp>
        <p:nvSpPr>
          <p:cNvPr id="22" name="Right Arrow 21">
            <a:extLst>
              <a:ext uri="{FF2B5EF4-FFF2-40B4-BE49-F238E27FC236}">
                <a16:creationId xmlns:a16="http://schemas.microsoft.com/office/drawing/2014/main" id="{BA4C14BB-AEE8-4105-982F-121387E307FA}"/>
              </a:ext>
            </a:extLst>
          </p:cNvPr>
          <p:cNvSpPr>
            <a:spLocks noGrp="1"/>
          </p:cNvSpPr>
          <p:nvPr/>
        </p:nvSpPr>
        <p:spPr>
          <a:xfrm>
            <a:off x="4833938" y="5257800"/>
            <a:ext cx="342900" cy="171450"/>
          </a:xfrm>
          <a:prstGeom prst="rightArrow">
            <a:avLst/>
          </a:prstGeom>
          <a:solidFill>
            <a:srgbClr val="31444A"/>
          </a:solidFill>
          <a:ln w="0">
            <a:noFill/>
            <a:prstDash val="solid"/>
          </a:ln>
        </p:spPr>
        <p:txBody>
          <a:bodyPr/>
          <a:lstStyle/>
          <a:p>
            <a:endParaRPr lang="en-US"/>
          </a:p>
        </p:txBody>
      </p:sp>
      <p:sp>
        <p:nvSpPr>
          <p:cNvPr id="23" name="Right Arrow 22">
            <a:extLst>
              <a:ext uri="{FF2B5EF4-FFF2-40B4-BE49-F238E27FC236}">
                <a16:creationId xmlns:a16="http://schemas.microsoft.com/office/drawing/2014/main" id="{E3361A6B-5C3D-4C6D-BDF6-50754F1FBDA4}"/>
              </a:ext>
            </a:extLst>
          </p:cNvPr>
          <p:cNvSpPr>
            <a:spLocks noGrp="1"/>
          </p:cNvSpPr>
          <p:nvPr/>
        </p:nvSpPr>
        <p:spPr>
          <a:xfrm>
            <a:off x="7077075" y="5257800"/>
            <a:ext cx="342900" cy="171450"/>
          </a:xfrm>
          <a:prstGeom prst="rightArrow">
            <a:avLst/>
          </a:prstGeom>
          <a:solidFill>
            <a:srgbClr val="31444A"/>
          </a:solidFill>
          <a:ln w="0">
            <a:noFill/>
            <a:prstDash val="solid"/>
          </a:ln>
        </p:spPr>
        <p:txBody>
          <a:bodyPr/>
          <a:lstStyle/>
          <a:p>
            <a:endParaRPr lang="en-US"/>
          </a:p>
        </p:txBody>
      </p:sp>
      <p:sp>
        <p:nvSpPr>
          <p:cNvPr id="24" name="Right Arrow 23">
            <a:extLst>
              <a:ext uri="{FF2B5EF4-FFF2-40B4-BE49-F238E27FC236}">
                <a16:creationId xmlns:a16="http://schemas.microsoft.com/office/drawing/2014/main" id="{49680E70-B326-4771-80E2-3091BCABF41C}"/>
              </a:ext>
            </a:extLst>
          </p:cNvPr>
          <p:cNvSpPr>
            <a:spLocks noGrp="1"/>
          </p:cNvSpPr>
          <p:nvPr/>
        </p:nvSpPr>
        <p:spPr>
          <a:xfrm>
            <a:off x="9320213" y="5257800"/>
            <a:ext cx="342900" cy="171450"/>
          </a:xfrm>
          <a:prstGeom prst="rightArrow">
            <a:avLst/>
          </a:prstGeom>
          <a:solidFill>
            <a:srgbClr val="31444A"/>
          </a:solidFill>
          <a:ln w="0">
            <a:noFill/>
            <a:prstDash val="solid"/>
          </a:ln>
        </p:spPr>
        <p:txBody>
          <a:bodyPr/>
          <a:lstStyle/>
          <a:p>
            <a:endParaRPr lang="en-US"/>
          </a:p>
        </p:txBody>
      </p:sp>
      <p:sp>
        <p:nvSpPr>
          <p:cNvPr id="25" name="Rounded Rectangle 24">
            <a:extLst>
              <a:ext uri="{FF2B5EF4-FFF2-40B4-BE49-F238E27FC236}">
                <a16:creationId xmlns:a16="http://schemas.microsoft.com/office/drawing/2014/main" id="{4219CDEE-5395-41E4-B437-651271924374}"/>
              </a:ext>
            </a:extLst>
          </p:cNvPr>
          <p:cNvSpPr>
            <a:spLocks noGrp="1"/>
          </p:cNvSpPr>
          <p:nvPr/>
        </p:nvSpPr>
        <p:spPr>
          <a:xfrm>
            <a:off x="800100" y="4991100"/>
            <a:ext cx="1676400" cy="723900"/>
          </a:xfrm>
          <a:prstGeom prst="roundRect">
            <a:avLst>
              <a:gd name="adj" fmla="val 10526"/>
            </a:avLst>
          </a:prstGeom>
          <a:solidFill>
            <a:srgbClr val="111D22"/>
          </a:solidFill>
          <a:ln w="14288">
            <a:solidFill>
              <a:srgbClr val="47C6B7"/>
            </a:solidFill>
            <a:prstDash val="solid"/>
          </a:ln>
        </p:spPr>
        <p:txBody>
          <a:bodyPr/>
          <a:lstStyle/>
          <a:p>
            <a:endParaRPr lang="en-US"/>
          </a:p>
        </p:txBody>
      </p:sp>
      <p:sp>
        <p:nvSpPr>
          <p:cNvPr id="26" name="Rectangle 25">
            <a:extLst>
              <a:ext uri="{FF2B5EF4-FFF2-40B4-BE49-F238E27FC236}">
                <a16:creationId xmlns:a16="http://schemas.microsoft.com/office/drawing/2014/main" id="{23D0AFEB-863E-4390-825E-C811B49A2F2D}"/>
              </a:ext>
            </a:extLst>
          </p:cNvPr>
          <p:cNvSpPr>
            <a:spLocks noGrp="1"/>
          </p:cNvSpPr>
          <p:nvPr/>
        </p:nvSpPr>
        <p:spPr>
          <a:xfrm>
            <a:off x="895350" y="50577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Corpus</a:t>
            </a:r>
          </a:p>
        </p:txBody>
      </p:sp>
      <p:sp>
        <p:nvSpPr>
          <p:cNvPr id="27" name="Rounded Rectangle 26">
            <a:extLst>
              <a:ext uri="{FF2B5EF4-FFF2-40B4-BE49-F238E27FC236}">
                <a16:creationId xmlns:a16="http://schemas.microsoft.com/office/drawing/2014/main" id="{80448F56-2C81-42FF-865E-2366EBD007E7}"/>
              </a:ext>
            </a:extLst>
          </p:cNvPr>
          <p:cNvSpPr>
            <a:spLocks noGrp="1"/>
          </p:cNvSpPr>
          <p:nvPr/>
        </p:nvSpPr>
        <p:spPr>
          <a:xfrm>
            <a:off x="3043238" y="4991100"/>
            <a:ext cx="1676400" cy="723900"/>
          </a:xfrm>
          <a:prstGeom prst="roundRect">
            <a:avLst>
              <a:gd name="adj" fmla="val 10526"/>
            </a:avLst>
          </a:prstGeom>
          <a:solidFill>
            <a:srgbClr val="111D22"/>
          </a:solidFill>
          <a:ln w="14288">
            <a:solidFill>
              <a:srgbClr val="47C6B7"/>
            </a:solidFill>
            <a:prstDash val="solid"/>
          </a:ln>
        </p:spPr>
        <p:txBody>
          <a:bodyPr/>
          <a:lstStyle/>
          <a:p>
            <a:endParaRPr lang="en-US"/>
          </a:p>
        </p:txBody>
      </p:sp>
      <p:sp>
        <p:nvSpPr>
          <p:cNvPr id="28" name="Rectangle 27">
            <a:extLst>
              <a:ext uri="{FF2B5EF4-FFF2-40B4-BE49-F238E27FC236}">
                <a16:creationId xmlns:a16="http://schemas.microsoft.com/office/drawing/2014/main" id="{29815411-687C-452E-94AA-4116F3B45ECB}"/>
              </a:ext>
            </a:extLst>
          </p:cNvPr>
          <p:cNvSpPr>
            <a:spLocks noGrp="1"/>
          </p:cNvSpPr>
          <p:nvPr/>
        </p:nvSpPr>
        <p:spPr>
          <a:xfrm>
            <a:off x="3138488" y="50577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Ingest status</a:t>
            </a:r>
          </a:p>
        </p:txBody>
      </p:sp>
      <p:sp>
        <p:nvSpPr>
          <p:cNvPr id="29" name="Rounded Rectangle 28">
            <a:extLst>
              <a:ext uri="{FF2B5EF4-FFF2-40B4-BE49-F238E27FC236}">
                <a16:creationId xmlns:a16="http://schemas.microsoft.com/office/drawing/2014/main" id="{71C2B5CE-9222-4F72-9316-436FED7947AA}"/>
              </a:ext>
            </a:extLst>
          </p:cNvPr>
          <p:cNvSpPr>
            <a:spLocks noGrp="1"/>
          </p:cNvSpPr>
          <p:nvPr/>
        </p:nvSpPr>
        <p:spPr>
          <a:xfrm>
            <a:off x="5286375" y="4991100"/>
            <a:ext cx="1676400" cy="723900"/>
          </a:xfrm>
          <a:prstGeom prst="roundRect">
            <a:avLst>
              <a:gd name="adj" fmla="val 10526"/>
            </a:avLst>
          </a:prstGeom>
          <a:solidFill>
            <a:srgbClr val="111D22"/>
          </a:solidFill>
          <a:ln w="14288">
            <a:solidFill>
              <a:srgbClr val="47C6B7"/>
            </a:solidFill>
            <a:prstDash val="solid"/>
          </a:ln>
        </p:spPr>
        <p:txBody>
          <a:bodyPr/>
          <a:lstStyle/>
          <a:p>
            <a:endParaRPr lang="en-US"/>
          </a:p>
        </p:txBody>
      </p:sp>
      <p:sp>
        <p:nvSpPr>
          <p:cNvPr id="30" name="Rectangle 29">
            <a:extLst>
              <a:ext uri="{FF2B5EF4-FFF2-40B4-BE49-F238E27FC236}">
                <a16:creationId xmlns:a16="http://schemas.microsoft.com/office/drawing/2014/main" id="{E14FA48F-660C-4E68-9591-760505A77CF8}"/>
              </a:ext>
            </a:extLst>
          </p:cNvPr>
          <p:cNvSpPr>
            <a:spLocks noGrp="1"/>
          </p:cNvSpPr>
          <p:nvPr/>
        </p:nvSpPr>
        <p:spPr>
          <a:xfrm>
            <a:off x="5381625" y="50577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Hybrid search</a:t>
            </a:r>
          </a:p>
        </p:txBody>
      </p:sp>
      <p:sp>
        <p:nvSpPr>
          <p:cNvPr id="31" name="Rounded Rectangle 30">
            <a:extLst>
              <a:ext uri="{FF2B5EF4-FFF2-40B4-BE49-F238E27FC236}">
                <a16:creationId xmlns:a16="http://schemas.microsoft.com/office/drawing/2014/main" id="{068BE1EC-1011-42B7-B0A1-2E0578543F84}"/>
              </a:ext>
            </a:extLst>
          </p:cNvPr>
          <p:cNvSpPr>
            <a:spLocks noGrp="1"/>
          </p:cNvSpPr>
          <p:nvPr/>
        </p:nvSpPr>
        <p:spPr>
          <a:xfrm>
            <a:off x="7529513" y="4991100"/>
            <a:ext cx="1676400" cy="723900"/>
          </a:xfrm>
          <a:prstGeom prst="roundRect">
            <a:avLst>
              <a:gd name="adj" fmla="val 10526"/>
            </a:avLst>
          </a:prstGeom>
          <a:solidFill>
            <a:srgbClr val="111D22"/>
          </a:solidFill>
          <a:ln w="14288">
            <a:solidFill>
              <a:srgbClr val="47C6B7"/>
            </a:solidFill>
            <a:prstDash val="solid"/>
          </a:ln>
        </p:spPr>
        <p:txBody>
          <a:bodyPr/>
          <a:lstStyle/>
          <a:p>
            <a:endParaRPr lang="en-US"/>
          </a:p>
        </p:txBody>
      </p:sp>
      <p:sp>
        <p:nvSpPr>
          <p:cNvPr id="32" name="Rectangle 31">
            <a:extLst>
              <a:ext uri="{FF2B5EF4-FFF2-40B4-BE49-F238E27FC236}">
                <a16:creationId xmlns:a16="http://schemas.microsoft.com/office/drawing/2014/main" id="{68AA50C4-1D38-4632-87F5-44568BA1A341}"/>
              </a:ext>
            </a:extLst>
          </p:cNvPr>
          <p:cNvSpPr>
            <a:spLocks noGrp="1"/>
          </p:cNvSpPr>
          <p:nvPr/>
        </p:nvSpPr>
        <p:spPr>
          <a:xfrm>
            <a:off x="7624763" y="50577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Moment</a:t>
            </a:r>
          </a:p>
        </p:txBody>
      </p:sp>
      <p:sp>
        <p:nvSpPr>
          <p:cNvPr id="33" name="Rounded Rectangle 32">
            <a:extLst>
              <a:ext uri="{FF2B5EF4-FFF2-40B4-BE49-F238E27FC236}">
                <a16:creationId xmlns:a16="http://schemas.microsoft.com/office/drawing/2014/main" id="{930D30A2-40A8-4141-A7D1-09D5CB4F1544}"/>
              </a:ext>
            </a:extLst>
          </p:cNvPr>
          <p:cNvSpPr>
            <a:spLocks noGrp="1"/>
          </p:cNvSpPr>
          <p:nvPr/>
        </p:nvSpPr>
        <p:spPr>
          <a:xfrm>
            <a:off x="9772650" y="4991100"/>
            <a:ext cx="1676400" cy="723900"/>
          </a:xfrm>
          <a:prstGeom prst="roundRect">
            <a:avLst>
              <a:gd name="adj" fmla="val 10526"/>
            </a:avLst>
          </a:prstGeom>
          <a:solidFill>
            <a:srgbClr val="111D22"/>
          </a:solidFill>
          <a:ln w="14288">
            <a:solidFill>
              <a:srgbClr val="47C6B7"/>
            </a:solidFill>
            <a:prstDash val="solid"/>
          </a:ln>
        </p:spPr>
        <p:txBody>
          <a:bodyPr/>
          <a:lstStyle/>
          <a:p>
            <a:endParaRPr lang="en-US"/>
          </a:p>
        </p:txBody>
      </p:sp>
      <p:sp>
        <p:nvSpPr>
          <p:cNvPr id="34" name="Rectangle 33">
            <a:extLst>
              <a:ext uri="{FF2B5EF4-FFF2-40B4-BE49-F238E27FC236}">
                <a16:creationId xmlns:a16="http://schemas.microsoft.com/office/drawing/2014/main" id="{CA344431-CC0A-4A24-9348-876D5B849481}"/>
              </a:ext>
            </a:extLst>
          </p:cNvPr>
          <p:cNvSpPr>
            <a:spLocks noGrp="1"/>
          </p:cNvSpPr>
          <p:nvPr/>
        </p:nvSpPr>
        <p:spPr>
          <a:xfrm>
            <a:off x="9867900" y="5057775"/>
            <a:ext cx="1485900" cy="590550"/>
          </a:xfrm>
          <a:prstGeom prst="rect">
            <a:avLst/>
          </a:prstGeom>
          <a:noFill/>
          <a:ln w="0">
            <a:noFill/>
            <a:prstDash val="solid"/>
          </a:ln>
        </p:spPr>
        <p:txBody>
          <a:bodyPr wrap="square" lIns="0" tIns="0" rIns="0" bIns="0" anchor="ctr">
            <a:normAutofit/>
          </a:bodyPr>
          <a:lstStyle/>
          <a:p>
            <a:pPr algn="ctr">
              <a:defRPr sz="1350" b="1">
                <a:solidFill>
                  <a:srgbClr val="E8F0EF"/>
                </a:solidFill>
                <a:latin typeface="Arial"/>
                <a:ea typeface="Arial"/>
                <a:cs typeface="Arial"/>
              </a:defRPr>
            </a:pPr>
            <a:r>
              <a:rPr sz="1350" b="1">
                <a:solidFill>
                  <a:srgbClr val="E8F0EF"/>
                </a:solidFill>
                <a:latin typeface="Arial"/>
                <a:ea typeface="Arial"/>
                <a:cs typeface="Arial"/>
              </a:rPr>
              <a:t>Replay</a:t>
            </a:r>
          </a:p>
        </p:txBody>
      </p:sp>
      <p:sp>
        <p:nvSpPr>
          <p:cNvPr id="35" name="Rectangle 34">
            <a:extLst>
              <a:ext uri="{FF2B5EF4-FFF2-40B4-BE49-F238E27FC236}">
                <a16:creationId xmlns:a16="http://schemas.microsoft.com/office/drawing/2014/main" id="{BF1250BB-C2E5-4154-9743-A2A2F4CAFE9E}"/>
              </a:ext>
            </a:extLst>
          </p:cNvPr>
          <p:cNvSpPr>
            <a:spLocks noGrp="1"/>
          </p:cNvSpPr>
          <p:nvPr/>
        </p:nvSpPr>
        <p:spPr>
          <a:xfrm>
            <a:off x="800100" y="5962650"/>
            <a:ext cx="8763000" cy="304800"/>
          </a:xfrm>
          <a:prstGeom prst="rect">
            <a:avLst/>
          </a:prstGeom>
          <a:noFill/>
          <a:ln w="0">
            <a:noFill/>
            <a:prstDash val="solid"/>
          </a:ln>
        </p:spPr>
        <p:txBody>
          <a:bodyPr wrap="square" lIns="0" tIns="0" rIns="0" bIns="0" anchor="t">
            <a:normAutofit/>
          </a:bodyPr>
          <a:lstStyle/>
          <a:p>
            <a:pPr algn="l">
              <a:defRPr sz="1575" b="1">
                <a:solidFill>
                  <a:srgbClr val="E8F0EF"/>
                </a:solidFill>
                <a:latin typeface="Arial"/>
                <a:ea typeface="Arial"/>
                <a:cs typeface="Arial"/>
              </a:defRPr>
            </a:pPr>
            <a:r>
              <a:rPr sz="1575" b="1">
                <a:solidFill>
                  <a:srgbClr val="E8F0EF"/>
                </a:solidFill>
                <a:latin typeface="Arial"/>
                <a:ea typeface="Arial"/>
                <a:cs typeface="Arial"/>
              </a:rPr>
              <a:t>Question: What did the vendor say about API and SFTP support?</a:t>
            </a:r>
          </a:p>
        </p:txBody>
      </p:sp>
      <p:sp>
        <p:nvSpPr>
          <p:cNvPr id="36" name="Rectangle 35">
            <a:extLst>
              <a:ext uri="{FF2B5EF4-FFF2-40B4-BE49-F238E27FC236}">
                <a16:creationId xmlns:a16="http://schemas.microsoft.com/office/drawing/2014/main" id="{840C3ADA-6078-42EF-AB23-0162570CB279}"/>
              </a:ext>
            </a:extLst>
          </p:cNvPr>
          <p:cNvSpPr>
            <a:spLocks noGrp="1"/>
          </p:cNvSpPr>
          <p:nvPr/>
        </p:nvSpPr>
        <p:spPr>
          <a:xfrm>
            <a:off x="10591800" y="5962650"/>
            <a:ext cx="857250" cy="266700"/>
          </a:xfrm>
          <a:prstGeom prst="rect">
            <a:avLst/>
          </a:prstGeom>
          <a:noFill/>
          <a:ln w="0">
            <a:noFill/>
            <a:prstDash val="solid"/>
          </a:ln>
        </p:spPr>
        <p:txBody>
          <a:bodyPr wrap="square" lIns="0" tIns="0" rIns="0" bIns="0" anchor="t">
            <a:normAutofit/>
          </a:bodyPr>
          <a:lstStyle/>
          <a:p>
            <a:pPr algn="r">
              <a:defRPr sz="1200" b="1">
                <a:solidFill>
                  <a:srgbClr val="D8F36A"/>
                </a:solidFill>
                <a:latin typeface="Arial"/>
                <a:ea typeface="Arial"/>
                <a:cs typeface="Arial"/>
              </a:defRPr>
            </a:pPr>
            <a:r>
              <a:rPr sz="1200" b="1">
                <a:solidFill>
                  <a:srgbClr val="D8F36A"/>
                </a:solidFill>
                <a:latin typeface="Arial"/>
                <a:ea typeface="Arial"/>
                <a:cs typeface="Arial"/>
              </a:rPr>
              <a:t>LIVE</a:t>
            </a:r>
          </a:p>
        </p:txBody>
      </p:sp>
    </p:spTree>
    <p:extLst>
      <p:ext uri="{BB962C8B-B14F-4D97-AF65-F5344CB8AC3E}">
        <p14:creationId xmlns:p14="http://schemas.microsoft.com/office/powerpoint/2010/main" val="587603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ECCA5DF-5581-4E02-BBA4-86C088BE955E}"/>
              </a:ext>
            </a:extLst>
          </p:cNvPr>
          <p:cNvSpPr>
            <a:spLocks noGrp="1"/>
          </p:cNvSpPr>
          <p:nvPr/>
        </p:nvSpPr>
        <p:spPr>
          <a:xfrm>
            <a:off x="0" y="0"/>
            <a:ext cx="85725" cy="6858000"/>
          </a:xfrm>
          <a:prstGeom prst="rect">
            <a:avLst/>
          </a:prstGeom>
          <a:solidFill>
            <a:srgbClr val="A88BFF"/>
          </a:solidFill>
          <a:ln w="0">
            <a:noFill/>
            <a:prstDash val="solid"/>
          </a:ln>
        </p:spPr>
        <p:txBody>
          <a:bodyPr/>
          <a:lstStyle/>
          <a:p>
            <a:endParaRPr lang="en-US"/>
          </a:p>
        </p:txBody>
      </p:sp>
      <p:sp>
        <p:nvSpPr>
          <p:cNvPr id="2" name="Rectangle 1">
            <a:extLst>
              <a:ext uri="{FF2B5EF4-FFF2-40B4-BE49-F238E27FC236}">
                <a16:creationId xmlns:a16="http://schemas.microsoft.com/office/drawing/2014/main" id="{1104236B-171A-4D4A-B5BC-38C47C7DD36D}"/>
              </a:ext>
            </a:extLst>
          </p:cNvPr>
          <p:cNvSpPr>
            <a:spLocks noGrp="1"/>
          </p:cNvSpPr>
          <p:nvPr/>
        </p:nvSpPr>
        <p:spPr>
          <a:xfrm>
            <a:off x="685800" y="533400"/>
            <a:ext cx="3238500" cy="895350"/>
          </a:xfrm>
          <a:prstGeom prst="rect">
            <a:avLst/>
          </a:prstGeom>
          <a:noFill/>
          <a:ln w="0">
            <a:noFill/>
            <a:prstDash val="solid"/>
          </a:ln>
        </p:spPr>
        <p:txBody>
          <a:bodyPr wrap="square" lIns="0" tIns="0" rIns="0" bIns="0" anchor="t">
            <a:normAutofit/>
          </a:bodyPr>
          <a:lstStyle/>
          <a:p>
            <a:pPr algn="l">
              <a:defRPr sz="5400" b="1">
                <a:solidFill>
                  <a:srgbClr val="A88BFF"/>
                </a:solidFill>
                <a:latin typeface="Arial"/>
                <a:ea typeface="Arial"/>
                <a:cs typeface="Arial"/>
              </a:defRPr>
            </a:pPr>
            <a:r>
              <a:rPr sz="5400" b="1">
                <a:solidFill>
                  <a:srgbClr val="A88BFF"/>
                </a:solidFill>
                <a:latin typeface="Arial"/>
                <a:ea typeface="Arial"/>
                <a:cs typeface="Arial"/>
              </a:rPr>
              <a:t>Q&amp;A</a:t>
            </a:r>
          </a:p>
        </p:txBody>
      </p:sp>
      <p:sp>
        <p:nvSpPr>
          <p:cNvPr id="3" name="Rectangle 2">
            <a:extLst>
              <a:ext uri="{FF2B5EF4-FFF2-40B4-BE49-F238E27FC236}">
                <a16:creationId xmlns:a16="http://schemas.microsoft.com/office/drawing/2014/main" id="{0D4429A5-B896-4887-A096-F78ABDA2121D}"/>
              </a:ext>
            </a:extLst>
          </p:cNvPr>
          <p:cNvSpPr>
            <a:spLocks noGrp="1"/>
          </p:cNvSpPr>
          <p:nvPr/>
        </p:nvSpPr>
        <p:spPr>
          <a:xfrm>
            <a:off x="723900" y="1600200"/>
            <a:ext cx="7239000" cy="590550"/>
          </a:xfrm>
          <a:prstGeom prst="rect">
            <a:avLst/>
          </a:prstGeom>
          <a:noFill/>
          <a:ln w="0">
            <a:noFill/>
            <a:prstDash val="solid"/>
          </a:ln>
        </p:spPr>
        <p:txBody>
          <a:bodyPr wrap="square" lIns="0" tIns="0" rIns="0" bIns="0" anchor="t">
            <a:normAutofit/>
          </a:bodyPr>
          <a:lstStyle/>
          <a:p>
            <a:pPr algn="l">
              <a:defRPr sz="2925" b="1">
                <a:solidFill>
                  <a:srgbClr val="E8F0EF"/>
                </a:solidFill>
                <a:latin typeface="Arial"/>
                <a:ea typeface="Arial"/>
                <a:cs typeface="Arial"/>
              </a:defRPr>
            </a:pPr>
            <a:r>
              <a:rPr sz="2925" b="1">
                <a:solidFill>
                  <a:srgbClr val="E8F0EF"/>
                </a:solidFill>
                <a:latin typeface="Arial"/>
                <a:ea typeface="Arial"/>
                <a:cs typeface="Arial"/>
              </a:rPr>
              <a:t>Ask me where the trade-offs bite.</a:t>
            </a:r>
          </a:p>
        </p:txBody>
      </p:sp>
      <p:sp>
        <p:nvSpPr>
          <p:cNvPr id="4" name="Oval 3">
            <a:extLst>
              <a:ext uri="{FF2B5EF4-FFF2-40B4-BE49-F238E27FC236}">
                <a16:creationId xmlns:a16="http://schemas.microsoft.com/office/drawing/2014/main" id="{C825AB50-EB47-432D-B2FF-CAF504921BC0}"/>
              </a:ext>
            </a:extLst>
          </p:cNvPr>
          <p:cNvSpPr>
            <a:spLocks noGrp="1"/>
          </p:cNvSpPr>
          <p:nvPr/>
        </p:nvSpPr>
        <p:spPr>
          <a:xfrm>
            <a:off x="828675" y="2838450"/>
            <a:ext cx="95250" cy="95250"/>
          </a:xfrm>
          <a:prstGeom prst="ellipse">
            <a:avLst/>
          </a:prstGeom>
          <a:solidFill>
            <a:srgbClr val="F2A93B"/>
          </a:solidFill>
          <a:ln w="9525">
            <a:solidFill>
              <a:srgbClr val="F2A93B"/>
            </a:solidFill>
            <a:prstDash val="solid"/>
          </a:ln>
        </p:spPr>
        <p:txBody>
          <a:bodyPr/>
          <a:lstStyle/>
          <a:p>
            <a:endParaRPr lang="en-US"/>
          </a:p>
        </p:txBody>
      </p:sp>
      <p:sp>
        <p:nvSpPr>
          <p:cNvPr id="5" name="Rectangle 4">
            <a:extLst>
              <a:ext uri="{FF2B5EF4-FFF2-40B4-BE49-F238E27FC236}">
                <a16:creationId xmlns:a16="http://schemas.microsoft.com/office/drawing/2014/main" id="{6B113F5D-7BBF-43CE-A419-BCCBC8DAC4D0}"/>
              </a:ext>
            </a:extLst>
          </p:cNvPr>
          <p:cNvSpPr>
            <a:spLocks noGrp="1"/>
          </p:cNvSpPr>
          <p:nvPr/>
        </p:nvSpPr>
        <p:spPr>
          <a:xfrm>
            <a:off x="1066800" y="2781300"/>
            <a:ext cx="4000500" cy="285750"/>
          </a:xfrm>
          <a:prstGeom prst="rect">
            <a:avLst/>
          </a:prstGeom>
          <a:noFill/>
          <a:ln w="0">
            <a:noFill/>
            <a:prstDash val="solid"/>
          </a:ln>
        </p:spPr>
        <p:txBody>
          <a:bodyPr wrap="square" lIns="0" tIns="0" rIns="0" bIns="0" anchor="t">
            <a:normAutofit/>
          </a:bodyPr>
          <a:lstStyle/>
          <a:p>
            <a:pPr algn="l">
              <a:defRPr sz="1650" b="0">
                <a:solidFill>
                  <a:srgbClr val="E8F0EF"/>
                </a:solidFill>
                <a:latin typeface="Arial"/>
                <a:ea typeface="Arial"/>
                <a:cs typeface="Arial"/>
              </a:defRPr>
            </a:pPr>
            <a:r>
              <a:rPr sz="1650" b="0">
                <a:solidFill>
                  <a:srgbClr val="E8F0EF"/>
                </a:solidFill>
                <a:latin typeface="Arial"/>
                <a:ea typeface="Arial"/>
                <a:cs typeface="Arial"/>
              </a:rPr>
              <a:t>retrieval quality</a:t>
            </a:r>
          </a:p>
        </p:txBody>
      </p:sp>
      <p:sp>
        <p:nvSpPr>
          <p:cNvPr id="6" name="Oval 5">
            <a:extLst>
              <a:ext uri="{FF2B5EF4-FFF2-40B4-BE49-F238E27FC236}">
                <a16:creationId xmlns:a16="http://schemas.microsoft.com/office/drawing/2014/main" id="{2E61DE03-E5D8-4007-BFBB-E947AC4E9079}"/>
              </a:ext>
            </a:extLst>
          </p:cNvPr>
          <p:cNvSpPr>
            <a:spLocks noGrp="1"/>
          </p:cNvSpPr>
          <p:nvPr/>
        </p:nvSpPr>
        <p:spPr>
          <a:xfrm>
            <a:off x="828675" y="3390900"/>
            <a:ext cx="95250" cy="95250"/>
          </a:xfrm>
          <a:prstGeom prst="ellipse">
            <a:avLst/>
          </a:prstGeom>
          <a:solidFill>
            <a:srgbClr val="47C6B7"/>
          </a:solidFill>
          <a:ln w="9525">
            <a:solidFill>
              <a:srgbClr val="47C6B7"/>
            </a:solidFill>
            <a:prstDash val="solid"/>
          </a:ln>
        </p:spPr>
        <p:txBody>
          <a:bodyPr/>
          <a:lstStyle/>
          <a:p>
            <a:endParaRPr lang="en-US"/>
          </a:p>
        </p:txBody>
      </p:sp>
      <p:sp>
        <p:nvSpPr>
          <p:cNvPr id="7" name="Rectangle 6">
            <a:extLst>
              <a:ext uri="{FF2B5EF4-FFF2-40B4-BE49-F238E27FC236}">
                <a16:creationId xmlns:a16="http://schemas.microsoft.com/office/drawing/2014/main" id="{52092202-CA10-4B17-B40E-F9CE12CED067}"/>
              </a:ext>
            </a:extLst>
          </p:cNvPr>
          <p:cNvSpPr>
            <a:spLocks noGrp="1"/>
          </p:cNvSpPr>
          <p:nvPr/>
        </p:nvSpPr>
        <p:spPr>
          <a:xfrm>
            <a:off x="1066800" y="3333750"/>
            <a:ext cx="4000500" cy="285750"/>
          </a:xfrm>
          <a:prstGeom prst="rect">
            <a:avLst/>
          </a:prstGeom>
          <a:noFill/>
          <a:ln w="0">
            <a:noFill/>
            <a:prstDash val="solid"/>
          </a:ln>
        </p:spPr>
        <p:txBody>
          <a:bodyPr wrap="square" lIns="0" tIns="0" rIns="0" bIns="0" anchor="t">
            <a:normAutofit/>
          </a:bodyPr>
          <a:lstStyle/>
          <a:p>
            <a:pPr algn="l">
              <a:defRPr sz="1650" b="0">
                <a:solidFill>
                  <a:srgbClr val="E8F0EF"/>
                </a:solidFill>
                <a:latin typeface="Arial"/>
                <a:ea typeface="Arial"/>
                <a:cs typeface="Arial"/>
              </a:defRPr>
            </a:pPr>
            <a:r>
              <a:rPr sz="1650" b="0">
                <a:solidFill>
                  <a:srgbClr val="E8F0EF"/>
                </a:solidFill>
                <a:latin typeface="Arial"/>
                <a:ea typeface="Arial"/>
                <a:cs typeface="Arial"/>
              </a:rPr>
              <a:t>evidence integrity</a:t>
            </a:r>
          </a:p>
        </p:txBody>
      </p:sp>
      <p:sp>
        <p:nvSpPr>
          <p:cNvPr id="8" name="Oval 7">
            <a:extLst>
              <a:ext uri="{FF2B5EF4-FFF2-40B4-BE49-F238E27FC236}">
                <a16:creationId xmlns:a16="http://schemas.microsoft.com/office/drawing/2014/main" id="{2B231D12-BA8A-4D93-9978-8B5678F2F4EB}"/>
              </a:ext>
            </a:extLst>
          </p:cNvPr>
          <p:cNvSpPr>
            <a:spLocks noGrp="1"/>
          </p:cNvSpPr>
          <p:nvPr/>
        </p:nvSpPr>
        <p:spPr>
          <a:xfrm>
            <a:off x="828675" y="3943350"/>
            <a:ext cx="95250" cy="95250"/>
          </a:xfrm>
          <a:prstGeom prst="ellipse">
            <a:avLst/>
          </a:prstGeom>
          <a:solidFill>
            <a:srgbClr val="A88BFF"/>
          </a:solidFill>
          <a:ln w="9525">
            <a:solidFill>
              <a:srgbClr val="A88BFF"/>
            </a:solidFill>
            <a:prstDash val="solid"/>
          </a:ln>
        </p:spPr>
        <p:txBody>
          <a:bodyPr/>
          <a:lstStyle/>
          <a:p>
            <a:endParaRPr lang="en-US"/>
          </a:p>
        </p:txBody>
      </p:sp>
      <p:sp>
        <p:nvSpPr>
          <p:cNvPr id="9" name="Rectangle 8">
            <a:extLst>
              <a:ext uri="{FF2B5EF4-FFF2-40B4-BE49-F238E27FC236}">
                <a16:creationId xmlns:a16="http://schemas.microsoft.com/office/drawing/2014/main" id="{B9BE8817-EA2A-4A4F-8942-5AF988281705}"/>
              </a:ext>
            </a:extLst>
          </p:cNvPr>
          <p:cNvSpPr>
            <a:spLocks noGrp="1"/>
          </p:cNvSpPr>
          <p:nvPr/>
        </p:nvSpPr>
        <p:spPr>
          <a:xfrm>
            <a:off x="1066800" y="3886200"/>
            <a:ext cx="4000500" cy="285750"/>
          </a:xfrm>
          <a:prstGeom prst="rect">
            <a:avLst/>
          </a:prstGeom>
          <a:noFill/>
          <a:ln w="0">
            <a:noFill/>
            <a:prstDash val="solid"/>
          </a:ln>
        </p:spPr>
        <p:txBody>
          <a:bodyPr wrap="square" lIns="0" tIns="0" rIns="0" bIns="0" anchor="t">
            <a:normAutofit/>
          </a:bodyPr>
          <a:lstStyle/>
          <a:p>
            <a:pPr algn="l">
              <a:defRPr sz="1650" b="0">
                <a:solidFill>
                  <a:srgbClr val="E8F0EF"/>
                </a:solidFill>
                <a:latin typeface="Arial"/>
                <a:ea typeface="Arial"/>
                <a:cs typeface="Arial"/>
              </a:defRPr>
            </a:pPr>
            <a:r>
              <a:rPr sz="1650" b="0">
                <a:solidFill>
                  <a:srgbClr val="E8F0EF"/>
                </a:solidFill>
                <a:latin typeface="Arial"/>
                <a:ea typeface="Arial"/>
                <a:cs typeface="Arial"/>
              </a:rPr>
              <a:t>failure + recovery</a:t>
            </a:r>
          </a:p>
        </p:txBody>
      </p:sp>
      <p:sp>
        <p:nvSpPr>
          <p:cNvPr id="10" name="Oval 9">
            <a:extLst>
              <a:ext uri="{FF2B5EF4-FFF2-40B4-BE49-F238E27FC236}">
                <a16:creationId xmlns:a16="http://schemas.microsoft.com/office/drawing/2014/main" id="{890751CF-DD05-4C81-A718-47E02EB2FDBD}"/>
              </a:ext>
            </a:extLst>
          </p:cNvPr>
          <p:cNvSpPr>
            <a:spLocks noGrp="1"/>
          </p:cNvSpPr>
          <p:nvPr/>
        </p:nvSpPr>
        <p:spPr>
          <a:xfrm>
            <a:off x="828675" y="4495800"/>
            <a:ext cx="95250" cy="95250"/>
          </a:xfrm>
          <a:prstGeom prst="ellipse">
            <a:avLst/>
          </a:prstGeom>
          <a:solidFill>
            <a:srgbClr val="F07178"/>
          </a:solidFill>
          <a:ln w="9525">
            <a:solidFill>
              <a:srgbClr val="F07178"/>
            </a:solidFill>
            <a:prstDash val="solid"/>
          </a:ln>
        </p:spPr>
        <p:txBody>
          <a:bodyPr/>
          <a:lstStyle/>
          <a:p>
            <a:endParaRPr lang="en-US"/>
          </a:p>
        </p:txBody>
      </p:sp>
      <p:sp>
        <p:nvSpPr>
          <p:cNvPr id="11" name="Rectangle 10">
            <a:extLst>
              <a:ext uri="{FF2B5EF4-FFF2-40B4-BE49-F238E27FC236}">
                <a16:creationId xmlns:a16="http://schemas.microsoft.com/office/drawing/2014/main" id="{95692C9C-4E56-4E56-A0B5-4E15C0160B10}"/>
              </a:ext>
            </a:extLst>
          </p:cNvPr>
          <p:cNvSpPr>
            <a:spLocks noGrp="1"/>
          </p:cNvSpPr>
          <p:nvPr/>
        </p:nvSpPr>
        <p:spPr>
          <a:xfrm>
            <a:off x="1066800" y="4438650"/>
            <a:ext cx="4000500" cy="285750"/>
          </a:xfrm>
          <a:prstGeom prst="rect">
            <a:avLst/>
          </a:prstGeom>
          <a:noFill/>
          <a:ln w="0">
            <a:noFill/>
            <a:prstDash val="solid"/>
          </a:ln>
        </p:spPr>
        <p:txBody>
          <a:bodyPr wrap="square" lIns="0" tIns="0" rIns="0" bIns="0" anchor="t">
            <a:normAutofit/>
          </a:bodyPr>
          <a:lstStyle/>
          <a:p>
            <a:pPr algn="l">
              <a:defRPr sz="1650" b="0">
                <a:solidFill>
                  <a:srgbClr val="E8F0EF"/>
                </a:solidFill>
                <a:latin typeface="Arial"/>
                <a:ea typeface="Arial"/>
                <a:cs typeface="Arial"/>
              </a:defRPr>
            </a:pPr>
            <a:r>
              <a:rPr sz="1650" b="0">
                <a:solidFill>
                  <a:srgbClr val="E8F0EF"/>
                </a:solidFill>
                <a:latin typeface="Arial"/>
                <a:ea typeface="Arial"/>
                <a:cs typeface="Arial"/>
              </a:rPr>
              <a:t>deployment + security</a:t>
            </a:r>
          </a:p>
        </p:txBody>
      </p:sp>
      <p:sp>
        <p:nvSpPr>
          <p:cNvPr id="12" name="Oval 11">
            <a:extLst>
              <a:ext uri="{FF2B5EF4-FFF2-40B4-BE49-F238E27FC236}">
                <a16:creationId xmlns:a16="http://schemas.microsoft.com/office/drawing/2014/main" id="{1F82F9F3-C084-4A4F-BBFC-E1EB869D4B2D}"/>
              </a:ext>
            </a:extLst>
          </p:cNvPr>
          <p:cNvSpPr>
            <a:spLocks noGrp="1"/>
          </p:cNvSpPr>
          <p:nvPr/>
        </p:nvSpPr>
        <p:spPr>
          <a:xfrm>
            <a:off x="828675" y="5048250"/>
            <a:ext cx="95250" cy="95250"/>
          </a:xfrm>
          <a:prstGeom prst="ellipse">
            <a:avLst/>
          </a:prstGeom>
          <a:solidFill>
            <a:srgbClr val="D8F36A"/>
          </a:solidFill>
          <a:ln w="9525">
            <a:solidFill>
              <a:srgbClr val="D8F36A"/>
            </a:solidFill>
            <a:prstDash val="solid"/>
          </a:ln>
        </p:spPr>
        <p:txBody>
          <a:bodyPr/>
          <a:lstStyle/>
          <a:p>
            <a:endParaRPr lang="en-US"/>
          </a:p>
        </p:txBody>
      </p:sp>
      <p:sp>
        <p:nvSpPr>
          <p:cNvPr id="13" name="Rectangle 12">
            <a:extLst>
              <a:ext uri="{FF2B5EF4-FFF2-40B4-BE49-F238E27FC236}">
                <a16:creationId xmlns:a16="http://schemas.microsoft.com/office/drawing/2014/main" id="{2C1A0329-2FB8-4AE0-91F9-08B469BA5AC3}"/>
              </a:ext>
            </a:extLst>
          </p:cNvPr>
          <p:cNvSpPr>
            <a:spLocks noGrp="1"/>
          </p:cNvSpPr>
          <p:nvPr/>
        </p:nvSpPr>
        <p:spPr>
          <a:xfrm>
            <a:off x="1066800" y="4991100"/>
            <a:ext cx="4000500" cy="285750"/>
          </a:xfrm>
          <a:prstGeom prst="rect">
            <a:avLst/>
          </a:prstGeom>
          <a:noFill/>
          <a:ln w="0">
            <a:noFill/>
            <a:prstDash val="solid"/>
          </a:ln>
        </p:spPr>
        <p:txBody>
          <a:bodyPr wrap="square" lIns="0" tIns="0" rIns="0" bIns="0" anchor="t">
            <a:normAutofit/>
          </a:bodyPr>
          <a:lstStyle/>
          <a:p>
            <a:pPr algn="l">
              <a:defRPr sz="1650" b="0">
                <a:solidFill>
                  <a:srgbClr val="E8F0EF"/>
                </a:solidFill>
                <a:latin typeface="Arial"/>
                <a:ea typeface="Arial"/>
                <a:cs typeface="Arial"/>
              </a:defRPr>
            </a:pPr>
            <a:r>
              <a:rPr sz="1650" b="0">
                <a:solidFill>
                  <a:srgbClr val="E8F0EF"/>
                </a:solidFill>
                <a:latin typeface="Arial"/>
                <a:ea typeface="Arial"/>
                <a:cs typeface="Arial"/>
              </a:rPr>
              <a:t>what I would build next</a:t>
            </a:r>
          </a:p>
        </p:txBody>
      </p:sp>
      <p:sp>
        <p:nvSpPr>
          <p:cNvPr id="14" name="Rectangle 13">
            <a:extLst>
              <a:ext uri="{FF2B5EF4-FFF2-40B4-BE49-F238E27FC236}">
                <a16:creationId xmlns:a16="http://schemas.microsoft.com/office/drawing/2014/main" id="{A5B86B2A-69C2-4B95-A14C-374FBDDBEFFB}"/>
              </a:ext>
            </a:extLst>
          </p:cNvPr>
          <p:cNvSpPr>
            <a:spLocks noGrp="1"/>
          </p:cNvSpPr>
          <p:nvPr/>
        </p:nvSpPr>
        <p:spPr>
          <a:xfrm>
            <a:off x="8420100" y="1485900"/>
            <a:ext cx="2857500" cy="3714750"/>
          </a:xfrm>
          <a:prstGeom prst="rect">
            <a:avLst/>
          </a:prstGeom>
          <a:noFill/>
          <a:ln w="0">
            <a:noFill/>
            <a:prstDash val="solid"/>
          </a:ln>
        </p:spPr>
        <p:txBody>
          <a:bodyPr wrap="square" lIns="0" tIns="0" rIns="0" bIns="0" anchor="ctr">
            <a:normAutofit/>
          </a:bodyPr>
          <a:lstStyle/>
          <a:p>
            <a:pPr algn="ctr">
              <a:defRPr sz="22500" b="1">
                <a:solidFill>
                  <a:srgbClr val="17262C"/>
                </a:solidFill>
                <a:latin typeface="Arial"/>
                <a:ea typeface="Arial"/>
                <a:cs typeface="Arial"/>
              </a:defRPr>
            </a:pPr>
            <a:r>
              <a:rPr sz="22500" b="1">
                <a:solidFill>
                  <a:srgbClr val="17262C"/>
                </a:solidFill>
                <a:latin typeface="Arial"/>
                <a:ea typeface="Arial"/>
                <a:cs typeface="Arial"/>
              </a:rPr>
              <a:t>?</a:t>
            </a:r>
          </a:p>
        </p:txBody>
      </p:sp>
      <p:sp>
        <p:nvSpPr>
          <p:cNvPr id="15" name="Rectangle 14">
            <a:extLst>
              <a:ext uri="{FF2B5EF4-FFF2-40B4-BE49-F238E27FC236}">
                <a16:creationId xmlns:a16="http://schemas.microsoft.com/office/drawing/2014/main" id="{B49A4909-77E2-47A6-BBEA-E557AD29AAF8}"/>
              </a:ext>
            </a:extLst>
          </p:cNvPr>
          <p:cNvSpPr>
            <a:spLocks noGrp="1"/>
          </p:cNvSpPr>
          <p:nvPr/>
        </p:nvSpPr>
        <p:spPr>
          <a:xfrm>
            <a:off x="6572250" y="5410200"/>
            <a:ext cx="4476750" cy="590550"/>
          </a:xfrm>
          <a:prstGeom prst="rect">
            <a:avLst/>
          </a:prstGeom>
          <a:noFill/>
          <a:ln w="0">
            <a:noFill/>
            <a:prstDash val="solid"/>
          </a:ln>
        </p:spPr>
        <p:txBody>
          <a:bodyPr wrap="square" lIns="0" tIns="0" rIns="0" bIns="0" anchor="t">
            <a:normAutofit/>
          </a:bodyPr>
          <a:lstStyle/>
          <a:p>
            <a:pPr algn="ctr">
              <a:defRPr sz="1650" b="1">
                <a:solidFill>
                  <a:srgbClr val="8AA0A4"/>
                </a:solidFill>
                <a:latin typeface="Arial"/>
                <a:ea typeface="Arial"/>
                <a:cs typeface="Arial"/>
              </a:defRPr>
            </a:pPr>
            <a:r>
              <a:rPr sz="1650" b="1">
                <a:solidFill>
                  <a:srgbClr val="8AA0A4"/>
                </a:solidFill>
                <a:latin typeface="Arial"/>
                <a:ea typeface="Arial"/>
                <a:cs typeface="Arial"/>
              </a:rPr>
              <a:t>The strongest answer is honest about the boundary between prototype and product.</a:t>
            </a:r>
          </a:p>
        </p:txBody>
      </p:sp>
    </p:spTree>
    <p:extLst>
      <p:ext uri="{BB962C8B-B14F-4D97-AF65-F5344CB8AC3E}">
        <p14:creationId xmlns:p14="http://schemas.microsoft.com/office/powerpoint/2010/main" val="164735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5AAF88-A684-4E3A-85CF-BDAB14C0CDC7}"/>
              </a:ext>
            </a:extLst>
          </p:cNvPr>
          <p:cNvSpPr>
            <a:spLocks noGrp="1"/>
          </p:cNvSpPr>
          <p:nvPr/>
        </p:nvSpPr>
        <p:spPr>
          <a:xfrm>
            <a:off x="1219200" y="3448050"/>
            <a:ext cx="9753600" cy="38100"/>
          </a:xfrm>
          <a:prstGeom prst="rect">
            <a:avLst/>
          </a:prstGeom>
          <a:solidFill>
            <a:srgbClr val="31444A"/>
          </a:solidFill>
          <a:ln w="0">
            <a:noFill/>
            <a:prstDash val="solid"/>
          </a:ln>
        </p:spPr>
        <p:txBody>
          <a:bodyPr/>
          <a:lstStyle/>
          <a:p>
            <a:endParaRPr lang="en-US"/>
          </a:p>
        </p:txBody>
      </p:sp>
      <p:sp>
        <p:nvSpPr>
          <p:cNvPr id="2" name="Oval 1">
            <a:extLst>
              <a:ext uri="{FF2B5EF4-FFF2-40B4-BE49-F238E27FC236}">
                <a16:creationId xmlns:a16="http://schemas.microsoft.com/office/drawing/2014/main" id="{2045012B-2D62-47D9-B5FD-F13DC67CB049}"/>
              </a:ext>
            </a:extLst>
          </p:cNvPr>
          <p:cNvSpPr>
            <a:spLocks noGrp="1"/>
          </p:cNvSpPr>
          <p:nvPr/>
        </p:nvSpPr>
        <p:spPr>
          <a:xfrm>
            <a:off x="1704975" y="3343275"/>
            <a:ext cx="247650" cy="247650"/>
          </a:xfrm>
          <a:prstGeom prst="ellipse">
            <a:avLst/>
          </a:prstGeom>
          <a:solidFill>
            <a:srgbClr val="F2A93B"/>
          </a:solidFill>
          <a:ln w="9525">
            <a:solidFill>
              <a:srgbClr val="F2A93B"/>
            </a:solidFill>
            <a:prstDash val="solid"/>
          </a:ln>
        </p:spPr>
        <p:txBody>
          <a:bodyPr/>
          <a:lstStyle/>
          <a:p>
            <a:endParaRPr lang="en-US"/>
          </a:p>
        </p:txBody>
      </p:sp>
      <p:sp>
        <p:nvSpPr>
          <p:cNvPr id="3" name="Oval 2">
            <a:extLst>
              <a:ext uri="{FF2B5EF4-FFF2-40B4-BE49-F238E27FC236}">
                <a16:creationId xmlns:a16="http://schemas.microsoft.com/office/drawing/2014/main" id="{85981116-61E3-4876-BC07-FD3C75E9170C}"/>
              </a:ext>
            </a:extLst>
          </p:cNvPr>
          <p:cNvSpPr>
            <a:spLocks noGrp="1"/>
          </p:cNvSpPr>
          <p:nvPr/>
        </p:nvSpPr>
        <p:spPr>
          <a:xfrm>
            <a:off x="5972175" y="3343275"/>
            <a:ext cx="247650" cy="247650"/>
          </a:xfrm>
          <a:prstGeom prst="ellipse">
            <a:avLst/>
          </a:prstGeom>
          <a:solidFill>
            <a:srgbClr val="47C6B7"/>
          </a:solidFill>
          <a:ln w="9525">
            <a:solidFill>
              <a:srgbClr val="47C6B7"/>
            </a:solidFill>
            <a:prstDash val="solid"/>
          </a:ln>
        </p:spPr>
        <p:txBody>
          <a:bodyPr/>
          <a:lstStyle/>
          <a:p>
            <a:endParaRPr lang="en-US"/>
          </a:p>
        </p:txBody>
      </p:sp>
      <p:sp>
        <p:nvSpPr>
          <p:cNvPr id="4" name="Oval 3">
            <a:extLst>
              <a:ext uri="{FF2B5EF4-FFF2-40B4-BE49-F238E27FC236}">
                <a16:creationId xmlns:a16="http://schemas.microsoft.com/office/drawing/2014/main" id="{9CED2EC0-B317-4DB8-9D50-BBA53FDCDE53}"/>
              </a:ext>
            </a:extLst>
          </p:cNvPr>
          <p:cNvSpPr>
            <a:spLocks noGrp="1"/>
          </p:cNvSpPr>
          <p:nvPr/>
        </p:nvSpPr>
        <p:spPr>
          <a:xfrm>
            <a:off x="10239375" y="3343275"/>
            <a:ext cx="247650" cy="247650"/>
          </a:xfrm>
          <a:prstGeom prst="ellipse">
            <a:avLst/>
          </a:prstGeom>
          <a:solidFill>
            <a:srgbClr val="D8F36A"/>
          </a:solidFill>
          <a:ln w="9525">
            <a:solidFill>
              <a:srgbClr val="D8F36A"/>
            </a:solidFill>
            <a:prstDash val="solid"/>
          </a:ln>
        </p:spPr>
        <p:txBody>
          <a:bodyPr/>
          <a:lstStyle/>
          <a:p>
            <a:endParaRPr lang="en-US"/>
          </a:p>
        </p:txBody>
      </p:sp>
      <p:sp>
        <p:nvSpPr>
          <p:cNvPr id="5" name="Rectangle 4">
            <a:extLst>
              <a:ext uri="{FF2B5EF4-FFF2-40B4-BE49-F238E27FC236}">
                <a16:creationId xmlns:a16="http://schemas.microsoft.com/office/drawing/2014/main" id="{DFED9D26-93E2-4AE0-8A43-B616BB3831B5}"/>
              </a:ext>
            </a:extLst>
          </p:cNvPr>
          <p:cNvSpPr>
            <a:spLocks noGrp="1"/>
          </p:cNvSpPr>
          <p:nvPr/>
        </p:nvSpPr>
        <p:spPr>
          <a:xfrm>
            <a:off x="1409700" y="2114550"/>
            <a:ext cx="9372600" cy="876300"/>
          </a:xfrm>
          <a:prstGeom prst="rect">
            <a:avLst/>
          </a:prstGeom>
          <a:noFill/>
          <a:ln w="0">
            <a:noFill/>
            <a:prstDash val="solid"/>
          </a:ln>
        </p:spPr>
        <p:txBody>
          <a:bodyPr wrap="square" lIns="0" tIns="0" rIns="0" bIns="0" anchor="t">
            <a:normAutofit fontScale="90909"/>
          </a:bodyPr>
          <a:lstStyle/>
          <a:p>
            <a:pPr algn="ctr">
              <a:defRPr sz="3825" b="1">
                <a:solidFill>
                  <a:srgbClr val="E8F0EF"/>
                </a:solidFill>
                <a:latin typeface="Arial"/>
                <a:ea typeface="Arial"/>
                <a:cs typeface="Arial"/>
              </a:defRPr>
            </a:pPr>
            <a:r>
              <a:rPr sz="3825" b="1">
                <a:solidFill>
                  <a:srgbClr val="E8F0EF"/>
                </a:solidFill>
                <a:latin typeface="Arial"/>
                <a:ea typeface="Arial"/>
                <a:cs typeface="Arial"/>
              </a:rPr>
              <a:t>Every answer is evidence you can replay.</a:t>
            </a:r>
          </a:p>
        </p:txBody>
      </p:sp>
      <p:sp>
        <p:nvSpPr>
          <p:cNvPr id="6" name="Rectangle 5">
            <a:extLst>
              <a:ext uri="{FF2B5EF4-FFF2-40B4-BE49-F238E27FC236}">
                <a16:creationId xmlns:a16="http://schemas.microsoft.com/office/drawing/2014/main" id="{9487E6C1-5D81-4753-A5C4-E85F20FBC59D}"/>
              </a:ext>
            </a:extLst>
          </p:cNvPr>
          <p:cNvSpPr>
            <a:spLocks noGrp="1"/>
          </p:cNvSpPr>
          <p:nvPr/>
        </p:nvSpPr>
        <p:spPr>
          <a:xfrm>
            <a:off x="2362200" y="4114800"/>
            <a:ext cx="7467600" cy="628650"/>
          </a:xfrm>
          <a:prstGeom prst="rect">
            <a:avLst/>
          </a:prstGeom>
          <a:noFill/>
          <a:ln w="0">
            <a:noFill/>
            <a:prstDash val="solid"/>
          </a:ln>
        </p:spPr>
        <p:txBody>
          <a:bodyPr wrap="square" lIns="0" tIns="0" rIns="0" bIns="0" anchor="t">
            <a:normAutofit/>
          </a:bodyPr>
          <a:lstStyle/>
          <a:p>
            <a:pPr algn="ctr">
              <a:defRPr sz="1875" b="0">
                <a:solidFill>
                  <a:srgbClr val="8AA0A4"/>
                </a:solidFill>
                <a:latin typeface="Arial"/>
                <a:ea typeface="Arial"/>
                <a:cs typeface="Arial"/>
              </a:defRPr>
            </a:pPr>
            <a:r>
              <a:rPr sz="1875" b="0">
                <a:solidFill>
                  <a:srgbClr val="8AA0A4"/>
                </a:solidFill>
                <a:latin typeface="Arial"/>
                <a:ea typeface="Arial"/>
                <a:cs typeface="Arial"/>
              </a:rPr>
              <a:t>The promise is proven, on one architecture that rebuilds from its own evidence.</a:t>
            </a:r>
          </a:p>
        </p:txBody>
      </p:sp>
      <p:sp>
        <p:nvSpPr>
          <p:cNvPr id="7" name="Rectangle 6">
            <a:extLst>
              <a:ext uri="{FF2B5EF4-FFF2-40B4-BE49-F238E27FC236}">
                <a16:creationId xmlns:a16="http://schemas.microsoft.com/office/drawing/2014/main" id="{4A39A1DD-51F2-4B96-95ED-D5C820908247}"/>
              </a:ext>
            </a:extLst>
          </p:cNvPr>
          <p:cNvSpPr>
            <a:spLocks noGrp="1"/>
          </p:cNvSpPr>
          <p:nvPr/>
        </p:nvSpPr>
        <p:spPr>
          <a:xfrm>
            <a:off x="685800" y="6115050"/>
            <a:ext cx="2286000" cy="266700"/>
          </a:xfrm>
          <a:prstGeom prst="rect">
            <a:avLst/>
          </a:prstGeom>
          <a:noFill/>
          <a:ln w="0">
            <a:noFill/>
            <a:prstDash val="solid"/>
          </a:ln>
        </p:spPr>
        <p:txBody>
          <a:bodyPr wrap="square" lIns="0" tIns="0" rIns="0" bIns="0" anchor="t">
            <a:normAutofit/>
          </a:bodyPr>
          <a:lstStyle/>
          <a:p>
            <a:pPr algn="l">
              <a:defRPr sz="1200" b="1">
                <a:solidFill>
                  <a:srgbClr val="47C6B7"/>
                </a:solidFill>
                <a:latin typeface="Arial"/>
                <a:ea typeface="Arial"/>
                <a:cs typeface="Arial"/>
              </a:defRPr>
            </a:pPr>
            <a:r>
              <a:rPr sz="1200" b="1">
                <a:solidFill>
                  <a:srgbClr val="47C6B7"/>
                </a:solidFill>
                <a:latin typeface="Arial"/>
                <a:ea typeface="Arial"/>
                <a:cs typeface="Arial"/>
              </a:rPr>
              <a:t>MeetingMiner</a:t>
            </a:r>
          </a:p>
        </p:txBody>
      </p:sp>
    </p:spTree>
    <p:extLst>
      <p:ext uri="{BB962C8B-B14F-4D97-AF65-F5344CB8AC3E}">
        <p14:creationId xmlns:p14="http://schemas.microsoft.com/office/powerpoint/2010/main" val="196176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C5C6345-AEFA-44B1-B7CF-24A2A39A9F20}"/>
              </a:ext>
            </a:extLst>
          </p:cNvPr>
          <p:cNvSpPr>
            <a:spLocks noGrp="1"/>
          </p:cNvSpPr>
          <p:nvPr/>
        </p:nvSpPr>
        <p:spPr>
          <a:xfrm>
            <a:off x="0" y="0"/>
            <a:ext cx="12192000" cy="66675"/>
          </a:xfrm>
          <a:prstGeom prst="rect">
            <a:avLst/>
          </a:prstGeom>
          <a:solidFill>
            <a:srgbClr val="3B82A6"/>
          </a:solidFill>
          <a:ln w="0">
            <a:noFill/>
            <a:prstDash val="solid"/>
          </a:ln>
        </p:spPr>
        <p:txBody>
          <a:bodyPr/>
          <a:lstStyle/>
          <a:p>
            <a:endParaRPr lang="en-US"/>
          </a:p>
        </p:txBody>
      </p:sp>
      <p:sp>
        <p:nvSpPr>
          <p:cNvPr id="2" name="section-18">
            <a:extLst>
              <a:ext uri="{FF2B5EF4-FFF2-40B4-BE49-F238E27FC236}">
                <a16:creationId xmlns:a16="http://schemas.microsoft.com/office/drawing/2014/main" id="{E7877D8E-B8FA-4217-B298-2994C3CBC260}"/>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3B82A6"/>
                </a:solidFill>
                <a:latin typeface="Arial"/>
                <a:ea typeface="Arial"/>
                <a:cs typeface="Arial"/>
              </a:defRPr>
            </a:pPr>
            <a:r>
              <a:rPr sz="975" b="1">
                <a:solidFill>
                  <a:srgbClr val="3B82A6"/>
                </a:solidFill>
                <a:latin typeface="Arial"/>
                <a:ea typeface="Arial"/>
                <a:cs typeface="Arial"/>
              </a:rPr>
              <a:t>APPENDIX · STACK DECODER</a:t>
            </a:r>
          </a:p>
        </p:txBody>
      </p:sp>
      <p:sp>
        <p:nvSpPr>
          <p:cNvPr id="3" name="Rectangle 2">
            <a:extLst>
              <a:ext uri="{FF2B5EF4-FFF2-40B4-BE49-F238E27FC236}">
                <a16:creationId xmlns:a16="http://schemas.microsoft.com/office/drawing/2014/main" id="{B7FB5DA0-89AB-41F9-8E82-5E633CEFB5D5}"/>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12</a:t>
            </a:r>
          </a:p>
        </p:txBody>
      </p:sp>
      <p:sp>
        <p:nvSpPr>
          <p:cNvPr id="4" name="Rectangle 3">
            <a:extLst>
              <a:ext uri="{FF2B5EF4-FFF2-40B4-BE49-F238E27FC236}">
                <a16:creationId xmlns:a16="http://schemas.microsoft.com/office/drawing/2014/main" id="{0044A154-BC65-4B85-9C96-514E58992759}"/>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B1BB91E6-335A-4DDB-8C87-56669F08D1E7}"/>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The stack, translated into plain English.</a:t>
            </a:r>
          </a:p>
        </p:txBody>
      </p:sp>
      <p:sp>
        <p:nvSpPr>
          <p:cNvPr id="6" name="Rectangle 5">
            <a:extLst>
              <a:ext uri="{FF2B5EF4-FFF2-40B4-BE49-F238E27FC236}">
                <a16:creationId xmlns:a16="http://schemas.microsoft.com/office/drawing/2014/main" id="{F95ADD42-0DD6-4132-AEA0-0610EEF2A744}"/>
              </a:ext>
            </a:extLst>
          </p:cNvPr>
          <p:cNvSpPr>
            <a:spLocks noGrp="1"/>
          </p:cNvSpPr>
          <p:nvPr/>
        </p:nvSpPr>
        <p:spPr>
          <a:xfrm>
            <a:off x="685800" y="1676400"/>
            <a:ext cx="2000250" cy="361950"/>
          </a:xfrm>
          <a:prstGeom prst="rect">
            <a:avLst/>
          </a:prstGeom>
          <a:noFill/>
          <a:ln w="0">
            <a:noFill/>
            <a:prstDash val="solid"/>
          </a:ln>
        </p:spPr>
        <p:txBody>
          <a:bodyPr wrap="square" lIns="0" tIns="0" rIns="0" bIns="0" anchor="t">
            <a:normAutofit/>
          </a:bodyPr>
          <a:lstStyle/>
          <a:p>
            <a:pPr algn="l">
              <a:defRPr sz="1800" b="1">
                <a:solidFill>
                  <a:srgbClr val="F2A93B"/>
                </a:solidFill>
                <a:latin typeface="Arial"/>
                <a:ea typeface="Arial"/>
                <a:cs typeface="Arial"/>
              </a:defRPr>
            </a:pPr>
            <a:r>
              <a:rPr sz="1800" b="1">
                <a:solidFill>
                  <a:srgbClr val="F2A93B"/>
                </a:solidFill>
                <a:latin typeface="Arial"/>
                <a:ea typeface="Arial"/>
                <a:cs typeface="Arial"/>
              </a:rPr>
              <a:t>BM25</a:t>
            </a:r>
          </a:p>
        </p:txBody>
      </p:sp>
      <p:sp>
        <p:nvSpPr>
          <p:cNvPr id="7" name="Rectangle 6">
            <a:extLst>
              <a:ext uri="{FF2B5EF4-FFF2-40B4-BE49-F238E27FC236}">
                <a16:creationId xmlns:a16="http://schemas.microsoft.com/office/drawing/2014/main" id="{6BDBAB77-B8F3-452F-9866-E590D5243DF8}"/>
              </a:ext>
            </a:extLst>
          </p:cNvPr>
          <p:cNvSpPr>
            <a:spLocks noGrp="1"/>
          </p:cNvSpPr>
          <p:nvPr/>
        </p:nvSpPr>
        <p:spPr>
          <a:xfrm>
            <a:off x="685800" y="20955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Exact-word search. Strong when the question reuses the transcript's wording.</a:t>
            </a:r>
          </a:p>
        </p:txBody>
      </p:sp>
      <p:sp>
        <p:nvSpPr>
          <p:cNvPr id="8" name="Rectangle 7">
            <a:extLst>
              <a:ext uri="{FF2B5EF4-FFF2-40B4-BE49-F238E27FC236}">
                <a16:creationId xmlns:a16="http://schemas.microsoft.com/office/drawing/2014/main" id="{AD030224-CB14-44A6-91DA-0B154FDCD93E}"/>
              </a:ext>
            </a:extLst>
          </p:cNvPr>
          <p:cNvSpPr>
            <a:spLocks noGrp="1"/>
          </p:cNvSpPr>
          <p:nvPr/>
        </p:nvSpPr>
        <p:spPr>
          <a:xfrm>
            <a:off x="685800" y="2876550"/>
            <a:ext cx="4762500" cy="19050"/>
          </a:xfrm>
          <a:prstGeom prst="rect">
            <a:avLst/>
          </a:prstGeom>
          <a:solidFill>
            <a:srgbClr val="31444A"/>
          </a:solidFill>
          <a:ln w="0">
            <a:noFill/>
            <a:prstDash val="solid"/>
          </a:ln>
        </p:spPr>
        <p:txBody>
          <a:bodyPr/>
          <a:lstStyle/>
          <a:p>
            <a:endParaRPr lang="en-US"/>
          </a:p>
        </p:txBody>
      </p:sp>
      <p:sp>
        <p:nvSpPr>
          <p:cNvPr id="9" name="Rectangle 8">
            <a:extLst>
              <a:ext uri="{FF2B5EF4-FFF2-40B4-BE49-F238E27FC236}">
                <a16:creationId xmlns:a16="http://schemas.microsoft.com/office/drawing/2014/main" id="{A26FE8DA-5A47-48F1-B4D6-ECD72A612922}"/>
              </a:ext>
            </a:extLst>
          </p:cNvPr>
          <p:cNvSpPr>
            <a:spLocks noGrp="1"/>
          </p:cNvSpPr>
          <p:nvPr/>
        </p:nvSpPr>
        <p:spPr>
          <a:xfrm>
            <a:off x="6096000" y="1676400"/>
            <a:ext cx="2000250" cy="361950"/>
          </a:xfrm>
          <a:prstGeom prst="rect">
            <a:avLst/>
          </a:prstGeom>
          <a:noFill/>
          <a:ln w="0">
            <a:noFill/>
            <a:prstDash val="solid"/>
          </a:ln>
        </p:spPr>
        <p:txBody>
          <a:bodyPr wrap="square" lIns="0" tIns="0" rIns="0" bIns="0" anchor="t">
            <a:normAutofit/>
          </a:bodyPr>
          <a:lstStyle/>
          <a:p>
            <a:pPr algn="l">
              <a:defRPr sz="1800" b="1">
                <a:solidFill>
                  <a:srgbClr val="47C6B7"/>
                </a:solidFill>
                <a:latin typeface="Arial"/>
                <a:ea typeface="Arial"/>
                <a:cs typeface="Arial"/>
              </a:defRPr>
            </a:pPr>
            <a:r>
              <a:rPr sz="1800" b="1">
                <a:solidFill>
                  <a:srgbClr val="47C6B7"/>
                </a:solidFill>
                <a:latin typeface="Arial"/>
                <a:ea typeface="Arial"/>
                <a:cs typeface="Arial"/>
              </a:rPr>
              <a:t>Embeddings</a:t>
            </a:r>
          </a:p>
        </p:txBody>
      </p:sp>
      <p:sp>
        <p:nvSpPr>
          <p:cNvPr id="10" name="Rectangle 9">
            <a:extLst>
              <a:ext uri="{FF2B5EF4-FFF2-40B4-BE49-F238E27FC236}">
                <a16:creationId xmlns:a16="http://schemas.microsoft.com/office/drawing/2014/main" id="{7BA54AE7-3C85-4790-BED0-7740DE2F0206}"/>
              </a:ext>
            </a:extLst>
          </p:cNvPr>
          <p:cNvSpPr>
            <a:spLocks noGrp="1"/>
          </p:cNvSpPr>
          <p:nvPr/>
        </p:nvSpPr>
        <p:spPr>
          <a:xfrm>
            <a:off x="6096000" y="20955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Numbers that represent meaning. Useful when the user paraphrases.</a:t>
            </a:r>
          </a:p>
        </p:txBody>
      </p:sp>
      <p:sp>
        <p:nvSpPr>
          <p:cNvPr id="11" name="Rectangle 10">
            <a:extLst>
              <a:ext uri="{FF2B5EF4-FFF2-40B4-BE49-F238E27FC236}">
                <a16:creationId xmlns:a16="http://schemas.microsoft.com/office/drawing/2014/main" id="{C6314F6E-507E-4E09-9937-897D25B2BF35}"/>
              </a:ext>
            </a:extLst>
          </p:cNvPr>
          <p:cNvSpPr>
            <a:spLocks noGrp="1"/>
          </p:cNvSpPr>
          <p:nvPr/>
        </p:nvSpPr>
        <p:spPr>
          <a:xfrm>
            <a:off x="6096000" y="2876550"/>
            <a:ext cx="4762500" cy="19050"/>
          </a:xfrm>
          <a:prstGeom prst="rect">
            <a:avLst/>
          </a:prstGeom>
          <a:solidFill>
            <a:srgbClr val="31444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9AF4DB1-7D6B-4B24-A04D-761B729E2DA6}"/>
              </a:ext>
            </a:extLst>
          </p:cNvPr>
          <p:cNvSpPr>
            <a:spLocks noGrp="1"/>
          </p:cNvSpPr>
          <p:nvPr/>
        </p:nvSpPr>
        <p:spPr>
          <a:xfrm>
            <a:off x="685800" y="3086100"/>
            <a:ext cx="2000250" cy="361950"/>
          </a:xfrm>
          <a:prstGeom prst="rect">
            <a:avLst/>
          </a:prstGeom>
          <a:noFill/>
          <a:ln w="0">
            <a:noFill/>
            <a:prstDash val="solid"/>
          </a:ln>
        </p:spPr>
        <p:txBody>
          <a:bodyPr wrap="square" lIns="0" tIns="0" rIns="0" bIns="0" anchor="t">
            <a:normAutofit/>
          </a:bodyPr>
          <a:lstStyle/>
          <a:p>
            <a:pPr algn="l">
              <a:defRPr sz="1800" b="1">
                <a:solidFill>
                  <a:srgbClr val="A88BFF"/>
                </a:solidFill>
                <a:latin typeface="Arial"/>
                <a:ea typeface="Arial"/>
                <a:cs typeface="Arial"/>
              </a:defRPr>
            </a:pPr>
            <a:r>
              <a:rPr sz="1800" b="1">
                <a:solidFill>
                  <a:srgbClr val="A88BFF"/>
                </a:solidFill>
                <a:latin typeface="Arial"/>
                <a:ea typeface="Arial"/>
                <a:cs typeface="Arial"/>
              </a:rPr>
              <a:t>RRF</a:t>
            </a:r>
          </a:p>
        </p:txBody>
      </p:sp>
      <p:sp>
        <p:nvSpPr>
          <p:cNvPr id="13" name="Rectangle 12">
            <a:extLst>
              <a:ext uri="{FF2B5EF4-FFF2-40B4-BE49-F238E27FC236}">
                <a16:creationId xmlns:a16="http://schemas.microsoft.com/office/drawing/2014/main" id="{77C8CCED-D0D7-4F4D-8B43-1117B4737275}"/>
              </a:ext>
            </a:extLst>
          </p:cNvPr>
          <p:cNvSpPr>
            <a:spLocks noGrp="1"/>
          </p:cNvSpPr>
          <p:nvPr/>
        </p:nvSpPr>
        <p:spPr>
          <a:xfrm>
            <a:off x="685800" y="35052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A fair way to merge two ranked result lists without comparing incompatible scores.</a:t>
            </a:r>
          </a:p>
        </p:txBody>
      </p:sp>
      <p:sp>
        <p:nvSpPr>
          <p:cNvPr id="14" name="Rectangle 13">
            <a:extLst>
              <a:ext uri="{FF2B5EF4-FFF2-40B4-BE49-F238E27FC236}">
                <a16:creationId xmlns:a16="http://schemas.microsoft.com/office/drawing/2014/main" id="{3353AAF3-1DBA-412B-A0AB-CC524072E010}"/>
              </a:ext>
            </a:extLst>
          </p:cNvPr>
          <p:cNvSpPr>
            <a:spLocks noGrp="1"/>
          </p:cNvSpPr>
          <p:nvPr/>
        </p:nvSpPr>
        <p:spPr>
          <a:xfrm>
            <a:off x="685800" y="4286250"/>
            <a:ext cx="4762500" cy="19050"/>
          </a:xfrm>
          <a:prstGeom prst="rect">
            <a:avLst/>
          </a:prstGeom>
          <a:solidFill>
            <a:srgbClr val="31444A"/>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CCB14629-054A-4D7D-B6D7-FA92F44A42C9}"/>
              </a:ext>
            </a:extLst>
          </p:cNvPr>
          <p:cNvSpPr>
            <a:spLocks noGrp="1"/>
          </p:cNvSpPr>
          <p:nvPr/>
        </p:nvSpPr>
        <p:spPr>
          <a:xfrm>
            <a:off x="6096000" y="3086100"/>
            <a:ext cx="2000250" cy="361950"/>
          </a:xfrm>
          <a:prstGeom prst="rect">
            <a:avLst/>
          </a:prstGeom>
          <a:noFill/>
          <a:ln w="0">
            <a:noFill/>
            <a:prstDash val="solid"/>
          </a:ln>
        </p:spPr>
        <p:txBody>
          <a:bodyPr wrap="square" lIns="0" tIns="0" rIns="0" bIns="0" anchor="t">
            <a:normAutofit/>
          </a:bodyPr>
          <a:lstStyle/>
          <a:p>
            <a:pPr algn="l">
              <a:defRPr sz="1800" b="1">
                <a:solidFill>
                  <a:srgbClr val="F2A93B"/>
                </a:solidFill>
                <a:latin typeface="Arial"/>
                <a:ea typeface="Arial"/>
                <a:cs typeface="Arial"/>
              </a:defRPr>
            </a:pPr>
            <a:r>
              <a:rPr sz="1800" b="1">
                <a:solidFill>
                  <a:srgbClr val="F2A93B"/>
                </a:solidFill>
                <a:latin typeface="Arial"/>
                <a:ea typeface="Arial"/>
                <a:cs typeface="Arial"/>
              </a:rPr>
              <a:t>Meilisearch</a:t>
            </a:r>
          </a:p>
        </p:txBody>
      </p:sp>
      <p:sp>
        <p:nvSpPr>
          <p:cNvPr id="16" name="Rectangle 15">
            <a:extLst>
              <a:ext uri="{FF2B5EF4-FFF2-40B4-BE49-F238E27FC236}">
                <a16:creationId xmlns:a16="http://schemas.microsoft.com/office/drawing/2014/main" id="{DE987C0D-D1D6-4BEF-BDA9-4D247FD08A45}"/>
              </a:ext>
            </a:extLst>
          </p:cNvPr>
          <p:cNvSpPr>
            <a:spLocks noGrp="1"/>
          </p:cNvSpPr>
          <p:nvPr/>
        </p:nvSpPr>
        <p:spPr>
          <a:xfrm>
            <a:off x="6096000" y="35052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The search projection: full text and vectors in one store, rebuilt from Postgres, never authoritative.</a:t>
            </a:r>
          </a:p>
        </p:txBody>
      </p:sp>
      <p:sp>
        <p:nvSpPr>
          <p:cNvPr id="17" name="Rectangle 16">
            <a:extLst>
              <a:ext uri="{FF2B5EF4-FFF2-40B4-BE49-F238E27FC236}">
                <a16:creationId xmlns:a16="http://schemas.microsoft.com/office/drawing/2014/main" id="{736B464E-3241-425C-B85D-236940C8CF51}"/>
              </a:ext>
            </a:extLst>
          </p:cNvPr>
          <p:cNvSpPr>
            <a:spLocks noGrp="1"/>
          </p:cNvSpPr>
          <p:nvPr/>
        </p:nvSpPr>
        <p:spPr>
          <a:xfrm>
            <a:off x="6096000" y="4286250"/>
            <a:ext cx="4762500" cy="19050"/>
          </a:xfrm>
          <a:prstGeom prst="rect">
            <a:avLst/>
          </a:prstGeom>
          <a:solidFill>
            <a:srgbClr val="31444A"/>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5E3EFDDD-6A55-4944-8E60-6415FE626FBC}"/>
              </a:ext>
            </a:extLst>
          </p:cNvPr>
          <p:cNvSpPr>
            <a:spLocks noGrp="1"/>
          </p:cNvSpPr>
          <p:nvPr/>
        </p:nvSpPr>
        <p:spPr>
          <a:xfrm>
            <a:off x="685800" y="4495800"/>
            <a:ext cx="2000250" cy="361950"/>
          </a:xfrm>
          <a:prstGeom prst="rect">
            <a:avLst/>
          </a:prstGeom>
          <a:noFill/>
          <a:ln w="0">
            <a:noFill/>
            <a:prstDash val="solid"/>
          </a:ln>
        </p:spPr>
        <p:txBody>
          <a:bodyPr wrap="square" lIns="0" tIns="0" rIns="0" bIns="0" anchor="t">
            <a:normAutofit fontScale="91540"/>
          </a:bodyPr>
          <a:lstStyle/>
          <a:p>
            <a:pPr algn="l">
              <a:defRPr sz="1800" b="1">
                <a:solidFill>
                  <a:srgbClr val="47C6B7"/>
                </a:solidFill>
                <a:latin typeface="Arial"/>
                <a:ea typeface="Arial"/>
                <a:cs typeface="Arial"/>
              </a:defRPr>
            </a:pPr>
            <a:r>
              <a:rPr sz="1800" b="1">
                <a:solidFill>
                  <a:srgbClr val="47C6B7"/>
                </a:solidFill>
                <a:latin typeface="Arial"/>
                <a:ea typeface="Arial"/>
                <a:cs typeface="Arial"/>
              </a:rPr>
              <a:t>Postgres authority</a:t>
            </a:r>
          </a:p>
        </p:txBody>
      </p:sp>
      <p:sp>
        <p:nvSpPr>
          <p:cNvPr id="19" name="Rectangle 18">
            <a:extLst>
              <a:ext uri="{FF2B5EF4-FFF2-40B4-BE49-F238E27FC236}">
                <a16:creationId xmlns:a16="http://schemas.microsoft.com/office/drawing/2014/main" id="{01709D8B-C121-4FBD-8DFB-85A678AA77B9}"/>
              </a:ext>
            </a:extLst>
          </p:cNvPr>
          <p:cNvSpPr>
            <a:spLocks noGrp="1"/>
          </p:cNvSpPr>
          <p:nvPr/>
        </p:nvSpPr>
        <p:spPr>
          <a:xfrm>
            <a:off x="685800" y="49149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The database whose identities, constraints and lifecycle rules are final.</a:t>
            </a:r>
          </a:p>
        </p:txBody>
      </p:sp>
      <p:sp>
        <p:nvSpPr>
          <p:cNvPr id="20" name="Rectangle 19">
            <a:extLst>
              <a:ext uri="{FF2B5EF4-FFF2-40B4-BE49-F238E27FC236}">
                <a16:creationId xmlns:a16="http://schemas.microsoft.com/office/drawing/2014/main" id="{FB49E875-7FA7-49CC-8E9C-E13CA6D36DE6}"/>
              </a:ext>
            </a:extLst>
          </p:cNvPr>
          <p:cNvSpPr>
            <a:spLocks noGrp="1"/>
          </p:cNvSpPr>
          <p:nvPr/>
        </p:nvSpPr>
        <p:spPr>
          <a:xfrm>
            <a:off x="6096000" y="4495800"/>
            <a:ext cx="2000250" cy="361950"/>
          </a:xfrm>
          <a:prstGeom prst="rect">
            <a:avLst/>
          </a:prstGeom>
          <a:noFill/>
          <a:ln w="0">
            <a:noFill/>
            <a:prstDash val="solid"/>
          </a:ln>
        </p:spPr>
        <p:txBody>
          <a:bodyPr wrap="square" lIns="0" tIns="0" rIns="0" bIns="0" anchor="t">
            <a:normAutofit/>
          </a:bodyPr>
          <a:lstStyle/>
          <a:p>
            <a:pPr algn="l">
              <a:defRPr sz="1800" b="1">
                <a:solidFill>
                  <a:srgbClr val="3B82A6"/>
                </a:solidFill>
                <a:latin typeface="Arial"/>
                <a:ea typeface="Arial"/>
                <a:cs typeface="Arial"/>
              </a:defRPr>
            </a:pPr>
            <a:r>
              <a:rPr sz="1800" b="1">
                <a:solidFill>
                  <a:srgbClr val="3B82A6"/>
                </a:solidFill>
                <a:latin typeface="Arial"/>
                <a:ea typeface="Arial"/>
                <a:cs typeface="Arial"/>
              </a:rPr>
              <a:t>SSE</a:t>
            </a:r>
          </a:p>
        </p:txBody>
      </p:sp>
      <p:sp>
        <p:nvSpPr>
          <p:cNvPr id="21" name="Rectangle 20">
            <a:extLst>
              <a:ext uri="{FF2B5EF4-FFF2-40B4-BE49-F238E27FC236}">
                <a16:creationId xmlns:a16="http://schemas.microsoft.com/office/drawing/2014/main" id="{618F9307-E9FF-4878-88C4-C9D73310A142}"/>
              </a:ext>
            </a:extLst>
          </p:cNvPr>
          <p:cNvSpPr>
            <a:spLocks noGrp="1"/>
          </p:cNvSpPr>
          <p:nvPr/>
        </p:nvSpPr>
        <p:spPr>
          <a:xfrm>
            <a:off x="6096000" y="4914900"/>
            <a:ext cx="4762500" cy="7429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One HTTP connection that keeps sending progress or answer updates to the browser.</a:t>
            </a:r>
          </a:p>
        </p:txBody>
      </p:sp>
    </p:spTree>
    <p:extLst>
      <p:ext uri="{BB962C8B-B14F-4D97-AF65-F5344CB8AC3E}">
        <p14:creationId xmlns:p14="http://schemas.microsoft.com/office/powerpoint/2010/main" val="516040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CFF4186-3794-4C78-93CB-8478E4786F16}"/>
              </a:ext>
            </a:extLst>
          </p:cNvPr>
          <p:cNvSpPr>
            <a:spLocks noGrp="1"/>
          </p:cNvSpPr>
          <p:nvPr/>
        </p:nvSpPr>
        <p:spPr>
          <a:xfrm>
            <a:off x="0" y="0"/>
            <a:ext cx="12192000" cy="66675"/>
          </a:xfrm>
          <a:prstGeom prst="rect">
            <a:avLst/>
          </a:prstGeom>
          <a:solidFill>
            <a:srgbClr val="F2A93B"/>
          </a:solidFill>
          <a:ln w="0">
            <a:noFill/>
            <a:prstDash val="solid"/>
          </a:ln>
        </p:spPr>
        <p:txBody>
          <a:bodyPr/>
          <a:lstStyle/>
          <a:p>
            <a:endParaRPr lang="en-US"/>
          </a:p>
        </p:txBody>
      </p:sp>
      <p:sp>
        <p:nvSpPr>
          <p:cNvPr id="2" name="section-19">
            <a:extLst>
              <a:ext uri="{FF2B5EF4-FFF2-40B4-BE49-F238E27FC236}">
                <a16:creationId xmlns:a16="http://schemas.microsoft.com/office/drawing/2014/main" id="{26EA9BDB-9DC6-4475-B4AC-047B2EE974E9}"/>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F2A93B"/>
                </a:solidFill>
                <a:latin typeface="Arial"/>
                <a:ea typeface="Arial"/>
                <a:cs typeface="Arial"/>
              </a:defRPr>
            </a:pPr>
            <a:r>
              <a:rPr sz="975" b="1">
                <a:solidFill>
                  <a:srgbClr val="F2A93B"/>
                </a:solidFill>
                <a:latin typeface="Arial"/>
                <a:ea typeface="Arial"/>
                <a:cs typeface="Arial"/>
              </a:rPr>
              <a:t>APPENDIX · RETRIEVAL</a:t>
            </a:r>
          </a:p>
        </p:txBody>
      </p:sp>
      <p:sp>
        <p:nvSpPr>
          <p:cNvPr id="3" name="Rectangle 2">
            <a:extLst>
              <a:ext uri="{FF2B5EF4-FFF2-40B4-BE49-F238E27FC236}">
                <a16:creationId xmlns:a16="http://schemas.microsoft.com/office/drawing/2014/main" id="{B9A64E76-6C51-4F12-BF17-A658D5BDA69F}"/>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13</a:t>
            </a:r>
          </a:p>
        </p:txBody>
      </p:sp>
      <p:sp>
        <p:nvSpPr>
          <p:cNvPr id="4" name="Rectangle 3">
            <a:extLst>
              <a:ext uri="{FF2B5EF4-FFF2-40B4-BE49-F238E27FC236}">
                <a16:creationId xmlns:a16="http://schemas.microsoft.com/office/drawing/2014/main" id="{FDA82AE6-2697-45A4-838F-3442988B0ADF}"/>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078337C1-61B6-4AED-8EEB-341BE1A01D0D}"/>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Hybrid search was measured, not guessed.</a:t>
            </a:r>
          </a:p>
        </p:txBody>
      </p:sp>
      <p:sp>
        <p:nvSpPr>
          <p:cNvPr id="6" name="Rectangle 5">
            <a:extLst>
              <a:ext uri="{FF2B5EF4-FFF2-40B4-BE49-F238E27FC236}">
                <a16:creationId xmlns:a16="http://schemas.microsoft.com/office/drawing/2014/main" id="{37604AFC-9A25-4804-B899-64F54D6027D6}"/>
              </a:ext>
            </a:extLst>
          </p:cNvPr>
          <p:cNvSpPr>
            <a:spLocks noGrp="1"/>
          </p:cNvSpPr>
          <p:nvPr/>
        </p:nvSpPr>
        <p:spPr>
          <a:xfrm>
            <a:off x="704850" y="1219200"/>
            <a:ext cx="4000500" cy="266700"/>
          </a:xfrm>
          <a:prstGeom prst="rect">
            <a:avLst/>
          </a:prstGeom>
          <a:noFill/>
          <a:ln w="0">
            <a:noFill/>
            <a:prstDash val="solid"/>
          </a:ln>
        </p:spPr>
        <p:txBody>
          <a:bodyPr wrap="square" lIns="0" tIns="0" rIns="0" bIns="0" anchor="t">
            <a:normAutofit/>
          </a:bodyPr>
          <a:lstStyle/>
          <a:p>
            <a:pPr algn="l">
              <a:defRPr sz="1275" b="0">
                <a:solidFill>
                  <a:srgbClr val="8AA0A4"/>
                </a:solidFill>
                <a:latin typeface="Arial"/>
                <a:ea typeface="Arial"/>
                <a:cs typeface="Arial"/>
              </a:defRPr>
            </a:pPr>
            <a:r>
              <a:rPr sz="1275" b="0">
                <a:solidFill>
                  <a:srgbClr val="8AA0A4"/>
                </a:solidFill>
                <a:latin typeface="Arial"/>
                <a:ea typeface="Arial"/>
                <a:cs typeface="Arial"/>
              </a:rPr>
              <a:t>Recall@5 · 303 labelled tasks · 7,730 passages</a:t>
            </a:r>
          </a:p>
        </p:txBody>
      </p:sp>
      <p:sp>
        <p:nvSpPr>
          <p:cNvPr id="7" name="Rectangle 6">
            <a:extLst>
              <a:ext uri="{FF2B5EF4-FFF2-40B4-BE49-F238E27FC236}">
                <a16:creationId xmlns:a16="http://schemas.microsoft.com/office/drawing/2014/main" id="{8473150E-3A0E-48CD-B6F4-42EAF21A15A1}"/>
              </a:ext>
            </a:extLst>
          </p:cNvPr>
          <p:cNvSpPr>
            <a:spLocks noGrp="1"/>
          </p:cNvSpPr>
          <p:nvPr/>
        </p:nvSpPr>
        <p:spPr>
          <a:xfrm>
            <a:off x="1104900" y="4953000"/>
            <a:ext cx="7048500" cy="28575"/>
          </a:xfrm>
          <a:prstGeom prst="rect">
            <a:avLst/>
          </a:prstGeom>
          <a:solidFill>
            <a:srgbClr val="31444A"/>
          </a:solidFill>
          <a:ln w="0">
            <a:noFill/>
            <a:prstDash val="solid"/>
          </a:ln>
        </p:spPr>
        <p:txBody>
          <a:bodyPr/>
          <a:lstStyle/>
          <a:p>
            <a:endParaRPr lang="en-US"/>
          </a:p>
        </p:txBody>
      </p:sp>
      <p:sp>
        <p:nvSpPr>
          <p:cNvPr id="8" name="Rectangle 7">
            <a:extLst>
              <a:ext uri="{FF2B5EF4-FFF2-40B4-BE49-F238E27FC236}">
                <a16:creationId xmlns:a16="http://schemas.microsoft.com/office/drawing/2014/main" id="{19749D51-5776-4887-AA3E-0DF511BEFBC5}"/>
              </a:ext>
            </a:extLst>
          </p:cNvPr>
          <p:cNvSpPr>
            <a:spLocks noGrp="1"/>
          </p:cNvSpPr>
          <p:nvPr/>
        </p:nvSpPr>
        <p:spPr>
          <a:xfrm>
            <a:off x="1428750" y="3181350"/>
            <a:ext cx="895350" cy="1771650"/>
          </a:xfrm>
          <a:prstGeom prst="rect">
            <a:avLst/>
          </a:prstGeom>
          <a:solidFill>
            <a:srgbClr val="F2A93B"/>
          </a:solidFill>
          <a:ln w="0">
            <a:noFill/>
            <a:prstDash val="solid"/>
          </a:ln>
        </p:spPr>
        <p:txBody>
          <a:bodyPr/>
          <a:lstStyle/>
          <a:p>
            <a:endParaRPr lang="en-US"/>
          </a:p>
        </p:txBody>
      </p:sp>
      <p:sp>
        <p:nvSpPr>
          <p:cNvPr id="9" name="Rectangle 8">
            <a:extLst>
              <a:ext uri="{FF2B5EF4-FFF2-40B4-BE49-F238E27FC236}">
                <a16:creationId xmlns:a16="http://schemas.microsoft.com/office/drawing/2014/main" id="{FA682C0B-169F-4AEF-9DF7-9836B35E00E1}"/>
              </a:ext>
            </a:extLst>
          </p:cNvPr>
          <p:cNvSpPr>
            <a:spLocks noGrp="1"/>
          </p:cNvSpPr>
          <p:nvPr/>
        </p:nvSpPr>
        <p:spPr>
          <a:xfrm>
            <a:off x="1352550" y="2819400"/>
            <a:ext cx="1047750" cy="285750"/>
          </a:xfrm>
          <a:prstGeom prst="rect">
            <a:avLst/>
          </a:prstGeom>
          <a:noFill/>
          <a:ln w="0">
            <a:noFill/>
            <a:prstDash val="solid"/>
          </a:ln>
        </p:spPr>
        <p:txBody>
          <a:bodyPr wrap="square" lIns="0" tIns="0" rIns="0" bIns="0" anchor="t">
            <a:normAutofit/>
          </a:bodyPr>
          <a:lstStyle/>
          <a:p>
            <a:pPr algn="ctr">
              <a:defRPr sz="1575" b="1">
                <a:solidFill>
                  <a:srgbClr val="F2A93B"/>
                </a:solidFill>
                <a:latin typeface="Arial"/>
                <a:ea typeface="Arial"/>
                <a:cs typeface="Arial"/>
              </a:defRPr>
            </a:pPr>
            <a:r>
              <a:rPr sz="1575" b="1">
                <a:solidFill>
                  <a:srgbClr val="F2A93B"/>
                </a:solidFill>
                <a:latin typeface="Arial"/>
                <a:ea typeface="Arial"/>
                <a:cs typeface="Arial"/>
              </a:rPr>
              <a:t>37.2%</a:t>
            </a:r>
          </a:p>
        </p:txBody>
      </p:sp>
      <p:sp>
        <p:nvSpPr>
          <p:cNvPr id="10" name="Rectangle 9">
            <a:extLst>
              <a:ext uri="{FF2B5EF4-FFF2-40B4-BE49-F238E27FC236}">
                <a16:creationId xmlns:a16="http://schemas.microsoft.com/office/drawing/2014/main" id="{19B4AA0F-C09B-405A-879A-31B80E3B2D4F}"/>
              </a:ext>
            </a:extLst>
          </p:cNvPr>
          <p:cNvSpPr>
            <a:spLocks noGrp="1"/>
          </p:cNvSpPr>
          <p:nvPr/>
        </p:nvSpPr>
        <p:spPr>
          <a:xfrm>
            <a:off x="1066800" y="5105400"/>
            <a:ext cx="1619250" cy="285750"/>
          </a:xfrm>
          <a:prstGeom prst="rect">
            <a:avLst/>
          </a:prstGeom>
          <a:noFill/>
          <a:ln w="0">
            <a:noFill/>
            <a:prstDash val="solid"/>
          </a:ln>
        </p:spPr>
        <p:txBody>
          <a:bodyPr wrap="square" lIns="0" tIns="0" rIns="0" bIns="0" anchor="t">
            <a:normAutofit/>
          </a:bodyPr>
          <a:lstStyle/>
          <a:p>
            <a:pPr algn="ctr">
              <a:defRPr sz="1050" b="0">
                <a:solidFill>
                  <a:srgbClr val="E8F0EF"/>
                </a:solidFill>
                <a:latin typeface="Arial"/>
                <a:ea typeface="Arial"/>
                <a:cs typeface="Arial"/>
              </a:defRPr>
            </a:pPr>
            <a:r>
              <a:rPr sz="1050" b="0">
                <a:solidFill>
                  <a:srgbClr val="E8F0EF"/>
                </a:solidFill>
                <a:latin typeface="Arial"/>
                <a:ea typeface="Arial"/>
                <a:cs typeface="Arial"/>
              </a:rPr>
              <a:t>exact · BM25</a:t>
            </a:r>
          </a:p>
        </p:txBody>
      </p:sp>
      <p:sp>
        <p:nvSpPr>
          <p:cNvPr id="11" name="Rectangle 10">
            <a:extLst>
              <a:ext uri="{FF2B5EF4-FFF2-40B4-BE49-F238E27FC236}">
                <a16:creationId xmlns:a16="http://schemas.microsoft.com/office/drawing/2014/main" id="{206003BC-14FF-4328-AC64-0FA3F7913E2D}"/>
              </a:ext>
            </a:extLst>
          </p:cNvPr>
          <p:cNvSpPr>
            <a:spLocks noGrp="1"/>
          </p:cNvSpPr>
          <p:nvPr/>
        </p:nvSpPr>
        <p:spPr>
          <a:xfrm>
            <a:off x="3238500" y="3390900"/>
            <a:ext cx="895350" cy="1562100"/>
          </a:xfrm>
          <a:prstGeom prst="rect">
            <a:avLst/>
          </a:prstGeom>
          <a:solidFill>
            <a:srgbClr val="47C6B7"/>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3E1F38D-FBD2-4FE4-8D42-BE64B17EDA82}"/>
              </a:ext>
            </a:extLst>
          </p:cNvPr>
          <p:cNvSpPr>
            <a:spLocks noGrp="1"/>
          </p:cNvSpPr>
          <p:nvPr/>
        </p:nvSpPr>
        <p:spPr>
          <a:xfrm>
            <a:off x="3162300" y="3028950"/>
            <a:ext cx="1047750" cy="285750"/>
          </a:xfrm>
          <a:prstGeom prst="rect">
            <a:avLst/>
          </a:prstGeom>
          <a:noFill/>
          <a:ln w="0">
            <a:noFill/>
            <a:prstDash val="solid"/>
          </a:ln>
        </p:spPr>
        <p:txBody>
          <a:bodyPr wrap="square" lIns="0" tIns="0" rIns="0" bIns="0" anchor="t">
            <a:normAutofit/>
          </a:bodyPr>
          <a:lstStyle/>
          <a:p>
            <a:pPr algn="ctr">
              <a:defRPr sz="1575" b="1">
                <a:solidFill>
                  <a:srgbClr val="47C6B7"/>
                </a:solidFill>
                <a:latin typeface="Arial"/>
                <a:ea typeface="Arial"/>
                <a:cs typeface="Arial"/>
              </a:defRPr>
            </a:pPr>
            <a:r>
              <a:rPr sz="1575" b="1">
                <a:solidFill>
                  <a:srgbClr val="47C6B7"/>
                </a:solidFill>
                <a:latin typeface="Arial"/>
                <a:ea typeface="Arial"/>
                <a:cs typeface="Arial"/>
              </a:rPr>
              <a:t>32.8%</a:t>
            </a:r>
          </a:p>
        </p:txBody>
      </p:sp>
      <p:sp>
        <p:nvSpPr>
          <p:cNvPr id="13" name="Rectangle 12">
            <a:extLst>
              <a:ext uri="{FF2B5EF4-FFF2-40B4-BE49-F238E27FC236}">
                <a16:creationId xmlns:a16="http://schemas.microsoft.com/office/drawing/2014/main" id="{B802AAF8-DF98-4618-8610-7DE22EA9D538}"/>
              </a:ext>
            </a:extLst>
          </p:cNvPr>
          <p:cNvSpPr>
            <a:spLocks noGrp="1"/>
          </p:cNvSpPr>
          <p:nvPr/>
        </p:nvSpPr>
        <p:spPr>
          <a:xfrm>
            <a:off x="2876550" y="5105400"/>
            <a:ext cx="1619250" cy="285750"/>
          </a:xfrm>
          <a:prstGeom prst="rect">
            <a:avLst/>
          </a:prstGeom>
          <a:noFill/>
          <a:ln w="0">
            <a:noFill/>
            <a:prstDash val="solid"/>
          </a:ln>
        </p:spPr>
        <p:txBody>
          <a:bodyPr wrap="square" lIns="0" tIns="0" rIns="0" bIns="0" anchor="t">
            <a:normAutofit/>
          </a:bodyPr>
          <a:lstStyle/>
          <a:p>
            <a:pPr algn="ctr">
              <a:defRPr sz="1050" b="0">
                <a:solidFill>
                  <a:srgbClr val="E8F0EF"/>
                </a:solidFill>
                <a:latin typeface="Arial"/>
                <a:ea typeface="Arial"/>
                <a:cs typeface="Arial"/>
              </a:defRPr>
            </a:pPr>
            <a:r>
              <a:rPr sz="1050" b="0">
                <a:solidFill>
                  <a:srgbClr val="E8F0EF"/>
                </a:solidFill>
                <a:latin typeface="Arial"/>
                <a:ea typeface="Arial"/>
                <a:cs typeface="Arial"/>
              </a:rPr>
              <a:t>exact · embedding</a:t>
            </a:r>
          </a:p>
        </p:txBody>
      </p:sp>
      <p:sp>
        <p:nvSpPr>
          <p:cNvPr id="14" name="Rectangle 13">
            <a:extLst>
              <a:ext uri="{FF2B5EF4-FFF2-40B4-BE49-F238E27FC236}">
                <a16:creationId xmlns:a16="http://schemas.microsoft.com/office/drawing/2014/main" id="{471C044A-28C7-47B3-A23F-10965A5A9816}"/>
              </a:ext>
            </a:extLst>
          </p:cNvPr>
          <p:cNvSpPr>
            <a:spLocks noGrp="1"/>
          </p:cNvSpPr>
          <p:nvPr/>
        </p:nvSpPr>
        <p:spPr>
          <a:xfrm>
            <a:off x="5238750" y="2924175"/>
            <a:ext cx="895350" cy="2028825"/>
          </a:xfrm>
          <a:prstGeom prst="rect">
            <a:avLst/>
          </a:prstGeom>
          <a:solidFill>
            <a:srgbClr val="F2A93B"/>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D0E6F79E-6675-41D1-A8DF-1E7A45B36AF6}"/>
              </a:ext>
            </a:extLst>
          </p:cNvPr>
          <p:cNvSpPr>
            <a:spLocks noGrp="1"/>
          </p:cNvSpPr>
          <p:nvPr/>
        </p:nvSpPr>
        <p:spPr>
          <a:xfrm>
            <a:off x="5162550" y="2562225"/>
            <a:ext cx="1047750" cy="285750"/>
          </a:xfrm>
          <a:prstGeom prst="rect">
            <a:avLst/>
          </a:prstGeom>
          <a:noFill/>
          <a:ln w="0">
            <a:noFill/>
            <a:prstDash val="solid"/>
          </a:ln>
        </p:spPr>
        <p:txBody>
          <a:bodyPr wrap="square" lIns="0" tIns="0" rIns="0" bIns="0" anchor="t">
            <a:normAutofit/>
          </a:bodyPr>
          <a:lstStyle/>
          <a:p>
            <a:pPr algn="ctr">
              <a:defRPr sz="1575" b="1">
                <a:solidFill>
                  <a:srgbClr val="F2A93B"/>
                </a:solidFill>
                <a:latin typeface="Arial"/>
                <a:ea typeface="Arial"/>
                <a:cs typeface="Arial"/>
              </a:defRPr>
            </a:pPr>
            <a:r>
              <a:rPr sz="1575" b="1">
                <a:solidFill>
                  <a:srgbClr val="F2A93B"/>
                </a:solidFill>
                <a:latin typeface="Arial"/>
                <a:ea typeface="Arial"/>
                <a:cs typeface="Arial"/>
              </a:rPr>
              <a:t>42.5%</a:t>
            </a:r>
          </a:p>
        </p:txBody>
      </p:sp>
      <p:sp>
        <p:nvSpPr>
          <p:cNvPr id="16" name="Rectangle 15">
            <a:extLst>
              <a:ext uri="{FF2B5EF4-FFF2-40B4-BE49-F238E27FC236}">
                <a16:creationId xmlns:a16="http://schemas.microsoft.com/office/drawing/2014/main" id="{6A7D88F3-103C-438A-9BBC-840135FA9E73}"/>
              </a:ext>
            </a:extLst>
          </p:cNvPr>
          <p:cNvSpPr>
            <a:spLocks noGrp="1"/>
          </p:cNvSpPr>
          <p:nvPr/>
        </p:nvSpPr>
        <p:spPr>
          <a:xfrm>
            <a:off x="4876800" y="5105400"/>
            <a:ext cx="1619250" cy="285750"/>
          </a:xfrm>
          <a:prstGeom prst="rect">
            <a:avLst/>
          </a:prstGeom>
          <a:noFill/>
          <a:ln w="0">
            <a:noFill/>
            <a:prstDash val="solid"/>
          </a:ln>
        </p:spPr>
        <p:txBody>
          <a:bodyPr wrap="square" lIns="0" tIns="0" rIns="0" bIns="0" anchor="t">
            <a:normAutofit/>
          </a:bodyPr>
          <a:lstStyle/>
          <a:p>
            <a:pPr algn="ctr">
              <a:defRPr sz="1050" b="0">
                <a:solidFill>
                  <a:srgbClr val="E8F0EF"/>
                </a:solidFill>
                <a:latin typeface="Arial"/>
                <a:ea typeface="Arial"/>
                <a:cs typeface="Arial"/>
              </a:defRPr>
            </a:pPr>
            <a:r>
              <a:rPr sz="1050" b="0">
                <a:solidFill>
                  <a:srgbClr val="E8F0EF"/>
                </a:solidFill>
                <a:latin typeface="Arial"/>
                <a:ea typeface="Arial"/>
                <a:cs typeface="Arial"/>
              </a:rPr>
              <a:t>paraphrase · BM25</a:t>
            </a:r>
          </a:p>
        </p:txBody>
      </p:sp>
      <p:sp>
        <p:nvSpPr>
          <p:cNvPr id="17" name="Rectangle 16">
            <a:extLst>
              <a:ext uri="{FF2B5EF4-FFF2-40B4-BE49-F238E27FC236}">
                <a16:creationId xmlns:a16="http://schemas.microsoft.com/office/drawing/2014/main" id="{15A139BC-26C1-449D-9F91-10C0D6FFB6BB}"/>
              </a:ext>
            </a:extLst>
          </p:cNvPr>
          <p:cNvSpPr>
            <a:spLocks noGrp="1"/>
          </p:cNvSpPr>
          <p:nvPr/>
        </p:nvSpPr>
        <p:spPr>
          <a:xfrm>
            <a:off x="7048500" y="2095500"/>
            <a:ext cx="895350" cy="2857500"/>
          </a:xfrm>
          <a:prstGeom prst="rect">
            <a:avLst/>
          </a:prstGeom>
          <a:solidFill>
            <a:srgbClr val="47C6B7"/>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4410E99F-6E5E-48A7-9A68-1062AFE60153}"/>
              </a:ext>
            </a:extLst>
          </p:cNvPr>
          <p:cNvSpPr>
            <a:spLocks noGrp="1"/>
          </p:cNvSpPr>
          <p:nvPr/>
        </p:nvSpPr>
        <p:spPr>
          <a:xfrm>
            <a:off x="6972300" y="1733550"/>
            <a:ext cx="1047750" cy="285750"/>
          </a:xfrm>
          <a:prstGeom prst="rect">
            <a:avLst/>
          </a:prstGeom>
          <a:noFill/>
          <a:ln w="0">
            <a:noFill/>
            <a:prstDash val="solid"/>
          </a:ln>
        </p:spPr>
        <p:txBody>
          <a:bodyPr wrap="square" lIns="0" tIns="0" rIns="0" bIns="0" anchor="t">
            <a:normAutofit/>
          </a:bodyPr>
          <a:lstStyle/>
          <a:p>
            <a:pPr algn="ctr">
              <a:defRPr sz="1575" b="1">
                <a:solidFill>
                  <a:srgbClr val="47C6B7"/>
                </a:solidFill>
                <a:latin typeface="Arial"/>
                <a:ea typeface="Arial"/>
                <a:cs typeface="Arial"/>
              </a:defRPr>
            </a:pPr>
            <a:r>
              <a:rPr sz="1575" b="1">
                <a:solidFill>
                  <a:srgbClr val="47C6B7"/>
                </a:solidFill>
                <a:latin typeface="Arial"/>
                <a:ea typeface="Arial"/>
                <a:cs typeface="Arial"/>
              </a:rPr>
              <a:t>60.0%</a:t>
            </a:r>
          </a:p>
        </p:txBody>
      </p:sp>
      <p:sp>
        <p:nvSpPr>
          <p:cNvPr id="19" name="Rectangle 18">
            <a:extLst>
              <a:ext uri="{FF2B5EF4-FFF2-40B4-BE49-F238E27FC236}">
                <a16:creationId xmlns:a16="http://schemas.microsoft.com/office/drawing/2014/main" id="{BBD63D38-688E-4BAC-92B7-92DE52C51735}"/>
              </a:ext>
            </a:extLst>
          </p:cNvPr>
          <p:cNvSpPr>
            <a:spLocks noGrp="1"/>
          </p:cNvSpPr>
          <p:nvPr/>
        </p:nvSpPr>
        <p:spPr>
          <a:xfrm>
            <a:off x="6686550" y="5105400"/>
            <a:ext cx="1619250" cy="285750"/>
          </a:xfrm>
          <a:prstGeom prst="rect">
            <a:avLst/>
          </a:prstGeom>
          <a:noFill/>
          <a:ln w="0">
            <a:noFill/>
            <a:prstDash val="solid"/>
          </a:ln>
        </p:spPr>
        <p:txBody>
          <a:bodyPr wrap="square" lIns="0" tIns="0" rIns="0" bIns="0" anchor="t">
            <a:normAutofit/>
          </a:bodyPr>
          <a:lstStyle/>
          <a:p>
            <a:pPr algn="ctr">
              <a:defRPr sz="1050" b="0">
                <a:solidFill>
                  <a:srgbClr val="E8F0EF"/>
                </a:solidFill>
                <a:latin typeface="Arial"/>
                <a:ea typeface="Arial"/>
                <a:cs typeface="Arial"/>
              </a:defRPr>
            </a:pPr>
            <a:r>
              <a:rPr sz="1050" b="0">
                <a:solidFill>
                  <a:srgbClr val="E8F0EF"/>
                </a:solidFill>
                <a:latin typeface="Arial"/>
                <a:ea typeface="Arial"/>
                <a:cs typeface="Arial"/>
              </a:rPr>
              <a:t>paraphrase · embedding</a:t>
            </a:r>
          </a:p>
        </p:txBody>
      </p:sp>
      <p:sp>
        <p:nvSpPr>
          <p:cNvPr id="20" name="Rounded Rectangle 19">
            <a:extLst>
              <a:ext uri="{FF2B5EF4-FFF2-40B4-BE49-F238E27FC236}">
                <a16:creationId xmlns:a16="http://schemas.microsoft.com/office/drawing/2014/main" id="{6A2401C7-58F4-4290-A32C-9574FFFD8DCF}"/>
              </a:ext>
            </a:extLst>
          </p:cNvPr>
          <p:cNvSpPr>
            <a:spLocks noGrp="1"/>
          </p:cNvSpPr>
          <p:nvPr/>
        </p:nvSpPr>
        <p:spPr>
          <a:xfrm>
            <a:off x="8572500" y="1790700"/>
            <a:ext cx="2914650" cy="3333750"/>
          </a:xfrm>
          <a:prstGeom prst="roundRect">
            <a:avLst>
              <a:gd name="adj" fmla="val 2614"/>
            </a:avLst>
          </a:prstGeom>
          <a:solidFill>
            <a:srgbClr val="17262C"/>
          </a:solidFill>
          <a:ln w="19050">
            <a:solidFill>
              <a:srgbClr val="F2A93B"/>
            </a:solidFill>
            <a:prstDash val="solid"/>
          </a:ln>
        </p:spPr>
        <p:txBody>
          <a:bodyPr/>
          <a:lstStyle/>
          <a:p>
            <a:endParaRPr lang="en-US"/>
          </a:p>
        </p:txBody>
      </p:sp>
      <p:sp>
        <p:nvSpPr>
          <p:cNvPr id="21" name="Rectangle 20">
            <a:extLst>
              <a:ext uri="{FF2B5EF4-FFF2-40B4-BE49-F238E27FC236}">
                <a16:creationId xmlns:a16="http://schemas.microsoft.com/office/drawing/2014/main" id="{8B29AFC2-33AF-46AD-B6AB-BF5923728BB6}"/>
              </a:ext>
            </a:extLst>
          </p:cNvPr>
          <p:cNvSpPr>
            <a:spLocks noGrp="1"/>
          </p:cNvSpPr>
          <p:nvPr/>
        </p:nvSpPr>
        <p:spPr>
          <a:xfrm>
            <a:off x="8972550" y="2190750"/>
            <a:ext cx="2095500" cy="457200"/>
          </a:xfrm>
          <a:prstGeom prst="rect">
            <a:avLst/>
          </a:prstGeom>
          <a:noFill/>
          <a:ln w="0">
            <a:noFill/>
            <a:prstDash val="solid"/>
          </a:ln>
        </p:spPr>
        <p:txBody>
          <a:bodyPr wrap="square" lIns="0" tIns="0" rIns="0" bIns="0" anchor="t">
            <a:normAutofit/>
          </a:bodyPr>
          <a:lstStyle/>
          <a:p>
            <a:pPr algn="ctr">
              <a:defRPr sz="2550" b="1">
                <a:solidFill>
                  <a:srgbClr val="F2A93B"/>
                </a:solidFill>
                <a:latin typeface="Arial"/>
                <a:ea typeface="Arial"/>
                <a:cs typeface="Arial"/>
              </a:defRPr>
            </a:pPr>
            <a:r>
              <a:rPr sz="2550" b="1">
                <a:solidFill>
                  <a:srgbClr val="F2A93B"/>
                </a:solidFill>
                <a:latin typeface="Arial"/>
                <a:ea typeface="Arial"/>
                <a:cs typeface="Arial"/>
              </a:rPr>
              <a:t>0 of 9</a:t>
            </a:r>
          </a:p>
        </p:txBody>
      </p:sp>
      <p:sp>
        <p:nvSpPr>
          <p:cNvPr id="22" name="Rectangle 21">
            <a:extLst>
              <a:ext uri="{FF2B5EF4-FFF2-40B4-BE49-F238E27FC236}">
                <a16:creationId xmlns:a16="http://schemas.microsoft.com/office/drawing/2014/main" id="{279368F4-7F39-4C39-84AB-5F73022113AA}"/>
              </a:ext>
            </a:extLst>
          </p:cNvPr>
          <p:cNvSpPr>
            <a:spLocks noGrp="1"/>
          </p:cNvSpPr>
          <p:nvPr/>
        </p:nvSpPr>
        <p:spPr>
          <a:xfrm>
            <a:off x="8972550" y="2724150"/>
            <a:ext cx="2095500" cy="876300"/>
          </a:xfrm>
          <a:prstGeom prst="rect">
            <a:avLst/>
          </a:prstGeom>
          <a:noFill/>
          <a:ln w="0">
            <a:noFill/>
            <a:prstDash val="solid"/>
          </a:ln>
        </p:spPr>
        <p:txBody>
          <a:bodyPr wrap="square" lIns="0" tIns="0" rIns="0" bIns="0" anchor="t">
            <a:normAutofit/>
          </a:bodyPr>
          <a:lstStyle/>
          <a:p>
            <a:pPr algn="ctr">
              <a:defRPr sz="1425" b="0">
                <a:solidFill>
                  <a:srgbClr val="E8F0EF"/>
                </a:solidFill>
                <a:latin typeface="Arial"/>
                <a:ea typeface="Arial"/>
                <a:cs typeface="Arial"/>
              </a:defRPr>
            </a:pPr>
            <a:r>
              <a:rPr sz="1425" b="0">
                <a:solidFill>
                  <a:srgbClr val="E8F0EF"/>
                </a:solidFill>
                <a:latin typeface="Arial"/>
                <a:ea typeface="Arial"/>
                <a:cs typeface="Arial"/>
              </a:rPr>
              <a:t>embedding models beat BM25 when the question reused the transcript's words.</a:t>
            </a:r>
          </a:p>
        </p:txBody>
      </p:sp>
      <p:sp>
        <p:nvSpPr>
          <p:cNvPr id="23" name="Rectangle 22">
            <a:extLst>
              <a:ext uri="{FF2B5EF4-FFF2-40B4-BE49-F238E27FC236}">
                <a16:creationId xmlns:a16="http://schemas.microsoft.com/office/drawing/2014/main" id="{3DF34E52-9740-4CD7-B0AC-BB473C733F81}"/>
              </a:ext>
            </a:extLst>
          </p:cNvPr>
          <p:cNvSpPr>
            <a:spLocks noGrp="1"/>
          </p:cNvSpPr>
          <p:nvPr/>
        </p:nvSpPr>
        <p:spPr>
          <a:xfrm>
            <a:off x="8972550" y="3829050"/>
            <a:ext cx="2095500" cy="457200"/>
          </a:xfrm>
          <a:prstGeom prst="rect">
            <a:avLst/>
          </a:prstGeom>
          <a:noFill/>
          <a:ln w="0">
            <a:noFill/>
            <a:prstDash val="solid"/>
          </a:ln>
        </p:spPr>
        <p:txBody>
          <a:bodyPr wrap="square" lIns="0" tIns="0" rIns="0" bIns="0" anchor="t">
            <a:normAutofit/>
          </a:bodyPr>
          <a:lstStyle/>
          <a:p>
            <a:pPr algn="ctr">
              <a:defRPr sz="2550" b="1">
                <a:solidFill>
                  <a:srgbClr val="47C6B7"/>
                </a:solidFill>
                <a:latin typeface="Arial"/>
                <a:ea typeface="Arial"/>
                <a:cs typeface="Arial"/>
              </a:defRPr>
            </a:pPr>
            <a:r>
              <a:rPr sz="2550" b="1">
                <a:solidFill>
                  <a:srgbClr val="47C6B7"/>
                </a:solidFill>
                <a:latin typeface="Arial"/>
                <a:ea typeface="Arial"/>
                <a:cs typeface="Arial"/>
              </a:rPr>
              <a:t>5 of 9</a:t>
            </a:r>
          </a:p>
        </p:txBody>
      </p:sp>
      <p:sp>
        <p:nvSpPr>
          <p:cNvPr id="24" name="Rectangle 23">
            <a:extLst>
              <a:ext uri="{FF2B5EF4-FFF2-40B4-BE49-F238E27FC236}">
                <a16:creationId xmlns:a16="http://schemas.microsoft.com/office/drawing/2014/main" id="{6AFC55A7-CD16-4778-84D6-13C2DE817EDC}"/>
              </a:ext>
            </a:extLst>
          </p:cNvPr>
          <p:cNvSpPr>
            <a:spLocks noGrp="1"/>
          </p:cNvSpPr>
          <p:nvPr/>
        </p:nvSpPr>
        <p:spPr>
          <a:xfrm>
            <a:off x="8972550" y="4362450"/>
            <a:ext cx="2095500" cy="552450"/>
          </a:xfrm>
          <a:prstGeom prst="rect">
            <a:avLst/>
          </a:prstGeom>
          <a:noFill/>
          <a:ln w="0">
            <a:noFill/>
            <a:prstDash val="solid"/>
          </a:ln>
        </p:spPr>
        <p:txBody>
          <a:bodyPr wrap="square" lIns="0" tIns="0" rIns="0" bIns="0" anchor="t">
            <a:normAutofit/>
          </a:bodyPr>
          <a:lstStyle/>
          <a:p>
            <a:pPr algn="ctr">
              <a:defRPr sz="1425" b="0">
                <a:solidFill>
                  <a:srgbClr val="E8F0EF"/>
                </a:solidFill>
                <a:latin typeface="Arial"/>
                <a:ea typeface="Arial"/>
                <a:cs typeface="Arial"/>
              </a:defRPr>
            </a:pPr>
            <a:r>
              <a:rPr sz="1425" b="0">
                <a:solidFill>
                  <a:srgbClr val="E8F0EF"/>
                </a:solidFill>
                <a:latin typeface="Arial"/>
                <a:ea typeface="Arial"/>
                <a:cs typeface="Arial"/>
              </a:rPr>
              <a:t>won when the question was a paraphrase.</a:t>
            </a:r>
          </a:p>
        </p:txBody>
      </p:sp>
    </p:spTree>
    <p:extLst>
      <p:ext uri="{BB962C8B-B14F-4D97-AF65-F5344CB8AC3E}">
        <p14:creationId xmlns:p14="http://schemas.microsoft.com/office/powerpoint/2010/main" val="2065859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11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3940D-67D3-4909-9498-A965883A7FCB}"/>
              </a:ext>
            </a:extLst>
          </p:cNvPr>
          <p:cNvSpPr>
            <a:spLocks noGrp="1"/>
          </p:cNvSpPr>
          <p:nvPr/>
        </p:nvSpPr>
        <p:spPr>
          <a:xfrm>
            <a:off x="0" y="0"/>
            <a:ext cx="12192000" cy="66675"/>
          </a:xfrm>
          <a:prstGeom prst="rect">
            <a:avLst/>
          </a:prstGeom>
          <a:solidFill>
            <a:srgbClr val="D8F36A"/>
          </a:solidFill>
          <a:ln w="0">
            <a:noFill/>
            <a:prstDash val="solid"/>
          </a:ln>
        </p:spPr>
        <p:txBody>
          <a:bodyPr/>
          <a:lstStyle/>
          <a:p>
            <a:endParaRPr lang="en-US"/>
          </a:p>
        </p:txBody>
      </p:sp>
      <p:sp>
        <p:nvSpPr>
          <p:cNvPr id="2" name="section-21">
            <a:extLst>
              <a:ext uri="{FF2B5EF4-FFF2-40B4-BE49-F238E27FC236}">
                <a16:creationId xmlns:a16="http://schemas.microsoft.com/office/drawing/2014/main" id="{7EBCF82C-6407-4A30-83D6-EA3F16491E9C}"/>
              </a:ext>
            </a:extLst>
          </p:cNvPr>
          <p:cNvSpPr>
            <a:spLocks noGrp="1"/>
          </p:cNvSpPr>
          <p:nvPr/>
        </p:nvSpPr>
        <p:spPr>
          <a:xfrm>
            <a:off x="685800" y="266700"/>
            <a:ext cx="3238500" cy="228600"/>
          </a:xfrm>
          <a:prstGeom prst="rect">
            <a:avLst/>
          </a:prstGeom>
          <a:noFill/>
          <a:ln w="0">
            <a:noFill/>
            <a:prstDash val="solid"/>
          </a:ln>
        </p:spPr>
        <p:txBody>
          <a:bodyPr wrap="square" lIns="0" tIns="0" rIns="0" bIns="0" anchor="t">
            <a:normAutofit/>
          </a:bodyPr>
          <a:lstStyle/>
          <a:p>
            <a:pPr algn="l">
              <a:defRPr sz="975" b="1">
                <a:solidFill>
                  <a:srgbClr val="D8F36A"/>
                </a:solidFill>
                <a:latin typeface="Arial"/>
                <a:ea typeface="Arial"/>
                <a:cs typeface="Arial"/>
              </a:defRPr>
            </a:pPr>
            <a:r>
              <a:rPr sz="975" b="1">
                <a:solidFill>
                  <a:srgbClr val="D8F36A"/>
                </a:solidFill>
                <a:latin typeface="Arial"/>
                <a:ea typeface="Arial"/>
                <a:cs typeface="Arial"/>
              </a:rPr>
              <a:t>APPENDIX · ROADMAP</a:t>
            </a:r>
          </a:p>
        </p:txBody>
      </p:sp>
      <p:sp>
        <p:nvSpPr>
          <p:cNvPr id="3" name="Rectangle 2">
            <a:extLst>
              <a:ext uri="{FF2B5EF4-FFF2-40B4-BE49-F238E27FC236}">
                <a16:creationId xmlns:a16="http://schemas.microsoft.com/office/drawing/2014/main" id="{ADB11F13-8680-4F49-AA2D-C7F7CAFC6565}"/>
              </a:ext>
            </a:extLst>
          </p:cNvPr>
          <p:cNvSpPr>
            <a:spLocks noGrp="1"/>
          </p:cNvSpPr>
          <p:nvPr/>
        </p:nvSpPr>
        <p:spPr>
          <a:xfrm>
            <a:off x="11258550" y="6343650"/>
            <a:ext cx="381000" cy="209550"/>
          </a:xfrm>
          <a:prstGeom prst="rect">
            <a:avLst/>
          </a:prstGeom>
          <a:noFill/>
          <a:ln w="0">
            <a:noFill/>
            <a:prstDash val="solid"/>
          </a:ln>
        </p:spPr>
        <p:txBody>
          <a:bodyPr wrap="square" lIns="0" tIns="0" rIns="0" bIns="0" anchor="t">
            <a:normAutofit/>
          </a:bodyPr>
          <a:lstStyle/>
          <a:p>
            <a:pPr algn="r">
              <a:defRPr sz="975" b="1">
                <a:solidFill>
                  <a:srgbClr val="8AA0A4"/>
                </a:solidFill>
                <a:latin typeface="Arial"/>
                <a:ea typeface="Arial"/>
                <a:cs typeface="Arial"/>
              </a:defRPr>
            </a:pPr>
            <a:r>
              <a:rPr sz="975" b="1">
                <a:solidFill>
                  <a:srgbClr val="8AA0A4"/>
                </a:solidFill>
                <a:latin typeface="Arial"/>
                <a:ea typeface="Arial"/>
                <a:cs typeface="Arial"/>
              </a:rPr>
              <a:t>14</a:t>
            </a:r>
          </a:p>
        </p:txBody>
      </p:sp>
      <p:sp>
        <p:nvSpPr>
          <p:cNvPr id="4" name="Rectangle 3">
            <a:extLst>
              <a:ext uri="{FF2B5EF4-FFF2-40B4-BE49-F238E27FC236}">
                <a16:creationId xmlns:a16="http://schemas.microsoft.com/office/drawing/2014/main" id="{B4FB7D35-E2AB-492F-9C1E-69209AEFDB46}"/>
              </a:ext>
            </a:extLst>
          </p:cNvPr>
          <p:cNvSpPr>
            <a:spLocks noGrp="1"/>
          </p:cNvSpPr>
          <p:nvPr/>
        </p:nvSpPr>
        <p:spPr>
          <a:xfrm>
            <a:off x="685800" y="6257925"/>
            <a:ext cx="10572750" cy="19050"/>
          </a:xfrm>
          <a:prstGeom prst="rect">
            <a:avLst/>
          </a:prstGeom>
          <a:solidFill>
            <a:srgbClr val="31444A"/>
          </a:solidFill>
          <a:ln w="0">
            <a:noFill/>
            <a:prstDash val="solid"/>
          </a:ln>
        </p:spPr>
        <p:txBody>
          <a:bodyPr/>
          <a:lstStyle/>
          <a:p>
            <a:endParaRPr lang="en-US"/>
          </a:p>
        </p:txBody>
      </p:sp>
      <p:sp>
        <p:nvSpPr>
          <p:cNvPr id="5" name="slide-title">
            <a:extLst>
              <a:ext uri="{FF2B5EF4-FFF2-40B4-BE49-F238E27FC236}">
                <a16:creationId xmlns:a16="http://schemas.microsoft.com/office/drawing/2014/main" id="{69D3CECD-B26B-4A95-B8BB-FACBBC800252}"/>
              </a:ext>
            </a:extLst>
          </p:cNvPr>
          <p:cNvSpPr>
            <a:spLocks noGrp="1"/>
          </p:cNvSpPr>
          <p:nvPr/>
        </p:nvSpPr>
        <p:spPr>
          <a:xfrm>
            <a:off x="685800" y="628650"/>
            <a:ext cx="10668000" cy="685800"/>
          </a:xfrm>
          <a:prstGeom prst="rect">
            <a:avLst/>
          </a:prstGeom>
          <a:noFill/>
          <a:ln w="0">
            <a:noFill/>
            <a:prstDash val="solid"/>
          </a:ln>
        </p:spPr>
        <p:txBody>
          <a:bodyPr wrap="square" lIns="0" tIns="0" rIns="0" bIns="0" anchor="t">
            <a:normAutofit/>
          </a:bodyPr>
          <a:lstStyle/>
          <a:p>
            <a:pPr algn="l">
              <a:defRPr sz="3150" b="1">
                <a:solidFill>
                  <a:srgbClr val="E8F0EF"/>
                </a:solidFill>
                <a:latin typeface="Arial"/>
                <a:ea typeface="Arial"/>
                <a:cs typeface="Arial"/>
              </a:defRPr>
            </a:pPr>
            <a:r>
              <a:rPr sz="3150" b="1">
                <a:solidFill>
                  <a:srgbClr val="E8F0EF"/>
                </a:solidFill>
                <a:latin typeface="Arial"/>
                <a:ea typeface="Arial"/>
                <a:cs typeface="Arial"/>
              </a:rPr>
              <a:t>What the evidence says to do next.</a:t>
            </a:r>
          </a:p>
        </p:txBody>
      </p:sp>
      <p:sp>
        <p:nvSpPr>
          <p:cNvPr id="6" name="Rectangle 5">
            <a:extLst>
              <a:ext uri="{FF2B5EF4-FFF2-40B4-BE49-F238E27FC236}">
                <a16:creationId xmlns:a16="http://schemas.microsoft.com/office/drawing/2014/main" id="{4E1D1F31-C377-4B3E-A235-0CAB74C144AF}"/>
              </a:ext>
            </a:extLst>
          </p:cNvPr>
          <p:cNvSpPr>
            <a:spLocks noGrp="1"/>
          </p:cNvSpPr>
          <p:nvPr/>
        </p:nvSpPr>
        <p:spPr>
          <a:xfrm>
            <a:off x="800100" y="1562100"/>
            <a:ext cx="666750" cy="495300"/>
          </a:xfrm>
          <a:prstGeom prst="rect">
            <a:avLst/>
          </a:prstGeom>
          <a:noFill/>
          <a:ln w="0">
            <a:noFill/>
            <a:prstDash val="solid"/>
          </a:ln>
        </p:spPr>
        <p:txBody>
          <a:bodyPr wrap="square" lIns="0" tIns="0" rIns="0" bIns="0" anchor="t">
            <a:normAutofit/>
          </a:bodyPr>
          <a:lstStyle/>
          <a:p>
            <a:pPr algn="l">
              <a:defRPr sz="2700" b="1">
                <a:solidFill>
                  <a:srgbClr val="F2A93B"/>
                </a:solidFill>
                <a:latin typeface="Arial"/>
                <a:ea typeface="Arial"/>
                <a:cs typeface="Arial"/>
              </a:defRPr>
            </a:pPr>
            <a:r>
              <a:rPr sz="2700" b="1">
                <a:solidFill>
                  <a:srgbClr val="F2A93B"/>
                </a:solidFill>
                <a:latin typeface="Arial"/>
                <a:ea typeface="Arial"/>
                <a:cs typeface="Arial"/>
              </a:rPr>
              <a:t>01</a:t>
            </a:r>
          </a:p>
        </p:txBody>
      </p:sp>
      <p:sp>
        <p:nvSpPr>
          <p:cNvPr id="7" name="Rectangle 6">
            <a:extLst>
              <a:ext uri="{FF2B5EF4-FFF2-40B4-BE49-F238E27FC236}">
                <a16:creationId xmlns:a16="http://schemas.microsoft.com/office/drawing/2014/main" id="{A5DB1032-F62D-48F7-B1F3-75688AB2E820}"/>
              </a:ext>
            </a:extLst>
          </p:cNvPr>
          <p:cNvSpPr>
            <a:spLocks noGrp="1"/>
          </p:cNvSpPr>
          <p:nvPr/>
        </p:nvSpPr>
        <p:spPr>
          <a:xfrm>
            <a:off x="1695450" y="1600200"/>
            <a:ext cx="3333750" cy="285750"/>
          </a:xfrm>
          <a:prstGeom prst="rect">
            <a:avLst/>
          </a:prstGeom>
          <a:noFill/>
          <a:ln w="0">
            <a:noFill/>
            <a:prstDash val="solid"/>
          </a:ln>
        </p:spPr>
        <p:txBody>
          <a:bodyPr wrap="square" lIns="0" tIns="0" rIns="0" bIns="0" anchor="t">
            <a:normAutofit/>
          </a:bodyPr>
          <a:lstStyle/>
          <a:p>
            <a:pPr algn="l">
              <a:defRPr sz="1500" b="1">
                <a:solidFill>
                  <a:srgbClr val="F2A93B"/>
                </a:solidFill>
                <a:latin typeface="Arial"/>
                <a:ea typeface="Arial"/>
                <a:cs typeface="Arial"/>
              </a:defRPr>
            </a:pPr>
            <a:r>
              <a:rPr sz="1500" b="1">
                <a:solidFill>
                  <a:srgbClr val="F2A93B"/>
                </a:solidFill>
                <a:latin typeface="Arial"/>
                <a:ea typeface="Arial"/>
                <a:cs typeface="Arial"/>
              </a:rPr>
              <a:t>RETEST THE EMBEDDER</a:t>
            </a:r>
          </a:p>
        </p:txBody>
      </p:sp>
      <p:sp>
        <p:nvSpPr>
          <p:cNvPr id="8" name="Rectangle 7">
            <a:extLst>
              <a:ext uri="{FF2B5EF4-FFF2-40B4-BE49-F238E27FC236}">
                <a16:creationId xmlns:a16="http://schemas.microsoft.com/office/drawing/2014/main" id="{D3FC8793-0C2F-4E48-95FE-21EA27AB66BB}"/>
              </a:ext>
            </a:extLst>
          </p:cNvPr>
          <p:cNvSpPr>
            <a:spLocks noGrp="1"/>
          </p:cNvSpPr>
          <p:nvPr/>
        </p:nvSpPr>
        <p:spPr>
          <a:xfrm>
            <a:off x="5334000" y="1562100"/>
            <a:ext cx="5734050" cy="5905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The bake-off winner is 1024-dim like the shipped model: a config edit and a rebuild, not a migration.</a:t>
            </a:r>
          </a:p>
        </p:txBody>
      </p:sp>
      <p:sp>
        <p:nvSpPr>
          <p:cNvPr id="9" name="Rectangle 8">
            <a:extLst>
              <a:ext uri="{FF2B5EF4-FFF2-40B4-BE49-F238E27FC236}">
                <a16:creationId xmlns:a16="http://schemas.microsoft.com/office/drawing/2014/main" id="{F4CA3040-6E50-4028-8BB0-E477C6069290}"/>
              </a:ext>
            </a:extLst>
          </p:cNvPr>
          <p:cNvSpPr>
            <a:spLocks noGrp="1"/>
          </p:cNvSpPr>
          <p:nvPr/>
        </p:nvSpPr>
        <p:spPr>
          <a:xfrm>
            <a:off x="1695450" y="2343150"/>
            <a:ext cx="9372600" cy="19050"/>
          </a:xfrm>
          <a:prstGeom prst="rect">
            <a:avLst/>
          </a:prstGeom>
          <a:solidFill>
            <a:srgbClr val="31444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D244AE6-791B-4736-BCC6-F7A5882A8011}"/>
              </a:ext>
            </a:extLst>
          </p:cNvPr>
          <p:cNvSpPr>
            <a:spLocks noGrp="1"/>
          </p:cNvSpPr>
          <p:nvPr/>
        </p:nvSpPr>
        <p:spPr>
          <a:xfrm>
            <a:off x="800100" y="2628900"/>
            <a:ext cx="666750" cy="495300"/>
          </a:xfrm>
          <a:prstGeom prst="rect">
            <a:avLst/>
          </a:prstGeom>
          <a:noFill/>
          <a:ln w="0">
            <a:noFill/>
            <a:prstDash val="solid"/>
          </a:ln>
        </p:spPr>
        <p:txBody>
          <a:bodyPr wrap="square" lIns="0" tIns="0" rIns="0" bIns="0" anchor="t">
            <a:normAutofit/>
          </a:bodyPr>
          <a:lstStyle/>
          <a:p>
            <a:pPr algn="l">
              <a:defRPr sz="2700" b="1">
                <a:solidFill>
                  <a:srgbClr val="47C6B7"/>
                </a:solidFill>
                <a:latin typeface="Arial"/>
                <a:ea typeface="Arial"/>
                <a:cs typeface="Arial"/>
              </a:defRPr>
            </a:pPr>
            <a:r>
              <a:rPr sz="2700" b="1">
                <a:solidFill>
                  <a:srgbClr val="47C6B7"/>
                </a:solidFill>
                <a:latin typeface="Arial"/>
                <a:ea typeface="Arial"/>
                <a:cs typeface="Arial"/>
              </a:rPr>
              <a:t>02</a:t>
            </a:r>
          </a:p>
        </p:txBody>
      </p:sp>
      <p:sp>
        <p:nvSpPr>
          <p:cNvPr id="11" name="Rectangle 10">
            <a:extLst>
              <a:ext uri="{FF2B5EF4-FFF2-40B4-BE49-F238E27FC236}">
                <a16:creationId xmlns:a16="http://schemas.microsoft.com/office/drawing/2014/main" id="{F24FA7BA-6313-4649-BE2F-E3CF9143CB62}"/>
              </a:ext>
            </a:extLst>
          </p:cNvPr>
          <p:cNvSpPr>
            <a:spLocks noGrp="1"/>
          </p:cNvSpPr>
          <p:nvPr/>
        </p:nvSpPr>
        <p:spPr>
          <a:xfrm>
            <a:off x="1695450" y="2667000"/>
            <a:ext cx="3333750" cy="285750"/>
          </a:xfrm>
          <a:prstGeom prst="rect">
            <a:avLst/>
          </a:prstGeom>
          <a:noFill/>
          <a:ln w="0">
            <a:noFill/>
            <a:prstDash val="solid"/>
          </a:ln>
        </p:spPr>
        <p:txBody>
          <a:bodyPr wrap="square" lIns="0" tIns="0" rIns="0" bIns="0" anchor="t">
            <a:normAutofit/>
          </a:bodyPr>
          <a:lstStyle/>
          <a:p>
            <a:pPr algn="l">
              <a:defRPr sz="1500" b="1">
                <a:solidFill>
                  <a:srgbClr val="47C6B7"/>
                </a:solidFill>
                <a:latin typeface="Arial"/>
                <a:ea typeface="Arial"/>
                <a:cs typeface="Arial"/>
              </a:defRPr>
            </a:pPr>
            <a:r>
              <a:rPr sz="1500" b="1">
                <a:solidFill>
                  <a:srgbClr val="47C6B7"/>
                </a:solidFill>
                <a:latin typeface="Arial"/>
                <a:ea typeface="Arial"/>
                <a:cs typeface="Arial"/>
              </a:rPr>
              <a:t>KEEP AUTHORITY</a:t>
            </a:r>
          </a:p>
        </p:txBody>
      </p:sp>
      <p:sp>
        <p:nvSpPr>
          <p:cNvPr id="12" name="Rectangle 11">
            <a:extLst>
              <a:ext uri="{FF2B5EF4-FFF2-40B4-BE49-F238E27FC236}">
                <a16:creationId xmlns:a16="http://schemas.microsoft.com/office/drawing/2014/main" id="{AD525488-6A3B-4E76-9A22-181287EC3BE3}"/>
              </a:ext>
            </a:extLst>
          </p:cNvPr>
          <p:cNvSpPr>
            <a:spLocks noGrp="1"/>
          </p:cNvSpPr>
          <p:nvPr/>
        </p:nvSpPr>
        <p:spPr>
          <a:xfrm>
            <a:off x="5334000" y="2628900"/>
            <a:ext cx="5734050" cy="5905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Retain Postgres identity, citation rules, durable jobs and immutable drops.</a:t>
            </a:r>
          </a:p>
        </p:txBody>
      </p:sp>
      <p:sp>
        <p:nvSpPr>
          <p:cNvPr id="13" name="Rectangle 12">
            <a:extLst>
              <a:ext uri="{FF2B5EF4-FFF2-40B4-BE49-F238E27FC236}">
                <a16:creationId xmlns:a16="http://schemas.microsoft.com/office/drawing/2014/main" id="{40306D7C-6F94-4E1E-B611-5CFE7E784AFB}"/>
              </a:ext>
            </a:extLst>
          </p:cNvPr>
          <p:cNvSpPr>
            <a:spLocks noGrp="1"/>
          </p:cNvSpPr>
          <p:nvPr/>
        </p:nvSpPr>
        <p:spPr>
          <a:xfrm>
            <a:off x="1695450" y="3409950"/>
            <a:ext cx="9372600" cy="19050"/>
          </a:xfrm>
          <a:prstGeom prst="rect">
            <a:avLst/>
          </a:prstGeom>
          <a:solidFill>
            <a:srgbClr val="31444A"/>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B7E2DFC0-0426-4924-AFB0-6B4B359A6614}"/>
              </a:ext>
            </a:extLst>
          </p:cNvPr>
          <p:cNvSpPr>
            <a:spLocks noGrp="1"/>
          </p:cNvSpPr>
          <p:nvPr/>
        </p:nvSpPr>
        <p:spPr>
          <a:xfrm>
            <a:off x="800100" y="3695700"/>
            <a:ext cx="666750" cy="495300"/>
          </a:xfrm>
          <a:prstGeom prst="rect">
            <a:avLst/>
          </a:prstGeom>
          <a:noFill/>
          <a:ln w="0">
            <a:noFill/>
            <a:prstDash val="solid"/>
          </a:ln>
        </p:spPr>
        <p:txBody>
          <a:bodyPr wrap="square" lIns="0" tIns="0" rIns="0" bIns="0" anchor="t">
            <a:normAutofit/>
          </a:bodyPr>
          <a:lstStyle/>
          <a:p>
            <a:pPr algn="l">
              <a:defRPr sz="2700" b="1">
                <a:solidFill>
                  <a:srgbClr val="A88BFF"/>
                </a:solidFill>
                <a:latin typeface="Arial"/>
                <a:ea typeface="Arial"/>
                <a:cs typeface="Arial"/>
              </a:defRPr>
            </a:pPr>
            <a:r>
              <a:rPr sz="2700" b="1">
                <a:solidFill>
                  <a:srgbClr val="A88BFF"/>
                </a:solidFill>
                <a:latin typeface="Arial"/>
                <a:ea typeface="Arial"/>
                <a:cs typeface="Arial"/>
              </a:rPr>
              <a:t>03</a:t>
            </a:r>
          </a:p>
        </p:txBody>
      </p:sp>
      <p:sp>
        <p:nvSpPr>
          <p:cNvPr id="15" name="Rectangle 14">
            <a:extLst>
              <a:ext uri="{FF2B5EF4-FFF2-40B4-BE49-F238E27FC236}">
                <a16:creationId xmlns:a16="http://schemas.microsoft.com/office/drawing/2014/main" id="{DE480EB5-3BD5-46B4-A01B-411C0C69DC60}"/>
              </a:ext>
            </a:extLst>
          </p:cNvPr>
          <p:cNvSpPr>
            <a:spLocks noGrp="1"/>
          </p:cNvSpPr>
          <p:nvPr/>
        </p:nvSpPr>
        <p:spPr>
          <a:xfrm>
            <a:off x="1695450" y="3733800"/>
            <a:ext cx="3333750" cy="285750"/>
          </a:xfrm>
          <a:prstGeom prst="rect">
            <a:avLst/>
          </a:prstGeom>
          <a:noFill/>
          <a:ln w="0">
            <a:noFill/>
            <a:prstDash val="solid"/>
          </a:ln>
        </p:spPr>
        <p:txBody>
          <a:bodyPr wrap="square" lIns="0" tIns="0" rIns="0" bIns="0" anchor="t">
            <a:normAutofit/>
          </a:bodyPr>
          <a:lstStyle/>
          <a:p>
            <a:pPr algn="l">
              <a:defRPr sz="1500" b="1">
                <a:solidFill>
                  <a:srgbClr val="A88BFF"/>
                </a:solidFill>
                <a:latin typeface="Arial"/>
                <a:ea typeface="Arial"/>
                <a:cs typeface="Arial"/>
              </a:defRPr>
            </a:pPr>
            <a:r>
              <a:rPr sz="1500" b="1">
                <a:solidFill>
                  <a:srgbClr val="A88BFF"/>
                </a:solidFill>
                <a:latin typeface="Arial"/>
                <a:ea typeface="Arial"/>
                <a:cs typeface="Arial"/>
              </a:rPr>
              <a:t>BENCHMARK STORES</a:t>
            </a:r>
          </a:p>
        </p:txBody>
      </p:sp>
      <p:sp>
        <p:nvSpPr>
          <p:cNvPr id="16" name="Rectangle 15">
            <a:extLst>
              <a:ext uri="{FF2B5EF4-FFF2-40B4-BE49-F238E27FC236}">
                <a16:creationId xmlns:a16="http://schemas.microsoft.com/office/drawing/2014/main" id="{13804773-DD1F-4F1C-8EC4-C0FB049348D4}"/>
              </a:ext>
            </a:extLst>
          </p:cNvPr>
          <p:cNvSpPr>
            <a:spLocks noGrp="1"/>
          </p:cNvSpPr>
          <p:nvPr/>
        </p:nvSpPr>
        <p:spPr>
          <a:xfrm>
            <a:off x="5334000" y="3695700"/>
            <a:ext cx="5734050" cy="5905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Test Postgres FTS + pgvector before accepting Meilisearch and Neo4j permanently.</a:t>
            </a:r>
          </a:p>
        </p:txBody>
      </p:sp>
      <p:sp>
        <p:nvSpPr>
          <p:cNvPr id="17" name="Rectangle 16">
            <a:extLst>
              <a:ext uri="{FF2B5EF4-FFF2-40B4-BE49-F238E27FC236}">
                <a16:creationId xmlns:a16="http://schemas.microsoft.com/office/drawing/2014/main" id="{F1A45402-D671-41B2-9261-491091A8EE20}"/>
              </a:ext>
            </a:extLst>
          </p:cNvPr>
          <p:cNvSpPr>
            <a:spLocks noGrp="1"/>
          </p:cNvSpPr>
          <p:nvPr/>
        </p:nvSpPr>
        <p:spPr>
          <a:xfrm>
            <a:off x="1695450" y="4476750"/>
            <a:ext cx="9372600" cy="19050"/>
          </a:xfrm>
          <a:prstGeom prst="rect">
            <a:avLst/>
          </a:prstGeom>
          <a:solidFill>
            <a:srgbClr val="31444A"/>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D2C703D7-DE6D-499F-826B-418E067AC7CF}"/>
              </a:ext>
            </a:extLst>
          </p:cNvPr>
          <p:cNvSpPr>
            <a:spLocks noGrp="1"/>
          </p:cNvSpPr>
          <p:nvPr/>
        </p:nvSpPr>
        <p:spPr>
          <a:xfrm>
            <a:off x="800100" y="4762500"/>
            <a:ext cx="666750" cy="495300"/>
          </a:xfrm>
          <a:prstGeom prst="rect">
            <a:avLst/>
          </a:prstGeom>
          <a:noFill/>
          <a:ln w="0">
            <a:noFill/>
            <a:prstDash val="solid"/>
          </a:ln>
        </p:spPr>
        <p:txBody>
          <a:bodyPr wrap="square" lIns="0" tIns="0" rIns="0" bIns="0" anchor="t">
            <a:normAutofit/>
          </a:bodyPr>
          <a:lstStyle/>
          <a:p>
            <a:pPr algn="l">
              <a:defRPr sz="2700" b="1">
                <a:solidFill>
                  <a:srgbClr val="D8F36A"/>
                </a:solidFill>
                <a:latin typeface="Arial"/>
                <a:ea typeface="Arial"/>
                <a:cs typeface="Arial"/>
              </a:defRPr>
            </a:pPr>
            <a:r>
              <a:rPr sz="2700" b="1">
                <a:solidFill>
                  <a:srgbClr val="D8F36A"/>
                </a:solidFill>
                <a:latin typeface="Arial"/>
                <a:ea typeface="Arial"/>
                <a:cs typeface="Arial"/>
              </a:rPr>
              <a:t>04</a:t>
            </a:r>
          </a:p>
        </p:txBody>
      </p:sp>
      <p:sp>
        <p:nvSpPr>
          <p:cNvPr id="19" name="Rectangle 18">
            <a:extLst>
              <a:ext uri="{FF2B5EF4-FFF2-40B4-BE49-F238E27FC236}">
                <a16:creationId xmlns:a16="http://schemas.microsoft.com/office/drawing/2014/main" id="{F48A144D-CCE2-4F80-9C6F-564D919AA532}"/>
              </a:ext>
            </a:extLst>
          </p:cNvPr>
          <p:cNvSpPr>
            <a:spLocks noGrp="1"/>
          </p:cNvSpPr>
          <p:nvPr/>
        </p:nvSpPr>
        <p:spPr>
          <a:xfrm>
            <a:off x="1695450" y="4800600"/>
            <a:ext cx="3333750" cy="285750"/>
          </a:xfrm>
          <a:prstGeom prst="rect">
            <a:avLst/>
          </a:prstGeom>
          <a:noFill/>
          <a:ln w="0">
            <a:noFill/>
            <a:prstDash val="solid"/>
          </a:ln>
        </p:spPr>
        <p:txBody>
          <a:bodyPr wrap="square" lIns="0" tIns="0" rIns="0" bIns="0" anchor="t">
            <a:normAutofit/>
          </a:bodyPr>
          <a:lstStyle/>
          <a:p>
            <a:pPr algn="l">
              <a:defRPr sz="1500" b="1">
                <a:solidFill>
                  <a:srgbClr val="D8F36A"/>
                </a:solidFill>
                <a:latin typeface="Arial"/>
                <a:ea typeface="Arial"/>
                <a:cs typeface="Arial"/>
              </a:defRPr>
            </a:pPr>
            <a:r>
              <a:rPr sz="1500" b="1">
                <a:solidFill>
                  <a:srgbClr val="D8F36A"/>
                </a:solidFill>
                <a:latin typeface="Arial"/>
                <a:ea typeface="Arial"/>
                <a:cs typeface="Arial"/>
              </a:rPr>
              <a:t>HARDEN THE BOUNDARY</a:t>
            </a:r>
          </a:p>
        </p:txBody>
      </p:sp>
      <p:sp>
        <p:nvSpPr>
          <p:cNvPr id="20" name="Rectangle 19">
            <a:extLst>
              <a:ext uri="{FF2B5EF4-FFF2-40B4-BE49-F238E27FC236}">
                <a16:creationId xmlns:a16="http://schemas.microsoft.com/office/drawing/2014/main" id="{5A85FC9F-BF1D-40E4-9318-77598BA2AF59}"/>
              </a:ext>
            </a:extLst>
          </p:cNvPr>
          <p:cNvSpPr>
            <a:spLocks noGrp="1"/>
          </p:cNvSpPr>
          <p:nvPr/>
        </p:nvSpPr>
        <p:spPr>
          <a:xfrm>
            <a:off x="5334000" y="4762500"/>
            <a:ext cx="5734050" cy="590550"/>
          </a:xfrm>
          <a:prstGeom prst="rect">
            <a:avLst/>
          </a:prstGeom>
          <a:noFill/>
          <a:ln w="0">
            <a:noFill/>
            <a:prstDash val="solid"/>
          </a:ln>
        </p:spPr>
        <p:txBody>
          <a:bodyPr wrap="square" lIns="0" tIns="0" rIns="0" bIns="0" anchor="t">
            <a:normAutofit/>
          </a:bodyPr>
          <a:lstStyle/>
          <a:p>
            <a:pPr algn="l">
              <a:defRPr sz="1425" b="0">
                <a:solidFill>
                  <a:srgbClr val="E8F0EF"/>
                </a:solidFill>
                <a:latin typeface="Arial"/>
                <a:ea typeface="Arial"/>
                <a:cs typeface="Arial"/>
              </a:defRPr>
            </a:pPr>
            <a:r>
              <a:rPr sz="1425" b="0">
                <a:solidFill>
                  <a:srgbClr val="E8F0EF"/>
                </a:solidFill>
                <a:latin typeface="Arial"/>
                <a:ea typeface="Arial"/>
                <a:cs typeface="Arial"/>
              </a:rPr>
              <a:t>Add authentication, egress policy, contract tests and end-to-end replay tests.</a:t>
            </a:r>
          </a:p>
        </p:txBody>
      </p:sp>
      <p:sp>
        <p:nvSpPr>
          <p:cNvPr id="21" name="Rectangle 20">
            <a:extLst>
              <a:ext uri="{FF2B5EF4-FFF2-40B4-BE49-F238E27FC236}">
                <a16:creationId xmlns:a16="http://schemas.microsoft.com/office/drawing/2014/main" id="{6E5C00F2-6B3C-4DFA-912C-E9BBA2BBE1F4}"/>
              </a:ext>
            </a:extLst>
          </p:cNvPr>
          <p:cNvSpPr>
            <a:spLocks noGrp="1"/>
          </p:cNvSpPr>
          <p:nvPr/>
        </p:nvSpPr>
        <p:spPr>
          <a:xfrm>
            <a:off x="1866900" y="5772150"/>
            <a:ext cx="8458200" cy="361950"/>
          </a:xfrm>
          <a:prstGeom prst="rect">
            <a:avLst/>
          </a:prstGeom>
          <a:noFill/>
          <a:ln w="0">
            <a:noFill/>
            <a:prstDash val="solid"/>
          </a:ln>
        </p:spPr>
        <p:txBody>
          <a:bodyPr wrap="square" lIns="0" tIns="0" rIns="0" bIns="0" anchor="t">
            <a:normAutofit/>
          </a:bodyPr>
          <a:lstStyle/>
          <a:p>
            <a:pPr algn="ctr">
              <a:defRPr sz="1725" b="1">
                <a:solidFill>
                  <a:srgbClr val="E8F0EF"/>
                </a:solidFill>
                <a:latin typeface="Arial"/>
                <a:ea typeface="Arial"/>
                <a:cs typeface="Arial"/>
              </a:defRPr>
            </a:pPr>
            <a:r>
              <a:rPr sz="1725" b="1">
                <a:solidFill>
                  <a:srgbClr val="E8F0EF"/>
                </a:solidFill>
                <a:latin typeface="Arial"/>
                <a:ea typeface="Arial"/>
                <a:cs typeface="Arial"/>
              </a:rPr>
              <a:t>Goal: keep the evidence chain simple for the user and explicit for the system.</a:t>
            </a:r>
          </a:p>
        </p:txBody>
      </p:sp>
    </p:spTree>
    <p:extLst>
      <p:ext uri="{BB962C8B-B14F-4D97-AF65-F5344CB8AC3E}">
        <p14:creationId xmlns:p14="http://schemas.microsoft.com/office/powerpoint/2010/main" val="12135232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5246</Words>
  <Application>Microsoft Macintosh PowerPoint</Application>
  <DocSecurity>0</DocSecurity>
  <PresentationFormat>Widescreen</PresentationFormat>
  <Paragraphs>544</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Tim Goeke</cp:lastModifiedBy>
  <cp:revision>1</cp:revision>
  <dcterms:created xsi:type="dcterms:W3CDTF">2026-08-22T16:52:04Z</dcterms:created>
  <dcterms:modified xsi:type="dcterms:W3CDTF">2026-08-22T20:30:22Z</dcterms:modified>
</cp:coreProperties>
</file>